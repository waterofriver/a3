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7" r:id="rId5"/>
    <p:sldId id="288" r:id="rId6"/>
    <p:sldId id="259" r:id="rId7"/>
    <p:sldId id="260" r:id="rId8"/>
    <p:sldId id="289" r:id="rId9"/>
    <p:sldId id="281" r:id="rId10"/>
    <p:sldId id="261" r:id="rId11"/>
    <p:sldId id="287" r:id="rId12"/>
    <p:sldId id="276"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首页" id="{38910652-1D9F-45BF-BD71-1777E84EDD6F}">
          <p14:sldIdLst>
            <p14:sldId id="256"/>
          </p14:sldIdLst>
        </p14:section>
        <p14:section name="概述" id="{7DF12B08-F0B0-462C-A97E-B87E83D9806D}">
          <p14:sldIdLst>
            <p14:sldId id="257"/>
            <p14:sldId id="288"/>
          </p14:sldIdLst>
        </p14:section>
        <p14:section name="1 SLAM是什么" id="{50BD4C9C-BD31-4051-A6FE-DD72385D00F1}">
          <p14:sldIdLst>
            <p14:sldId id="259"/>
          </p14:sldIdLst>
        </p14:section>
        <p14:section name="2 连接小车" id="{76D2575B-D32D-4047-BAFD-9445C89CBC82}">
          <p14:sldIdLst>
            <p14:sldId id="260"/>
            <p14:sldId id="289"/>
            <p14:sldId id="281"/>
          </p14:sldIdLst>
        </p14:section>
        <p14:section name="3 SLAM建图并保存" id="{4FDEEF89-12FD-4644-9C14-87F915311AC3}">
          <p14:sldIdLst>
            <p14:sldId id="261"/>
          </p14:sldIdLst>
        </p14:section>
        <p14:section name="4 导航功能" id="{45933C4A-D6F9-4D7D-971E-3B55624CAFD5}">
          <p14:sldIdLst>
            <p14:sldId id="287"/>
          </p14:sldIdLst>
        </p14:section>
        <p14:section name="3 远程控制" id="{0EF7C619-5AED-4E9D-8482-D6278461C313}">
          <p14:sldIdLst>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B150"/>
    <a:srgbClr val="516485"/>
    <a:srgbClr val="D446B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660"/>
  </p:normalViewPr>
  <p:slideViewPr>
    <p:cSldViewPr snapToGrid="0">
      <p:cViewPr varScale="1">
        <p:scale>
          <a:sx n="92" d="100"/>
          <a:sy n="92" d="100"/>
        </p:scale>
        <p:origin x="111"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96549" y="5904887"/>
            <a:ext cx="2414451" cy="81658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96549" y="5904887"/>
            <a:ext cx="2414451" cy="81658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1C253A8-2FA4-4E85-8F40-57D98F8E6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5D12F-C677-4341-AFA6-F784F7E8246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C253A8-2FA4-4E85-8F40-57D98F8E6A6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5D12F-C677-4341-AFA6-F784F7E8246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C253A8-2FA4-4E85-8F40-57D98F8E6A6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5D12F-C677-4341-AFA6-F784F7E8246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slideLayout" Target="../slideLayouts/slideLayout2.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469024" y="0"/>
            <a:ext cx="5007917" cy="6858000"/>
          </a:xfrm>
          <a:prstGeom prst="rect">
            <a:avLst/>
          </a:prstGeom>
          <a:solidFill>
            <a:schemeClr val="accent5">
              <a:lumMod val="60000"/>
              <a:lumOff val="40000"/>
            </a:schemeClr>
          </a:solidFill>
          <a:ln>
            <a:solidFill>
              <a:srgbClr val="3457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矩形 6"/>
          <p:cNvSpPr/>
          <p:nvPr/>
        </p:nvSpPr>
        <p:spPr>
          <a:xfrm>
            <a:off x="370702" y="998837"/>
            <a:ext cx="11450595" cy="4860325"/>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270985" y="2563944"/>
            <a:ext cx="9650027" cy="82994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685800" fontAlgn="base">
              <a:spcBef>
                <a:spcPct val="0"/>
              </a:spcBef>
              <a:spcAft>
                <a:spcPct val="0"/>
              </a:spcAft>
              <a:tabLst>
                <a:tab pos="2865755" algn="l"/>
              </a:tabLst>
            </a:pPr>
            <a:r>
              <a:rPr lang="zh-CN" altLang="en-US" sz="4800" b="1">
                <a:solidFill>
                  <a:schemeClr val="accent5">
                    <a:lumMod val="75000"/>
                  </a:schemeClr>
                </a:solidFill>
                <a:latin typeface="+mn-ea"/>
                <a:ea typeface="+mn-ea"/>
                <a:sym typeface="Calibri" panose="020F0502020204030204" pitchFamily="34" charset="0"/>
              </a:rPr>
              <a:t>实验十 暴力破解</a:t>
            </a:r>
            <a:r>
              <a:rPr lang="zh-CN" altLang="en-US" sz="4800" b="1">
                <a:solidFill>
                  <a:schemeClr val="accent5">
                    <a:lumMod val="75000"/>
                  </a:schemeClr>
                </a:solidFill>
                <a:latin typeface="+mn-ea"/>
                <a:ea typeface="+mn-ea"/>
                <a:sym typeface="Calibri" panose="020F0502020204030204" pitchFamily="34" charset="0"/>
              </a:rPr>
              <a:t>攻击</a:t>
            </a:r>
            <a:endParaRPr lang="zh-CN" altLang="en-US" sz="4800" b="1">
              <a:solidFill>
                <a:schemeClr val="accent5">
                  <a:lumMod val="75000"/>
                </a:schemeClr>
              </a:solidFill>
              <a:latin typeface="+mn-ea"/>
              <a:ea typeface="+mn-ea"/>
              <a:sym typeface="Calibri" panose="020F0502020204030204" pitchFamily="34" charset="0"/>
            </a:endParaRPr>
          </a:p>
        </p:txBody>
      </p:sp>
      <p:cxnSp>
        <p:nvCxnSpPr>
          <p:cNvPr id="9" name="直接连接符 8"/>
          <p:cNvCxnSpPr/>
          <p:nvPr/>
        </p:nvCxnSpPr>
        <p:spPr>
          <a:xfrm>
            <a:off x="5939450" y="4160852"/>
            <a:ext cx="372724" cy="0"/>
          </a:xfrm>
          <a:prstGeom prst="line">
            <a:avLst/>
          </a:prstGeom>
          <a:ln w="19050">
            <a:solidFill>
              <a:srgbClr val="345780"/>
            </a:solidFill>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3567367" y="4477386"/>
            <a:ext cx="468069" cy="468069"/>
          </a:xfrm>
          <a:prstGeom prst="ellipse">
            <a:avLst/>
          </a:prstGeom>
          <a:solidFill>
            <a:srgbClr val="345780"/>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srgbClr val="212834"/>
              </a:solidFill>
            </a:endParaRPr>
          </a:p>
        </p:txBody>
      </p:sp>
      <p:sp>
        <p:nvSpPr>
          <p:cNvPr id="11" name="文本框 10"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4017710" y="4535085"/>
            <a:ext cx="2762533" cy="37846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685800" fontAlgn="base">
              <a:spcBef>
                <a:spcPct val="0"/>
              </a:spcBef>
              <a:spcAft>
                <a:spcPct val="0"/>
              </a:spcAft>
              <a:tabLst>
                <a:tab pos="2865755" algn="l"/>
              </a:tabLst>
            </a:pP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日期：</a:t>
            </a:r>
            <a:r>
              <a:rPr lang="en-US" altLang="zh-CN"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2025.03</a:t>
            </a:r>
            <a:endPar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12" name="椭圆 11"/>
          <p:cNvSpPr/>
          <p:nvPr/>
        </p:nvSpPr>
        <p:spPr>
          <a:xfrm>
            <a:off x="6312174" y="4473316"/>
            <a:ext cx="468069" cy="468069"/>
          </a:xfrm>
          <a:prstGeom prst="ellipse">
            <a:avLst/>
          </a:prstGeom>
          <a:solidFill>
            <a:srgbClr val="345780"/>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srgbClr val="212834"/>
              </a:solidFill>
            </a:endParaRPr>
          </a:p>
        </p:txBody>
      </p:sp>
      <p:sp>
        <p:nvSpPr>
          <p:cNvPr id="13" name="文本框 1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6762516" y="4531016"/>
            <a:ext cx="3340272" cy="37846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685800" fontAlgn="base">
              <a:spcBef>
                <a:spcPct val="0"/>
              </a:spcBef>
              <a:spcAft>
                <a:spcPct val="0"/>
              </a:spcAft>
              <a:tabLst>
                <a:tab pos="2865755" algn="l"/>
              </a:tabLst>
            </a:pP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内容：暴力破解</a:t>
            </a: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攻击</a:t>
            </a:r>
            <a:endPar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14" name="Group 59"/>
          <p:cNvGrpSpPr>
            <a:grpSpLocks noChangeAspect="1"/>
          </p:cNvGrpSpPr>
          <p:nvPr/>
        </p:nvGrpSpPr>
        <p:grpSpPr bwMode="auto">
          <a:xfrm>
            <a:off x="3652872" y="4551022"/>
            <a:ext cx="290891" cy="317537"/>
            <a:chOff x="1066" y="1985"/>
            <a:chExt cx="262" cy="286"/>
          </a:xfrm>
          <a:solidFill>
            <a:schemeClr val="bg1"/>
          </a:solidFill>
        </p:grpSpPr>
        <p:sp>
          <p:nvSpPr>
            <p:cNvPr id="15"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6"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7"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8" name="Freeform 63"/>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grpSp>
      <p:grpSp>
        <p:nvGrpSpPr>
          <p:cNvPr id="19" name="Group 66"/>
          <p:cNvGrpSpPr>
            <a:grpSpLocks noChangeAspect="1"/>
          </p:cNvGrpSpPr>
          <p:nvPr/>
        </p:nvGrpSpPr>
        <p:grpSpPr bwMode="auto">
          <a:xfrm>
            <a:off x="6418151" y="4542797"/>
            <a:ext cx="256116" cy="277284"/>
            <a:chOff x="2111" y="2322"/>
            <a:chExt cx="121" cy="131"/>
          </a:xfrm>
          <a:solidFill>
            <a:schemeClr val="bg1"/>
          </a:solidFill>
        </p:grpSpPr>
        <p:sp>
          <p:nvSpPr>
            <p:cNvPr id="20" name="Freeform 67"/>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sp>
          <p:nvSpPr>
            <p:cNvPr id="21"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sp>
          <p:nvSpPr>
            <p:cNvPr id="22"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gr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155276" y="1359285"/>
            <a:ext cx="3336043" cy="1127763"/>
          </a:xfrm>
          <a:prstGeom prst="rect">
            <a:avLst/>
          </a:prstGeom>
        </p:spPr>
      </p:pic>
      <p:sp>
        <p:nvSpPr>
          <p:cNvPr id="24" name="矩形 23"/>
          <p:cNvSpPr/>
          <p:nvPr/>
        </p:nvSpPr>
        <p:spPr>
          <a:xfrm>
            <a:off x="3469024" y="3707404"/>
            <a:ext cx="5831970" cy="398780"/>
          </a:xfrm>
          <a:prstGeom prst="rect">
            <a:avLst/>
          </a:prstGeom>
          <a:noFill/>
        </p:spPr>
        <p:txBody>
          <a:bodyPr wrap="square" rtlCol="0">
            <a:spAutoFit/>
          </a:bodyPr>
          <a:lstStyle/>
          <a:p>
            <a:r>
              <a:rPr lang="zh-CN" altLang="en-US" sz="2000" spc="300">
                <a:solidFill>
                  <a:srgbClr val="345780"/>
                </a:solidFill>
                <a:latin typeface="方正宋刻本秀楷简体" panose="02000000000000000000" pitchFamily="2" charset="-122"/>
                <a:ea typeface="方正宋刻本秀楷简体" panose="02000000000000000000" pitchFamily="2" charset="-122"/>
              </a:rPr>
              <a:t>华中科技大学 </a:t>
            </a:r>
            <a:r>
              <a:rPr lang="en-US" altLang="zh-CN" sz="2000" spc="300">
                <a:solidFill>
                  <a:srgbClr val="345780"/>
                </a:solidFill>
                <a:latin typeface="方正宋刻本秀楷简体" panose="02000000000000000000" pitchFamily="2" charset="-122"/>
                <a:ea typeface="方正宋刻本秀楷简体" panose="02000000000000000000" pitchFamily="2" charset="-122"/>
              </a:rPr>
              <a:t>ROS</a:t>
            </a:r>
            <a:r>
              <a:rPr lang="zh-CN" altLang="en-US" sz="2000" spc="300">
                <a:solidFill>
                  <a:srgbClr val="345780"/>
                </a:solidFill>
                <a:latin typeface="方正宋刻本秀楷简体" panose="02000000000000000000" pitchFamily="2" charset="-122"/>
                <a:ea typeface="方正宋刻本秀楷简体" panose="02000000000000000000" pitchFamily="2" charset="-122"/>
              </a:rPr>
              <a:t>创新实践教学 </a:t>
            </a:r>
            <a:endParaRPr lang="zh-CN" altLang="en-US" sz="2000" spc="300">
              <a:solidFill>
                <a:srgbClr val="345780"/>
              </a:solidFill>
              <a:latin typeface="方正宋刻本秀楷简体" panose="02000000000000000000" pitchFamily="2" charset="-122"/>
              <a:ea typeface="方正宋刻本秀楷简体" panose="02000000000000000000" pitchFamily="2" charset="-122"/>
            </a:endParaRPr>
          </a:p>
        </p:txBody>
      </p:sp>
      <p:pic>
        <p:nvPicPr>
          <p:cNvPr id="25"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9450" y="1458532"/>
            <a:ext cx="3537044" cy="994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箭头: 五边形 17"/>
          <p:cNvSpPr/>
          <p:nvPr>
            <p:custDataLst>
              <p:tags r:id="rId1"/>
            </p:custDataLst>
          </p:nvPr>
        </p:nvSpPr>
        <p:spPr>
          <a:xfrm flipH="1">
            <a:off x="1325880" y="1675130"/>
            <a:ext cx="2568575" cy="793750"/>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暴力</a:t>
            </a:r>
            <a:r>
              <a:rPr lang="zh-CN" altLang="en-US" sz="2400">
                <a:latin typeface="微软雅黑" panose="020B0503020204020204" pitchFamily="34" charset="-122"/>
                <a:ea typeface="微软雅黑" panose="020B0503020204020204" pitchFamily="34" charset="-122"/>
              </a:rPr>
              <a:t>破解</a:t>
            </a:r>
            <a:endParaRPr lang="zh-CN" altLang="en-US" sz="2400">
              <a:latin typeface="微软雅黑" panose="020B0503020204020204" pitchFamily="34" charset="-122"/>
              <a:ea typeface="微软雅黑" panose="020B0503020204020204" pitchFamily="34" charset="-122"/>
            </a:endParaRPr>
          </a:p>
        </p:txBody>
      </p:sp>
      <p:sp>
        <p:nvSpPr>
          <p:cNvPr id="5" name=" 160"/>
          <p:cNvSpPr/>
          <p:nvPr>
            <p:custDataLst>
              <p:tags r:id="rId2"/>
            </p:custDataLst>
          </p:nvPr>
        </p:nvSpPr>
        <p:spPr>
          <a:xfrm rot="10800000" flipH="1">
            <a:off x="5028464" y="2657362"/>
            <a:ext cx="722630" cy="654050"/>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rgbClr val="D4F1F9">
              <a:alpha val="41000"/>
            </a:srgbClr>
          </a:solidFill>
          <a:ln>
            <a:solidFill>
              <a:srgbClr val="58B6E5"/>
            </a:solidFill>
          </a:ln>
        </p:spPr>
        <p:style>
          <a:lnRef idx="2">
            <a:schemeClr val="accent6"/>
          </a:lnRef>
          <a:fillRef idx="1">
            <a:schemeClr val="lt1"/>
          </a:fillRef>
          <a:effectRef idx="0">
            <a:schemeClr val="accent6"/>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3" name="箭头: 五边形 12"/>
          <p:cNvSpPr/>
          <p:nvPr>
            <p:custDataLst>
              <p:tags r:id="rId3"/>
            </p:custDataLst>
          </p:nvPr>
        </p:nvSpPr>
        <p:spPr>
          <a:xfrm>
            <a:off x="1121742" y="1675308"/>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了解</a:t>
            </a:r>
            <a:endParaRPr lang="zh-CN" altLang="en-US" sz="2400">
              <a:latin typeface="微软雅黑" panose="020B0503020204020204" pitchFamily="34" charset="-122"/>
              <a:ea typeface="微软雅黑" panose="020B0503020204020204" pitchFamily="34" charset="-122"/>
            </a:endParaRPr>
          </a:p>
        </p:txBody>
      </p:sp>
      <p:sp>
        <p:nvSpPr>
          <p:cNvPr id="24" name="箭头: 五边形 23"/>
          <p:cNvSpPr/>
          <p:nvPr>
            <p:custDataLst>
              <p:tags r:id="rId4"/>
            </p:custDataLst>
          </p:nvPr>
        </p:nvSpPr>
        <p:spPr>
          <a:xfrm flipH="1">
            <a:off x="4750530" y="3499802"/>
            <a:ext cx="2528574"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常用</a:t>
            </a:r>
            <a:r>
              <a:rPr lang="zh-CN" altLang="en-US" sz="2400">
                <a:latin typeface="微软雅黑" panose="020B0503020204020204" pitchFamily="34" charset="-122"/>
                <a:ea typeface="微软雅黑" panose="020B0503020204020204" pitchFamily="34" charset="-122"/>
              </a:rPr>
              <a:t>工具</a:t>
            </a:r>
            <a:endParaRPr lang="zh-CN" altLang="en-US" sz="2400">
              <a:latin typeface="微软雅黑" panose="020B0503020204020204" pitchFamily="34" charset="-122"/>
              <a:ea typeface="微软雅黑" panose="020B0503020204020204" pitchFamily="34" charset="-122"/>
            </a:endParaRPr>
          </a:p>
        </p:txBody>
      </p:sp>
      <p:sp>
        <p:nvSpPr>
          <p:cNvPr id="25" name="箭头: 五边形 24"/>
          <p:cNvSpPr/>
          <p:nvPr>
            <p:custDataLst>
              <p:tags r:id="rId5"/>
            </p:custDataLst>
          </p:nvPr>
        </p:nvSpPr>
        <p:spPr>
          <a:xfrm>
            <a:off x="4572980" y="3499802"/>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使用</a:t>
            </a:r>
            <a:endParaRPr lang="zh-CN" altLang="en-US" sz="2400">
              <a:latin typeface="微软雅黑" panose="020B0503020204020204" pitchFamily="34" charset="-122"/>
              <a:ea typeface="微软雅黑" panose="020B0503020204020204" pitchFamily="34" charset="-122"/>
            </a:endParaRPr>
          </a:p>
        </p:txBody>
      </p:sp>
      <p:sp>
        <p:nvSpPr>
          <p:cNvPr id="28" name=" 160"/>
          <p:cNvSpPr/>
          <p:nvPr>
            <p:custDataLst>
              <p:tags r:id="rId6"/>
            </p:custDataLst>
          </p:nvPr>
        </p:nvSpPr>
        <p:spPr>
          <a:xfrm rot="10800000" flipH="1">
            <a:off x="7634842" y="3896634"/>
            <a:ext cx="722630" cy="654050"/>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rgbClr val="D4F1F9">
              <a:alpha val="41000"/>
            </a:srgbClr>
          </a:solidFill>
          <a:ln>
            <a:solidFill>
              <a:srgbClr val="58B6E5"/>
            </a:solidFill>
          </a:ln>
        </p:spPr>
        <p:style>
          <a:lnRef idx="2">
            <a:schemeClr val="accent6"/>
          </a:lnRef>
          <a:fillRef idx="1">
            <a:schemeClr val="lt1"/>
          </a:fillRef>
          <a:effectRef idx="0">
            <a:schemeClr val="accent6"/>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0" name="箭头: 五边形 29"/>
          <p:cNvSpPr/>
          <p:nvPr>
            <p:custDataLst>
              <p:tags r:id="rId7"/>
            </p:custDataLst>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0</a:t>
            </a:r>
            <a:endParaRPr lang="zh-CN" altLang="en-US" sz="2400">
              <a:latin typeface="微软雅黑" panose="020B0503020204020204" pitchFamily="34" charset="-122"/>
              <a:ea typeface="微软雅黑" panose="020B0503020204020204" pitchFamily="34" charset="-122"/>
            </a:endParaRPr>
          </a:p>
        </p:txBody>
      </p:sp>
      <p:sp>
        <p:nvSpPr>
          <p:cNvPr id="31" name="箭头: 五边形 30"/>
          <p:cNvSpPr/>
          <p:nvPr>
            <p:custDataLst>
              <p:tags r:id="rId8"/>
            </p:custDataLst>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概述</a:t>
            </a:r>
            <a:endParaRPr lang="zh-CN" altLang="en-US" sz="2400">
              <a:latin typeface="微软雅黑" panose="020B0503020204020204" pitchFamily="34" charset="-122"/>
              <a:ea typeface="微软雅黑" panose="020B0503020204020204" pitchFamily="34" charset="-122"/>
            </a:endParaRPr>
          </a:p>
        </p:txBody>
      </p:sp>
      <p:sp>
        <p:nvSpPr>
          <p:cNvPr id="12" name="箭头: 五边形 11"/>
          <p:cNvSpPr/>
          <p:nvPr>
            <p:custDataLst>
              <p:tags r:id="rId9"/>
            </p:custDataLst>
          </p:nvPr>
        </p:nvSpPr>
        <p:spPr>
          <a:xfrm flipH="1">
            <a:off x="8535022" y="4743364"/>
            <a:ext cx="2311072"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破解</a:t>
            </a:r>
            <a:r>
              <a:rPr lang="zh-CN" altLang="en-US" sz="2400">
                <a:latin typeface="微软雅黑" panose="020B0503020204020204" pitchFamily="34" charset="-122"/>
                <a:ea typeface="微软雅黑" panose="020B0503020204020204" pitchFamily="34" charset="-122"/>
              </a:rPr>
              <a:t>算法</a:t>
            </a:r>
            <a:endParaRPr lang="zh-CN" altLang="en-US" sz="2400">
              <a:latin typeface="微软雅黑" panose="020B0503020204020204" pitchFamily="34" charset="-122"/>
              <a:ea typeface="微软雅黑" panose="020B0503020204020204" pitchFamily="34" charset="-122"/>
            </a:endParaRPr>
          </a:p>
        </p:txBody>
      </p:sp>
      <p:sp>
        <p:nvSpPr>
          <p:cNvPr id="15" name="箭头: 五边形 14"/>
          <p:cNvSpPr/>
          <p:nvPr>
            <p:custDataLst>
              <p:tags r:id="rId10"/>
            </p:custDataLst>
          </p:nvPr>
        </p:nvSpPr>
        <p:spPr>
          <a:xfrm>
            <a:off x="8357472" y="47433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编写</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down)">
                                      <p:cBhvr>
                                        <p:cTn id="18" dur="500"/>
                                        <p:tgtEl>
                                          <p:spTgt spid="24"/>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down)">
                                      <p:cBhvr>
                                        <p:cTn id="21" dur="500"/>
                                        <p:tgtEl>
                                          <p:spTgt spid="2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down)">
                                      <p:cBhvr>
                                        <p:cTn id="29" dur="500"/>
                                        <p:tgtEl>
                                          <p:spTgt spid="12"/>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down)">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5" grpId="0" animBg="1"/>
      <p:bldP spid="13" grpId="0" animBg="1"/>
      <p:bldP spid="24" grpId="0" animBg="1"/>
      <p:bldP spid="25" grpId="0" animBg="1"/>
      <p:bldP spid="28" grpId="0" animBg="1"/>
      <p:bldP spid="12"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箭头: 五边形 29"/>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0</a:t>
            </a:r>
            <a:endParaRPr lang="zh-CN" altLang="en-US" sz="2400">
              <a:latin typeface="微软雅黑" panose="020B0503020204020204" pitchFamily="34" charset="-122"/>
              <a:ea typeface="微软雅黑" panose="020B0503020204020204" pitchFamily="34" charset="-122"/>
            </a:endParaRPr>
          </a:p>
        </p:txBody>
      </p:sp>
      <p:sp>
        <p:nvSpPr>
          <p:cNvPr id="31" name="箭头: 五边形 30"/>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概述</a:t>
            </a:r>
            <a:endParaRPr lang="zh-CN" altLang="en-US" sz="2400">
              <a:latin typeface="微软雅黑" panose="020B0503020204020204" pitchFamily="34" charset="-122"/>
              <a:ea typeface="微软雅黑" panose="020B0503020204020204" pitchFamily="34" charset="-122"/>
            </a:endParaRPr>
          </a:p>
        </p:txBody>
      </p:sp>
      <p:sp>
        <p:nvSpPr>
          <p:cNvPr id="3" name="文本框 2"/>
          <p:cNvSpPr txBox="1"/>
          <p:nvPr/>
        </p:nvSpPr>
        <p:spPr>
          <a:xfrm>
            <a:off x="862330" y="1687830"/>
            <a:ext cx="10282555" cy="3364230"/>
          </a:xfrm>
          <a:prstGeom prst="rect">
            <a:avLst/>
          </a:prstGeom>
        </p:spPr>
        <p:txBody>
          <a:bodyPr wrap="square">
            <a:spAutoFit/>
          </a:bodyPr>
          <a:p>
            <a:pPr marL="0" indent="279400" defTabSz="266700">
              <a:lnSpc>
                <a:spcPct val="115000"/>
              </a:lnSpc>
              <a:spcBef>
                <a:spcPct val="0"/>
              </a:spcBef>
              <a:spcAft>
                <a:spcPts val="800"/>
              </a:spcAft>
            </a:pPr>
            <a:r>
              <a:rPr lang="zh-CN" b="1">
                <a:latin typeface="等线" panose="02010600030101010101" charset="-122"/>
                <a:ea typeface="等线" panose="02010600030101010101" charset="-122"/>
              </a:rPr>
              <a:t>暴力破解（</a:t>
            </a:r>
            <a:r>
              <a:rPr lang="en-US" b="1">
                <a:latin typeface="等线" panose="02010600030101010101" charset="-122"/>
                <a:ea typeface="等线" panose="02010600030101010101" charset="-122"/>
              </a:rPr>
              <a:t>Brute Force Attack</a:t>
            </a:r>
            <a:r>
              <a:rPr lang="zh-CN" b="1">
                <a:latin typeface="等线" panose="02010600030101010101" charset="-122"/>
                <a:ea typeface="等线" panose="02010600030101010101" charset="-122"/>
              </a:rPr>
              <a:t>）</a:t>
            </a:r>
            <a:r>
              <a:rPr lang="zh-CN">
                <a:latin typeface="等线" panose="02010600030101010101" charset="-122"/>
                <a:ea typeface="等线" panose="02010600030101010101" charset="-122"/>
              </a:rPr>
              <a:t>是一种通过系统性地尝试所有可能的密码组合来破解账户或系统的攻击方法。它的核心思想是</a:t>
            </a:r>
            <a:r>
              <a:rPr lang="en-US">
                <a:latin typeface="等线" panose="02010600030101010101" charset="-122"/>
                <a:ea typeface="等线" panose="02010600030101010101" charset="-122"/>
              </a:rPr>
              <a:t>“</a:t>
            </a:r>
            <a:r>
              <a:rPr lang="zh-CN">
                <a:latin typeface="等线" panose="02010600030101010101" charset="-122"/>
                <a:ea typeface="等线" panose="02010600030101010101" charset="-122"/>
              </a:rPr>
              <a:t>穷举</a:t>
            </a:r>
            <a:r>
              <a:rPr lang="en-US">
                <a:latin typeface="等线" panose="02010600030101010101" charset="-122"/>
                <a:ea typeface="等线" panose="02010600030101010101" charset="-122"/>
              </a:rPr>
              <a:t>”</a:t>
            </a:r>
            <a:r>
              <a:rPr lang="zh-CN">
                <a:latin typeface="等线" panose="02010600030101010101" charset="-122"/>
                <a:ea typeface="等线" panose="02010600030101010101" charset="-122"/>
              </a:rPr>
              <a:t>，即利用自动化工具不断提交不同的密码，直到找到正确的凭证。这种方法虽然简单，但其效率高度依赖于密码的复杂度和系统的防御机制。在实验中，各位同学将分别通过使用工具和编写脚本两种方式模拟暴力破解的过程，深入理解其工作原理及防御策略。</a:t>
            </a:r>
            <a:endParaRPr lang="zh-CN">
              <a:latin typeface="等线" panose="02010600030101010101" charset="-122"/>
              <a:ea typeface="等线" panose="02010600030101010101" charset="-122"/>
            </a:endParaRPr>
          </a:p>
          <a:p>
            <a:pPr marL="0" indent="279400" defTabSz="266700">
              <a:lnSpc>
                <a:spcPct val="115000"/>
              </a:lnSpc>
              <a:spcBef>
                <a:spcPct val="0"/>
              </a:spcBef>
              <a:spcAft>
                <a:spcPts val="800"/>
              </a:spcAft>
            </a:pPr>
            <a:r>
              <a:rPr lang="zh-CN">
                <a:latin typeface="等线" panose="02010600030101010101" charset="-122"/>
                <a:ea typeface="等线" panose="02010600030101010101" charset="-122"/>
              </a:rPr>
              <a:t>暴力破解可以分为以下几种类型：</a:t>
            </a:r>
            <a:endParaRPr lang="zh-CN">
              <a:latin typeface="等线" panose="02010600030101010101" charset="-122"/>
              <a:ea typeface="等线" panose="02010600030101010101" charset="-122"/>
            </a:endParaRPr>
          </a:p>
          <a:p>
            <a:pPr marL="0" indent="279400" defTabSz="266700">
              <a:lnSpc>
                <a:spcPct val="115000"/>
              </a:lnSpc>
              <a:spcBef>
                <a:spcPct val="0"/>
              </a:spcBef>
              <a:spcAft>
                <a:spcPts val="800"/>
              </a:spcAft>
            </a:pPr>
            <a:r>
              <a:rPr lang="zh-CN" b="1">
                <a:latin typeface="等线" panose="02010600030101010101" charset="-122"/>
                <a:ea typeface="等线" panose="02010600030101010101" charset="-122"/>
              </a:rPr>
              <a:t>普通暴力破解</a:t>
            </a:r>
            <a:r>
              <a:rPr lang="zh-CN">
                <a:latin typeface="等线" panose="02010600030101010101" charset="-122"/>
                <a:ea typeface="等线" panose="02010600030101010101" charset="-122"/>
              </a:rPr>
              <a:t>：尝试所有可能的字符组合（如从</a:t>
            </a:r>
            <a:r>
              <a:rPr lang="en-US">
                <a:latin typeface="等线" panose="02010600030101010101" charset="-122"/>
                <a:ea typeface="等线" panose="02010600030101010101" charset="-122"/>
              </a:rPr>
              <a:t>000000</a:t>
            </a:r>
            <a:r>
              <a:rPr lang="zh-CN">
                <a:latin typeface="等线" panose="02010600030101010101" charset="-122"/>
                <a:ea typeface="等线" panose="02010600030101010101" charset="-122"/>
              </a:rPr>
              <a:t>到</a:t>
            </a:r>
            <a:r>
              <a:rPr lang="en-US">
                <a:latin typeface="等线" panose="02010600030101010101" charset="-122"/>
                <a:ea typeface="等线" panose="02010600030101010101" charset="-122"/>
              </a:rPr>
              <a:t>999999</a:t>
            </a:r>
            <a:r>
              <a:rPr lang="zh-CN">
                <a:latin typeface="等线" panose="02010600030101010101" charset="-122"/>
                <a:ea typeface="等线" panose="02010600030101010101" charset="-122"/>
              </a:rPr>
              <a:t>）。适用于短密码，但耗时较长。</a:t>
            </a:r>
            <a:endParaRPr lang="zh-CN">
              <a:latin typeface="等线" panose="02010600030101010101" charset="-122"/>
              <a:ea typeface="等线" panose="02010600030101010101" charset="-122"/>
            </a:endParaRPr>
          </a:p>
          <a:p>
            <a:pPr marL="0" indent="279400" defTabSz="266700">
              <a:lnSpc>
                <a:spcPct val="115000"/>
              </a:lnSpc>
              <a:spcBef>
                <a:spcPct val="0"/>
              </a:spcBef>
              <a:spcAft>
                <a:spcPts val="800"/>
              </a:spcAft>
            </a:pPr>
            <a:r>
              <a:rPr lang="zh-CN" b="1">
                <a:latin typeface="等线" panose="02010600030101010101" charset="-122"/>
                <a:ea typeface="等线" panose="02010600030101010101" charset="-122"/>
              </a:rPr>
              <a:t>字典攻击</a:t>
            </a:r>
            <a:r>
              <a:rPr lang="zh-CN">
                <a:latin typeface="等线" panose="02010600030101010101" charset="-122"/>
                <a:ea typeface="等线" panose="02010600030101010101" charset="-122"/>
              </a:rPr>
              <a:t>：使用预定义的密码列表（如</a:t>
            </a:r>
            <a:r>
              <a:rPr lang="en-US">
                <a:latin typeface="等线" panose="02010600030101010101" charset="-122"/>
                <a:ea typeface="等线" panose="02010600030101010101" charset="-122"/>
              </a:rPr>
              <a:t>password</a:t>
            </a:r>
            <a:r>
              <a:rPr lang="zh-CN">
                <a:latin typeface="等线" panose="02010600030101010101" charset="-122"/>
                <a:ea typeface="等线" panose="02010600030101010101" charset="-122"/>
              </a:rPr>
              <a:t>、</a:t>
            </a:r>
            <a:r>
              <a:rPr lang="en-US">
                <a:latin typeface="等线" panose="02010600030101010101" charset="-122"/>
                <a:ea typeface="等线" panose="02010600030101010101" charset="-122"/>
              </a:rPr>
              <a:t>123456</a:t>
            </a:r>
            <a:r>
              <a:rPr lang="zh-CN">
                <a:latin typeface="等线" panose="02010600030101010101" charset="-122"/>
                <a:ea typeface="等线" panose="02010600030101010101" charset="-122"/>
              </a:rPr>
              <a:t>等），效率更高，因为利用了人类设置密码的常见模式。</a:t>
            </a:r>
            <a:endParaRPr lang="zh-CN">
              <a:latin typeface="等线" panose="02010600030101010101" charset="-122"/>
              <a:ea typeface="等线" panose="02010600030101010101" charset="-122"/>
            </a:endParaRPr>
          </a:p>
          <a:p>
            <a:pPr marL="0" indent="279400" defTabSz="266700">
              <a:lnSpc>
                <a:spcPct val="115000"/>
              </a:lnSpc>
              <a:spcBef>
                <a:spcPct val="0"/>
              </a:spcBef>
              <a:spcAft>
                <a:spcPts val="800"/>
              </a:spcAft>
            </a:pPr>
            <a:r>
              <a:rPr lang="zh-CN" b="1">
                <a:latin typeface="等线" panose="02010600030101010101" charset="-122"/>
                <a:ea typeface="等线" panose="02010600030101010101" charset="-122"/>
              </a:rPr>
              <a:t>混合攻击</a:t>
            </a:r>
            <a:r>
              <a:rPr lang="zh-CN">
                <a:latin typeface="等线" panose="02010600030101010101" charset="-122"/>
                <a:ea typeface="等线" panose="02010600030101010101" charset="-122"/>
              </a:rPr>
              <a:t>：结合字典攻击和随机字符（如</a:t>
            </a:r>
            <a:r>
              <a:rPr lang="en-US">
                <a:latin typeface="等线" panose="02010600030101010101" charset="-122"/>
                <a:ea typeface="等线" panose="02010600030101010101" charset="-122"/>
              </a:rPr>
              <a:t>admin123</a:t>
            </a:r>
            <a:r>
              <a:rPr lang="zh-CN">
                <a:latin typeface="等线" panose="02010600030101010101" charset="-122"/>
                <a:ea typeface="等线" panose="02010600030101010101" charset="-122"/>
              </a:rPr>
              <a:t>），进一步扩大破解范围。</a:t>
            </a:r>
            <a:endParaRPr lang="zh-CN" altLang="en-US">
              <a:latin typeface="等线" panose="02010600030101010101" charset="-122"/>
              <a:ea typeface="等线" panose="0201060003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0" y="1713891"/>
            <a:ext cx="12192000" cy="2499360"/>
          </a:xfrm>
          <a:prstGeom prst="rect">
            <a:avLst/>
          </a:prstGeom>
          <a:solidFill>
            <a:schemeClr val="accent1">
              <a:lumMod val="20000"/>
              <a:lumOff val="80000"/>
            </a:schemeClr>
          </a:solidFill>
        </p:spPr>
        <p:txBody>
          <a:bodyPr wrap="square" rtlCol="0">
            <a:spAutoFit/>
          </a:bodyPr>
          <a:lstStyle/>
          <a:p>
            <a:pPr indent="457200">
              <a:lnSpc>
                <a:spcPct val="150000"/>
              </a:lnSpc>
            </a:pPr>
            <a:r>
              <a:rPr lang="en-US" altLang="zh-CN" sz="2400">
                <a:latin typeface="微软雅黑" panose="020B0503020204020204" pitchFamily="34" charset="-122"/>
                <a:ea typeface="微软雅黑" panose="020B0503020204020204" pitchFamily="34" charset="-122"/>
              </a:rPr>
              <a:t>hydra</a:t>
            </a:r>
            <a:r>
              <a:rPr lang="zh-CN" altLang="en-US" sz="2400">
                <a:latin typeface="微软雅黑" panose="020B0503020204020204" pitchFamily="34" charset="-122"/>
                <a:ea typeface="微软雅黑" panose="020B0503020204020204" pitchFamily="34" charset="-122"/>
              </a:rPr>
              <a:t>是著名黑客组织</a:t>
            </a:r>
            <a:r>
              <a:rPr lang="en-US" altLang="zh-CN" sz="2400">
                <a:latin typeface="微软雅黑" panose="020B0503020204020204" pitchFamily="34" charset="-122"/>
                <a:ea typeface="微软雅黑" panose="020B0503020204020204" pitchFamily="34" charset="-122"/>
              </a:rPr>
              <a:t>thc</a:t>
            </a:r>
            <a:r>
              <a:rPr lang="zh-CN" altLang="en-US" sz="2400">
                <a:latin typeface="微软雅黑" panose="020B0503020204020204" pitchFamily="34" charset="-122"/>
                <a:ea typeface="微软雅黑" panose="020B0503020204020204" pitchFamily="34" charset="-122"/>
              </a:rPr>
              <a:t>的一款开源的暴力密码破解工具，可以在线破解多种密码。</a:t>
            </a:r>
            <a:endParaRPr lang="zh-CN" altLang="en-US" sz="2400">
              <a:latin typeface="微软雅黑" panose="020B0503020204020204" pitchFamily="34" charset="-122"/>
              <a:ea typeface="微软雅黑" panose="020B0503020204020204" pitchFamily="34" charset="-122"/>
            </a:endParaRPr>
          </a:p>
          <a:p>
            <a:pPr indent="457200">
              <a:lnSpc>
                <a:spcPct val="150000"/>
              </a:lnSpc>
              <a:spcBef>
                <a:spcPts val="0"/>
              </a:spcBef>
              <a:spcAft>
                <a:spcPts val="1500"/>
              </a:spcAft>
            </a:pPr>
            <a:r>
              <a:rPr lang="zh-CN" altLang="en-US" sz="2400">
                <a:latin typeface="微软雅黑" panose="020B0503020204020204" pitchFamily="34" charset="-122"/>
                <a:ea typeface="微软雅黑" panose="020B0503020204020204" pitchFamily="34" charset="-122"/>
              </a:rPr>
              <a:t>终端中运行以下命令，安装</a:t>
            </a:r>
            <a:r>
              <a:rPr lang="en-US" altLang="zh-CN" sz="2400">
                <a:latin typeface="微软雅黑" panose="020B0503020204020204" pitchFamily="34" charset="-122"/>
                <a:ea typeface="微软雅黑" panose="020B0503020204020204" pitchFamily="34" charset="-122"/>
              </a:rPr>
              <a:t>hydra</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en-US" altLang="zh-CN" sz="2400">
                <a:latin typeface="微软雅黑" panose="020B0503020204020204" pitchFamily="34" charset="-122"/>
                <a:ea typeface="微软雅黑" panose="020B0503020204020204" pitchFamily="34" charset="-122"/>
              </a:rPr>
              <a:t>sudo apt-get install libssl-dev libssh-devlibidn11-dev libpcre3-dev libgtk2.0-dev libmysqlclient-dev libpq-dev libsvn-devfirebird2.1-dev libncp-dev hydra</a:t>
            </a:r>
            <a:endParaRPr lang="en-US" altLang="zh-CN" sz="2400">
              <a:latin typeface="微软雅黑" panose="020B0503020204020204" pitchFamily="34" charset="-122"/>
              <a:ea typeface="微软雅黑" panose="020B0503020204020204" pitchFamily="34" charset="-122"/>
            </a:endParaRPr>
          </a:p>
        </p:txBody>
      </p:sp>
      <p:sp>
        <p:nvSpPr>
          <p:cNvPr id="8" name="箭头: 五边形 7"/>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1</a:t>
            </a:r>
            <a:endParaRPr lang="zh-CN" altLang="en-US" sz="2400">
              <a:latin typeface="微软雅黑" panose="020B0503020204020204" pitchFamily="34" charset="-122"/>
              <a:ea typeface="微软雅黑" panose="020B0503020204020204" pitchFamily="34" charset="-122"/>
            </a:endParaRPr>
          </a:p>
        </p:txBody>
      </p:sp>
      <p:sp>
        <p:nvSpPr>
          <p:cNvPr id="9" name="箭头: 五边形 8"/>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第一关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实验准备与环境配置</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anim calcmode="lin" valueType="num">
                                      <p:cBhvr>
                                        <p:cTn id="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anim calcmode="lin" valueType="num">
                                      <p:cBhvr>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anim calcmode="lin" valueType="num">
                                      <p:cBhvr>
                                        <p:cTn id="18"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5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2</a:t>
            </a:r>
            <a:endParaRPr lang="zh-CN" altLang="en-US" sz="2400">
              <a:latin typeface="微软雅黑" panose="020B0503020204020204" pitchFamily="34" charset="-122"/>
              <a:ea typeface="微软雅黑" panose="020B0503020204020204" pitchFamily="34" charset="-122"/>
            </a:endParaRPr>
          </a:p>
        </p:txBody>
      </p:sp>
      <p:sp>
        <p:nvSpPr>
          <p:cNvPr id="9" name="箭头: 五边形 8"/>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第二关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工具学习与原理理解</a:t>
            </a:r>
            <a:endParaRPr lang="zh-CN" altLang="en-US" sz="2400">
              <a:latin typeface="微软雅黑" panose="020B0503020204020204" pitchFamily="34" charset="-122"/>
              <a:ea typeface="微软雅黑" panose="020B0503020204020204" pitchFamily="34" charset="-122"/>
            </a:endParaRPr>
          </a:p>
        </p:txBody>
      </p:sp>
      <p:sp>
        <p:nvSpPr>
          <p:cNvPr id="6" name="文本框 5"/>
          <p:cNvSpPr txBox="1"/>
          <p:nvPr/>
        </p:nvSpPr>
        <p:spPr>
          <a:xfrm>
            <a:off x="8878" y="1567378"/>
            <a:ext cx="12183122" cy="3415030"/>
          </a:xfrm>
          <a:prstGeom prst="rect">
            <a:avLst/>
          </a:prstGeom>
          <a:solidFill>
            <a:schemeClr val="accent1">
              <a:lumMod val="20000"/>
              <a:lumOff val="80000"/>
            </a:schemeClr>
          </a:solidFill>
        </p:spPr>
        <p:txBody>
          <a:bodyPr wrap="square" rtlCol="0">
            <a:spAutoFit/>
          </a:bodyPr>
          <a:lstStyle/>
          <a:p>
            <a:pPr indent="457200">
              <a:lnSpc>
                <a:spcPct val="150000"/>
              </a:lnSpc>
            </a:pPr>
            <a:r>
              <a:rPr lang="en-US" altLang="zh-CN" sz="2400" b="1">
                <a:solidFill>
                  <a:schemeClr val="accent1">
                    <a:lumMod val="75000"/>
                  </a:schemeClr>
                </a:solidFill>
                <a:latin typeface="微软雅黑" panose="020B0503020204020204" pitchFamily="34" charset="-122"/>
                <a:ea typeface="微软雅黑" panose="020B0503020204020204" pitchFamily="34" charset="-122"/>
              </a:rPr>
              <a:t>hydra</a:t>
            </a:r>
            <a:r>
              <a:rPr lang="zh-CN" altLang="en-US" sz="2400" b="1">
                <a:solidFill>
                  <a:schemeClr val="accent1">
                    <a:lumMod val="75000"/>
                  </a:schemeClr>
                </a:solidFill>
                <a:latin typeface="微软雅黑" panose="020B0503020204020204" pitchFamily="34" charset="-122"/>
                <a:ea typeface="微软雅黑" panose="020B0503020204020204" pitchFamily="34" charset="-122"/>
              </a:rPr>
              <a:t>使用介绍</a:t>
            </a:r>
            <a:endParaRPr lang="zh-CN" altLang="en-US" sz="2400" b="1">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zh-CN" altLang="en-US" sz="2400" b="1">
                <a:solidFill>
                  <a:schemeClr val="tx1"/>
                </a:solidFill>
                <a:latin typeface="微软雅黑" panose="020B0503020204020204" pitchFamily="34" charset="-122"/>
                <a:ea typeface="微软雅黑" panose="020B0503020204020204" pitchFamily="34" charset="-122"/>
              </a:rPr>
              <a:t>基本格式</a:t>
            </a:r>
            <a:endParaRPr lang="zh-CN" altLang="en-US" sz="2400" b="1">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2400">
                <a:solidFill>
                  <a:schemeClr val="tx1"/>
                </a:solidFill>
                <a:latin typeface="微软雅黑" panose="020B0503020204020204" pitchFamily="34" charset="-122"/>
                <a:ea typeface="微软雅黑" panose="020B0503020204020204" pitchFamily="34" charset="-122"/>
              </a:rPr>
              <a:t>hydra [[[-l LOGIN|-L FILE] [-p PASS|-PFILE]] | [-C FILE]] [-e nsr] [-o FILE] [-t TASKS] [-M FILE [-T TASKS]] [-wTIME] [-W TIME] [-f] [-s PORT] [-x MIN:MAX:CHARSET] [-SuvV46][service://server[:PORT][/OPT]]</a:t>
            </a:r>
            <a:endParaRPr lang="en-US" altLang="zh-CN" sz="2400">
              <a:solidFill>
                <a:schemeClr val="tx1"/>
              </a:solidFill>
              <a:latin typeface="微软雅黑" panose="020B0503020204020204" pitchFamily="34" charset="-122"/>
              <a:ea typeface="微软雅黑" panose="020B0503020204020204" pitchFamily="34" charset="-122"/>
            </a:endParaRPr>
          </a:p>
          <a:p>
            <a:pPr indent="457200">
              <a:lnSpc>
                <a:spcPct val="150000"/>
              </a:lnSpc>
            </a:pPr>
            <a:endParaRPr lang="en-US" altLang="zh-CN" sz="24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2</a:t>
            </a:r>
            <a:endParaRPr lang="zh-CN" altLang="en-US" sz="2400">
              <a:latin typeface="微软雅黑" panose="020B0503020204020204" pitchFamily="34" charset="-122"/>
              <a:ea typeface="微软雅黑" panose="020B0503020204020204" pitchFamily="34" charset="-122"/>
            </a:endParaRPr>
          </a:p>
        </p:txBody>
      </p:sp>
      <p:sp>
        <p:nvSpPr>
          <p:cNvPr id="9" name="箭头: 五边形 8"/>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第二关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工具学习与原理理解</a:t>
            </a:r>
            <a:endParaRPr lang="zh-CN" altLang="en-US" sz="2400">
              <a:latin typeface="微软雅黑" panose="020B0503020204020204" pitchFamily="34" charset="-122"/>
              <a:ea typeface="微软雅黑" panose="020B0503020204020204" pitchFamily="34" charset="-122"/>
            </a:endParaRPr>
          </a:p>
        </p:txBody>
      </p:sp>
      <p:sp>
        <p:nvSpPr>
          <p:cNvPr id="6" name="文本框 5"/>
          <p:cNvSpPr txBox="1"/>
          <p:nvPr/>
        </p:nvSpPr>
        <p:spPr>
          <a:xfrm>
            <a:off x="8878" y="1567378"/>
            <a:ext cx="12183122" cy="4107815"/>
          </a:xfrm>
          <a:prstGeom prst="rect">
            <a:avLst/>
          </a:prstGeom>
          <a:solidFill>
            <a:schemeClr val="accent1">
              <a:lumMod val="20000"/>
              <a:lumOff val="80000"/>
            </a:schemeClr>
          </a:solidFill>
        </p:spPr>
        <p:txBody>
          <a:bodyPr wrap="square" rtlCol="0">
            <a:spAutoFit/>
          </a:bodyPr>
          <a:lstStyle/>
          <a:p>
            <a:pPr indent="457200">
              <a:lnSpc>
                <a:spcPct val="150000"/>
              </a:lnSpc>
            </a:pPr>
            <a:r>
              <a:rPr lang="en-US" altLang="zh-CN" sz="2400" b="1">
                <a:solidFill>
                  <a:schemeClr val="accent1">
                    <a:lumMod val="75000"/>
                  </a:schemeClr>
                </a:solidFill>
                <a:latin typeface="微软雅黑" panose="020B0503020204020204" pitchFamily="34" charset="-122"/>
                <a:ea typeface="微软雅黑" panose="020B0503020204020204" pitchFamily="34" charset="-122"/>
              </a:rPr>
              <a:t>hydra</a:t>
            </a:r>
            <a:r>
              <a:rPr lang="zh-CN" altLang="en-US" sz="2400" b="1">
                <a:solidFill>
                  <a:schemeClr val="accent1">
                    <a:lumMod val="75000"/>
                  </a:schemeClr>
                </a:solidFill>
                <a:latin typeface="微软雅黑" panose="020B0503020204020204" pitchFamily="34" charset="-122"/>
                <a:ea typeface="微软雅黑" panose="020B0503020204020204" pitchFamily="34" charset="-122"/>
              </a:rPr>
              <a:t>使用介绍</a:t>
            </a:r>
            <a:endParaRPr lang="zh-CN" altLang="en-US" sz="2400" b="1">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zh-CN" altLang="en-US" sz="2400" b="1">
                <a:solidFill>
                  <a:schemeClr val="accent1">
                    <a:lumMod val="75000"/>
                  </a:schemeClr>
                </a:solidFill>
                <a:latin typeface="微软雅黑" panose="020B0503020204020204" pitchFamily="34" charset="-122"/>
                <a:ea typeface="微软雅黑" panose="020B0503020204020204" pitchFamily="34" charset="-122"/>
              </a:rPr>
              <a:t>常用参数</a:t>
            </a:r>
            <a:endParaRPr lang="zh-CN" altLang="en-US" sz="2400" b="1">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-l LOGIN </a:t>
            </a:r>
            <a:r>
              <a:rPr lang="zh-CN" altLang="en-US" sz="1400">
                <a:solidFill>
                  <a:schemeClr val="tx1"/>
                </a:solidFill>
                <a:latin typeface="微软雅黑" panose="020B0503020204020204" pitchFamily="34" charset="-122"/>
                <a:ea typeface="微软雅黑" panose="020B0503020204020204" pitchFamily="34" charset="-122"/>
              </a:rPr>
              <a:t>指定破解的用户名称，对特定用户破解。</a:t>
            </a:r>
            <a:endParaRPr lang="zh-CN" altLang="en-US" sz="1400">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-L FILE </a:t>
            </a:r>
            <a:r>
              <a:rPr lang="zh-CN" altLang="en-US" sz="1400">
                <a:solidFill>
                  <a:schemeClr val="tx1"/>
                </a:solidFill>
                <a:latin typeface="微软雅黑" panose="020B0503020204020204" pitchFamily="34" charset="-122"/>
                <a:ea typeface="微软雅黑" panose="020B0503020204020204" pitchFamily="34" charset="-122"/>
              </a:rPr>
              <a:t>从文件中加载用户名进行破解。</a:t>
            </a:r>
            <a:endParaRPr lang="zh-CN" altLang="en-US" sz="1400">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-p PASS</a:t>
            </a:r>
            <a:r>
              <a:rPr lang="zh-CN" altLang="en-US" sz="1400">
                <a:solidFill>
                  <a:schemeClr val="tx1"/>
                </a:solidFill>
                <a:latin typeface="微软雅黑" panose="020B0503020204020204" pitchFamily="34" charset="-122"/>
                <a:ea typeface="微软雅黑" panose="020B0503020204020204" pitchFamily="34" charset="-122"/>
              </a:rPr>
              <a:t>小写</a:t>
            </a:r>
            <a:r>
              <a:rPr lang="en-US" altLang="zh-CN" sz="1400">
                <a:solidFill>
                  <a:schemeClr val="tx1"/>
                </a:solidFill>
                <a:latin typeface="微软雅黑" panose="020B0503020204020204" pitchFamily="34" charset="-122"/>
                <a:ea typeface="微软雅黑" panose="020B0503020204020204" pitchFamily="34" charset="-122"/>
              </a:rPr>
              <a:t>p</a:t>
            </a:r>
            <a:r>
              <a:rPr lang="zh-CN" altLang="en-US" sz="1400">
                <a:solidFill>
                  <a:schemeClr val="tx1"/>
                </a:solidFill>
                <a:latin typeface="微软雅黑" panose="020B0503020204020204" pitchFamily="34" charset="-122"/>
                <a:ea typeface="微软雅黑" panose="020B0503020204020204" pitchFamily="34" charset="-122"/>
              </a:rPr>
              <a:t>指定密码破解，少用，一般是采用密码字典。</a:t>
            </a:r>
            <a:endParaRPr lang="zh-CN" altLang="en-US" sz="1400">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-P FILE </a:t>
            </a:r>
            <a:r>
              <a:rPr lang="zh-CN" altLang="en-US" sz="1400">
                <a:solidFill>
                  <a:schemeClr val="tx1"/>
                </a:solidFill>
                <a:latin typeface="微软雅黑" panose="020B0503020204020204" pitchFamily="34" charset="-122"/>
                <a:ea typeface="微软雅黑" panose="020B0503020204020204" pitchFamily="34" charset="-122"/>
              </a:rPr>
              <a:t>大写字母</a:t>
            </a:r>
            <a:r>
              <a:rPr lang="en-US" altLang="zh-CN" sz="1400">
                <a:solidFill>
                  <a:schemeClr val="tx1"/>
                </a:solidFill>
                <a:latin typeface="微软雅黑" panose="020B0503020204020204" pitchFamily="34" charset="-122"/>
                <a:ea typeface="微软雅黑" panose="020B0503020204020204" pitchFamily="34" charset="-122"/>
              </a:rPr>
              <a:t>P</a:t>
            </a:r>
            <a:r>
              <a:rPr lang="zh-CN" altLang="en-US" sz="1400">
                <a:solidFill>
                  <a:schemeClr val="tx1"/>
                </a:solidFill>
                <a:latin typeface="微软雅黑" panose="020B0503020204020204" pitchFamily="34" charset="-122"/>
                <a:ea typeface="微软雅黑" panose="020B0503020204020204" pitchFamily="34" charset="-122"/>
              </a:rPr>
              <a:t>，指定密码字典。</a:t>
            </a:r>
            <a:endParaRPr lang="zh-CN" altLang="en-US" sz="1400">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-e ns </a:t>
            </a:r>
            <a:r>
              <a:rPr lang="zh-CN" altLang="en-US" sz="1400">
                <a:solidFill>
                  <a:schemeClr val="tx1"/>
                </a:solidFill>
                <a:latin typeface="微软雅黑" panose="020B0503020204020204" pitchFamily="34" charset="-122"/>
                <a:ea typeface="微软雅黑" panose="020B0503020204020204" pitchFamily="34" charset="-122"/>
              </a:rPr>
              <a:t>可选选项，</a:t>
            </a:r>
            <a:r>
              <a:rPr lang="en-US" altLang="zh-CN" sz="1400">
                <a:solidFill>
                  <a:schemeClr val="tx1"/>
                </a:solidFill>
                <a:latin typeface="微软雅黑" panose="020B0503020204020204" pitchFamily="34" charset="-122"/>
                <a:ea typeface="微软雅黑" panose="020B0503020204020204" pitchFamily="34" charset="-122"/>
              </a:rPr>
              <a:t>n</a:t>
            </a:r>
            <a:r>
              <a:rPr lang="zh-CN" altLang="en-US" sz="1400">
                <a:solidFill>
                  <a:schemeClr val="tx1"/>
                </a:solidFill>
                <a:latin typeface="微软雅黑" panose="020B0503020204020204" pitchFamily="34" charset="-122"/>
                <a:ea typeface="微软雅黑" panose="020B0503020204020204" pitchFamily="34" charset="-122"/>
              </a:rPr>
              <a:t>：空密码试探，</a:t>
            </a:r>
            <a:r>
              <a:rPr lang="en-US" altLang="zh-CN" sz="1400">
                <a:solidFill>
                  <a:schemeClr val="tx1"/>
                </a:solidFill>
                <a:latin typeface="微软雅黑" panose="020B0503020204020204" pitchFamily="34" charset="-122"/>
                <a:ea typeface="微软雅黑" panose="020B0503020204020204" pitchFamily="34" charset="-122"/>
              </a:rPr>
              <a:t>s</a:t>
            </a:r>
            <a:r>
              <a:rPr lang="zh-CN" altLang="en-US" sz="1400">
                <a:solidFill>
                  <a:schemeClr val="tx1"/>
                </a:solidFill>
                <a:latin typeface="微软雅黑" panose="020B0503020204020204" pitchFamily="34" charset="-122"/>
                <a:ea typeface="微软雅黑" panose="020B0503020204020204" pitchFamily="34" charset="-122"/>
              </a:rPr>
              <a:t>：使用指定用户和密码试探。</a:t>
            </a:r>
            <a:endParaRPr lang="zh-CN" altLang="en-US" sz="1400">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-C FILE </a:t>
            </a:r>
            <a:r>
              <a:rPr lang="zh-CN" altLang="en-US" sz="1400">
                <a:solidFill>
                  <a:schemeClr val="tx1"/>
                </a:solidFill>
                <a:latin typeface="微软雅黑" panose="020B0503020204020204" pitchFamily="34" charset="-122"/>
                <a:ea typeface="微软雅黑" panose="020B0503020204020204" pitchFamily="34" charset="-122"/>
              </a:rPr>
              <a:t>使用冒号分割格式，例如</a:t>
            </a:r>
            <a:r>
              <a:rPr lang="en-US" altLang="zh-CN" sz="1400">
                <a:solidFill>
                  <a:schemeClr val="tx1"/>
                </a:solidFill>
                <a:latin typeface="微软雅黑" panose="020B0503020204020204" pitchFamily="34" charset="-122"/>
                <a:ea typeface="微软雅黑" panose="020B0503020204020204" pitchFamily="34" charset="-122"/>
              </a:rPr>
              <a:t>“</a:t>
            </a:r>
            <a:r>
              <a:rPr lang="zh-CN" altLang="en-US" sz="1400">
                <a:solidFill>
                  <a:schemeClr val="tx1"/>
                </a:solidFill>
                <a:latin typeface="微软雅黑" panose="020B0503020204020204" pitchFamily="34" charset="-122"/>
                <a:ea typeface="微软雅黑" panose="020B0503020204020204" pitchFamily="34" charset="-122"/>
              </a:rPr>
              <a:t>登录名</a:t>
            </a:r>
            <a:r>
              <a:rPr lang="en-US" altLang="zh-CN" sz="1400">
                <a:solidFill>
                  <a:schemeClr val="tx1"/>
                </a:solidFill>
                <a:latin typeface="微软雅黑" panose="020B0503020204020204" pitchFamily="34" charset="-122"/>
                <a:ea typeface="微软雅黑" panose="020B0503020204020204" pitchFamily="34" charset="-122"/>
              </a:rPr>
              <a:t>:</a:t>
            </a:r>
            <a:r>
              <a:rPr lang="zh-CN" altLang="en-US" sz="1400">
                <a:solidFill>
                  <a:schemeClr val="tx1"/>
                </a:solidFill>
                <a:latin typeface="微软雅黑" panose="020B0503020204020204" pitchFamily="34" charset="-122"/>
                <a:ea typeface="微软雅黑" panose="020B0503020204020204" pitchFamily="34" charset="-122"/>
              </a:rPr>
              <a:t>密码</a:t>
            </a:r>
            <a:r>
              <a:rPr lang="en-US" altLang="zh-CN" sz="1400">
                <a:solidFill>
                  <a:schemeClr val="tx1"/>
                </a:solidFill>
                <a:latin typeface="微软雅黑" panose="020B0503020204020204" pitchFamily="34" charset="-122"/>
                <a:ea typeface="微软雅黑" panose="020B0503020204020204" pitchFamily="34" charset="-122"/>
              </a:rPr>
              <a:t>”</a:t>
            </a:r>
            <a:r>
              <a:rPr lang="zh-CN" altLang="en-US" sz="1400">
                <a:solidFill>
                  <a:schemeClr val="tx1"/>
                </a:solidFill>
                <a:latin typeface="微软雅黑" panose="020B0503020204020204" pitchFamily="34" charset="-122"/>
                <a:ea typeface="微软雅黑" panose="020B0503020204020204" pitchFamily="34" charset="-122"/>
              </a:rPr>
              <a:t>来代替</a:t>
            </a:r>
            <a:r>
              <a:rPr lang="en-US" altLang="zh-CN" sz="1400">
                <a:solidFill>
                  <a:schemeClr val="tx1"/>
                </a:solidFill>
                <a:latin typeface="微软雅黑" panose="020B0503020204020204" pitchFamily="34" charset="-122"/>
                <a:ea typeface="微软雅黑" panose="020B0503020204020204" pitchFamily="34" charset="-122"/>
              </a:rPr>
              <a:t>-L/-P</a:t>
            </a:r>
            <a:r>
              <a:rPr lang="zh-CN" altLang="en-US" sz="1400">
                <a:solidFill>
                  <a:schemeClr val="tx1"/>
                </a:solidFill>
                <a:latin typeface="微软雅黑" panose="020B0503020204020204" pitchFamily="34" charset="-122"/>
                <a:ea typeface="微软雅黑" panose="020B0503020204020204" pitchFamily="34" charset="-122"/>
              </a:rPr>
              <a:t>参数。</a:t>
            </a:r>
            <a:endParaRPr lang="zh-CN" altLang="en-US" sz="1400">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-t TASKS </a:t>
            </a:r>
            <a:r>
              <a:rPr lang="zh-CN" altLang="en-US" sz="1400">
                <a:solidFill>
                  <a:schemeClr val="tx1"/>
                </a:solidFill>
                <a:latin typeface="微软雅黑" panose="020B0503020204020204" pitchFamily="34" charset="-122"/>
                <a:ea typeface="微软雅黑" panose="020B0503020204020204" pitchFamily="34" charset="-122"/>
              </a:rPr>
              <a:t>同时运行的连接的线程数，每一台主机默认为</a:t>
            </a:r>
            <a:r>
              <a:rPr lang="en-US" altLang="zh-CN" sz="1400">
                <a:solidFill>
                  <a:schemeClr val="tx1"/>
                </a:solidFill>
                <a:latin typeface="微软雅黑" panose="020B0503020204020204" pitchFamily="34" charset="-122"/>
                <a:ea typeface="微软雅黑" panose="020B0503020204020204" pitchFamily="34" charset="-122"/>
              </a:rPr>
              <a:t>16</a:t>
            </a:r>
            <a:r>
              <a:rPr lang="zh-CN" altLang="en-US" sz="1400">
                <a:solidFill>
                  <a:schemeClr val="tx1"/>
                </a:solidFill>
                <a:latin typeface="微软雅黑" panose="020B0503020204020204" pitchFamily="34" charset="-122"/>
                <a:ea typeface="微软雅黑" panose="020B0503020204020204" pitchFamily="34" charset="-122"/>
              </a:rPr>
              <a:t>。</a:t>
            </a:r>
            <a:endParaRPr lang="zh-CN" altLang="en-US" sz="1400">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-M FILE </a:t>
            </a:r>
            <a:r>
              <a:rPr lang="zh-CN" altLang="en-US" sz="1400">
                <a:solidFill>
                  <a:schemeClr val="tx1"/>
                </a:solidFill>
                <a:latin typeface="微软雅黑" panose="020B0503020204020204" pitchFamily="34" charset="-122"/>
                <a:ea typeface="微软雅黑" panose="020B0503020204020204" pitchFamily="34" charset="-122"/>
              </a:rPr>
              <a:t>指定服务器目标列表文件一行一条</a:t>
            </a:r>
            <a:endParaRPr lang="zh-CN" altLang="en-US" sz="1400">
              <a:solidFill>
                <a:schemeClr val="tx1"/>
              </a:solidFill>
              <a:latin typeface="微软雅黑" panose="020B0503020204020204" pitchFamily="34" charset="-122"/>
              <a:ea typeface="微软雅黑" panose="020B0503020204020204" pitchFamily="34" charset="-122"/>
            </a:endParaRPr>
          </a:p>
          <a:p>
            <a:pPr indent="457200">
              <a:lnSpc>
                <a:spcPct val="150000"/>
              </a:lnSpc>
            </a:pPr>
            <a:r>
              <a:rPr lang="en-US" altLang="zh-CN" sz="1400">
                <a:solidFill>
                  <a:schemeClr val="tx1"/>
                </a:solidFill>
                <a:latin typeface="微软雅黑" panose="020B0503020204020204" pitchFamily="34" charset="-122"/>
                <a:ea typeface="微软雅黑" panose="020B0503020204020204" pitchFamily="34" charset="-122"/>
              </a:rPr>
              <a:t>-h      </a:t>
            </a:r>
            <a:r>
              <a:rPr lang="zh-CN" altLang="en-US" sz="1400">
                <a:solidFill>
                  <a:schemeClr val="tx1"/>
                </a:solidFill>
                <a:latin typeface="微软雅黑" panose="020B0503020204020204" pitchFamily="34" charset="-122"/>
                <a:ea typeface="微软雅黑" panose="020B0503020204020204" pitchFamily="34" charset="-122"/>
              </a:rPr>
              <a:t>更多的命令行选项（完整的帮助）</a:t>
            </a:r>
            <a:endParaRPr lang="zh-CN" altLang="en-US" sz="14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2</a:t>
            </a:r>
            <a:endParaRPr lang="zh-CN" altLang="en-US" sz="2400">
              <a:latin typeface="微软雅黑" panose="020B0503020204020204" pitchFamily="34" charset="-122"/>
              <a:ea typeface="微软雅黑" panose="020B0503020204020204" pitchFamily="34" charset="-122"/>
            </a:endParaRPr>
          </a:p>
        </p:txBody>
      </p:sp>
      <p:sp>
        <p:nvSpPr>
          <p:cNvPr id="9" name="箭头: 五边形 8"/>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第二关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工具学习与原理理解</a:t>
            </a:r>
            <a:endParaRPr lang="zh-CN" altLang="en-US" sz="2400">
              <a:latin typeface="微软雅黑" panose="020B0503020204020204" pitchFamily="34" charset="-122"/>
              <a:ea typeface="微软雅黑" panose="020B0503020204020204" pitchFamily="34" charset="-122"/>
            </a:endParaRPr>
          </a:p>
        </p:txBody>
      </p:sp>
      <p:sp>
        <p:nvSpPr>
          <p:cNvPr id="6" name="文本框 5"/>
          <p:cNvSpPr txBox="1"/>
          <p:nvPr/>
        </p:nvSpPr>
        <p:spPr>
          <a:xfrm>
            <a:off x="8878" y="1225988"/>
            <a:ext cx="12183122" cy="1198880"/>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使用</a:t>
            </a:r>
            <a:r>
              <a:rPr lang="en-US" altLang="zh-CN" sz="2400" b="1">
                <a:latin typeface="微软雅黑" panose="020B0503020204020204" pitchFamily="34" charset="-122"/>
                <a:ea typeface="微软雅黑" panose="020B0503020204020204" pitchFamily="34" charset="-122"/>
              </a:rPr>
              <a:t>hydra</a:t>
            </a:r>
            <a:r>
              <a:rPr lang="zh-CN" altLang="en-US" sz="2400" b="1">
                <a:latin typeface="微软雅黑" panose="020B0503020204020204" pitchFamily="34" charset="-122"/>
                <a:ea typeface="微软雅黑" panose="020B0503020204020204" pitchFamily="34" charset="-122"/>
              </a:rPr>
              <a:t>进行暴力破解</a:t>
            </a:r>
            <a:endParaRPr lang="zh-CN" altLang="en-US" sz="2400" b="1">
              <a:latin typeface="微软雅黑" panose="020B0503020204020204" pitchFamily="34" charset="-122"/>
              <a:ea typeface="微软雅黑" panose="020B0503020204020204" pitchFamily="34" charset="-122"/>
            </a:endParaRPr>
          </a:p>
          <a:p>
            <a:pPr indent="457200">
              <a:lnSpc>
                <a:spcPct val="150000"/>
              </a:lnSpc>
            </a:pPr>
            <a:r>
              <a:rPr lang="en-US" altLang="zh-CN" sz="2400">
                <a:latin typeface="微软雅黑" panose="020B0503020204020204" pitchFamily="34" charset="-122"/>
                <a:ea typeface="微软雅黑" panose="020B0503020204020204" pitchFamily="34" charset="-122"/>
              </a:rPr>
              <a:t>hydra -l </a:t>
            </a:r>
            <a:r>
              <a:rPr lang="zh-CN" altLang="en-US" sz="2400">
                <a:latin typeface="微软雅黑" panose="020B0503020204020204" pitchFamily="34" charset="-122"/>
                <a:ea typeface="微软雅黑" panose="020B0503020204020204" pitchFamily="34" charset="-122"/>
              </a:rPr>
              <a:t>用户名</a:t>
            </a:r>
            <a:r>
              <a:rPr lang="en-US" altLang="zh-CN" sz="2400">
                <a:latin typeface="微软雅黑" panose="020B0503020204020204" pitchFamily="34" charset="-122"/>
                <a:ea typeface="微软雅黑" panose="020B0503020204020204" pitchFamily="34" charset="-122"/>
              </a:rPr>
              <a:t> -p </a:t>
            </a:r>
            <a:r>
              <a:rPr lang="zh-CN" altLang="en-US" sz="2400">
                <a:latin typeface="微软雅黑" panose="020B0503020204020204" pitchFamily="34" charset="-122"/>
                <a:ea typeface="微软雅黑" panose="020B0503020204020204" pitchFamily="34" charset="-122"/>
              </a:rPr>
              <a:t>密码字典</a:t>
            </a:r>
            <a:r>
              <a:rPr lang="en-US" altLang="zh-CN" sz="2400">
                <a:latin typeface="微软雅黑" panose="020B0503020204020204" pitchFamily="34" charset="-122"/>
                <a:ea typeface="微软雅黑" panose="020B0503020204020204" pitchFamily="34" charset="-122"/>
              </a:rPr>
              <a:t> -t </a:t>
            </a:r>
            <a:r>
              <a:rPr lang="zh-CN" altLang="en-US" sz="2400">
                <a:latin typeface="微软雅黑" panose="020B0503020204020204" pitchFamily="34" charset="-122"/>
                <a:ea typeface="微软雅黑" panose="020B0503020204020204" pitchFamily="34" charset="-122"/>
              </a:rPr>
              <a:t>线程</a:t>
            </a:r>
            <a:r>
              <a:rPr lang="en-US" altLang="zh-CN" sz="2400">
                <a:latin typeface="微软雅黑" panose="020B0503020204020204" pitchFamily="34" charset="-122"/>
                <a:ea typeface="微软雅黑" panose="020B0503020204020204" pitchFamily="34" charset="-122"/>
              </a:rPr>
              <a:t> -vV -e ns ip ssh</a:t>
            </a:r>
            <a:endParaRPr lang="en-US" altLang="zh-CN" sz="240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77240906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00773" y="2880360"/>
            <a:ext cx="4382135" cy="3108960"/>
          </a:xfrm>
          <a:prstGeom prst="rect">
            <a:avLst/>
          </a:prstGeom>
          <a:noFill/>
          <a:ln>
            <a:noFill/>
          </a:ln>
        </p:spPr>
      </p:pic>
      <p:pic>
        <p:nvPicPr>
          <p:cNvPr id="320644016"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77255" y="2858770"/>
            <a:ext cx="4413250" cy="3130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3</a:t>
            </a:r>
            <a:endParaRPr lang="zh-CN" altLang="en-US" sz="2400">
              <a:latin typeface="微软雅黑" panose="020B0503020204020204" pitchFamily="34" charset="-122"/>
              <a:ea typeface="微软雅黑" panose="020B0503020204020204" pitchFamily="34" charset="-122"/>
            </a:endParaRPr>
          </a:p>
        </p:txBody>
      </p:sp>
      <p:sp>
        <p:nvSpPr>
          <p:cNvPr id="9" name="箭头: 五边形 8"/>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第三关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脚本编写，实现攻击</a:t>
            </a:r>
            <a:endParaRPr lang="zh-CN" altLang="en-US" sz="2400">
              <a:latin typeface="微软雅黑" panose="020B0503020204020204" pitchFamily="34" charset="-122"/>
              <a:ea typeface="微软雅黑" panose="020B0503020204020204" pitchFamily="34" charset="-122"/>
            </a:endParaRPr>
          </a:p>
        </p:txBody>
      </p:sp>
      <p:sp>
        <p:nvSpPr>
          <p:cNvPr id="13" name="文本框 12"/>
          <p:cNvSpPr txBox="1"/>
          <p:nvPr/>
        </p:nvSpPr>
        <p:spPr>
          <a:xfrm>
            <a:off x="0" y="1428079"/>
            <a:ext cx="12183122" cy="2306955"/>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【任务】自主编写</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python</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脚本，分别实现密码字典生成和暴力破解攻击。</a:t>
            </a:r>
            <a:endParaRPr lang="zh-CN" altLang="en-US"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密码字典生成：目标密钥由本组同学的姓全拼</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名首字母</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学号三部分随机组合而成，编写脚本生产密码字典。</a:t>
            </a:r>
            <a:endParaRPr lang="zh-CN" altLang="en-US"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暴力破解攻击：可以参考使用此前安装的</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paramiko</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库，在程序中进行</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ssh</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登录尝试。</a:t>
            </a:r>
            <a:endParaRPr lang="zh-CN" altLang="en-US" sz="2400" b="1" dirty="0">
              <a:solidFill>
                <a:schemeClr val="accent1">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4</a:t>
            </a:r>
            <a:endParaRPr lang="zh-CN" altLang="en-US" sz="2400">
              <a:latin typeface="微软雅黑" panose="020B0503020204020204" pitchFamily="34" charset="-122"/>
              <a:ea typeface="微软雅黑" panose="020B0503020204020204" pitchFamily="34" charset="-122"/>
            </a:endParaRPr>
          </a:p>
        </p:txBody>
      </p:sp>
      <p:sp>
        <p:nvSpPr>
          <p:cNvPr id="23" name="箭头: 五边形 22"/>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思考</a:t>
            </a:r>
            <a:endParaRPr lang="zh-CN" altLang="en-US" sz="2400">
              <a:latin typeface="微软雅黑" panose="020B0503020204020204" pitchFamily="34" charset="-122"/>
              <a:ea typeface="微软雅黑" panose="020B0503020204020204" pitchFamily="34" charset="-122"/>
            </a:endParaRPr>
          </a:p>
        </p:txBody>
      </p:sp>
      <p:sp>
        <p:nvSpPr>
          <p:cNvPr id="14" name="文本框 13"/>
          <p:cNvSpPr txBox="1"/>
          <p:nvPr/>
        </p:nvSpPr>
        <p:spPr>
          <a:xfrm>
            <a:off x="69838" y="2034820"/>
            <a:ext cx="12183122" cy="2306955"/>
          </a:xfrm>
          <a:prstGeom prst="rect">
            <a:avLst/>
          </a:prstGeom>
          <a:solidFill>
            <a:schemeClr val="accent1">
              <a:lumMod val="20000"/>
              <a:lumOff val="80000"/>
            </a:schemeClr>
          </a:solidFill>
        </p:spPr>
        <p:txBody>
          <a:bodyPr wrap="square" rtlCol="0">
            <a:spAutoFit/>
          </a:bodyPr>
          <a:lstStyle/>
          <a:p>
            <a:pPr indent="457200">
              <a:lnSpc>
                <a:spcPct val="150000"/>
              </a:lnSpc>
            </a:pPr>
            <a:r>
              <a:rPr lang="en-US" altLang="zh-CN" sz="2400">
                <a:latin typeface="微软雅黑" panose="020B0503020204020204" pitchFamily="34" charset="-122"/>
                <a:ea typeface="微软雅黑" panose="020B0503020204020204" pitchFamily="34" charset="-122"/>
              </a:rPr>
              <a:t>1.	</a:t>
            </a:r>
            <a:r>
              <a:rPr lang="zh-CN" altLang="en-US" sz="2400">
                <a:latin typeface="微软雅黑" panose="020B0503020204020204" pitchFamily="34" charset="-122"/>
                <a:ea typeface="微软雅黑" panose="020B0503020204020204" pitchFamily="34" charset="-122"/>
              </a:rPr>
              <a:t>暴力破解的原理和过程？</a:t>
            </a:r>
            <a:endParaRPr lang="zh-CN" altLang="en-US" sz="2400">
              <a:latin typeface="微软雅黑" panose="020B0503020204020204" pitchFamily="34" charset="-122"/>
              <a:ea typeface="微软雅黑" panose="020B0503020204020204" pitchFamily="34" charset="-122"/>
            </a:endParaRPr>
          </a:p>
          <a:p>
            <a:pPr indent="457200">
              <a:lnSpc>
                <a:spcPct val="150000"/>
              </a:lnSpc>
            </a:pPr>
            <a:r>
              <a:rPr lang="en-US" altLang="zh-CN" sz="2400">
                <a:latin typeface="微软雅黑" panose="020B0503020204020204" pitchFamily="34" charset="-122"/>
                <a:ea typeface="微软雅黑" panose="020B0503020204020204" pitchFamily="34" charset="-122"/>
              </a:rPr>
              <a:t>2.	</a:t>
            </a:r>
            <a:r>
              <a:rPr lang="zh-CN" altLang="en-US" sz="2400">
                <a:latin typeface="微软雅黑" panose="020B0503020204020204" pitchFamily="34" charset="-122"/>
                <a:ea typeface="微软雅黑" panose="020B0503020204020204" pitchFamily="34" charset="-122"/>
              </a:rPr>
              <a:t>从用户角度，如何防范暴力破解攻击？</a:t>
            </a:r>
            <a:endParaRPr lang="zh-CN" altLang="en-US" sz="2400">
              <a:latin typeface="微软雅黑" panose="020B0503020204020204" pitchFamily="34" charset="-122"/>
              <a:ea typeface="微软雅黑" panose="020B0503020204020204" pitchFamily="34" charset="-122"/>
            </a:endParaRPr>
          </a:p>
          <a:p>
            <a:pPr indent="457200">
              <a:lnSpc>
                <a:spcPct val="150000"/>
              </a:lnSpc>
            </a:pPr>
            <a:r>
              <a:rPr lang="en-US" altLang="zh-CN" sz="2400">
                <a:latin typeface="微软雅黑" panose="020B0503020204020204" pitchFamily="34" charset="-122"/>
                <a:ea typeface="微软雅黑" panose="020B0503020204020204" pitchFamily="34" charset="-122"/>
              </a:rPr>
              <a:t>3.	</a:t>
            </a:r>
            <a:r>
              <a:rPr lang="zh-CN" altLang="en-US" sz="2400">
                <a:latin typeface="微软雅黑" panose="020B0503020204020204" pitchFamily="34" charset="-122"/>
                <a:ea typeface="微软雅黑" panose="020B0503020204020204" pitchFamily="34" charset="-122"/>
              </a:rPr>
              <a:t>从设计者角度，如何防范暴力破解攻击？</a:t>
            </a:r>
            <a:endParaRPr lang="zh-CN" altLang="en-US" sz="2400">
              <a:latin typeface="微软雅黑" panose="020B0503020204020204" pitchFamily="34" charset="-122"/>
              <a:ea typeface="微软雅黑" panose="020B0503020204020204" pitchFamily="34" charset="-122"/>
            </a:endParaRPr>
          </a:p>
          <a:p>
            <a:pPr indent="457200">
              <a:lnSpc>
                <a:spcPct val="150000"/>
              </a:lnSpc>
            </a:pPr>
            <a:endParaRPr lang="zh-CN" altLang="en-US" sz="240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1"/>
          <a:srcRect t="19533" b="19720"/>
          <a:stretch>
            <a:fillRect/>
          </a:stretch>
        </p:blipFill>
        <p:spPr>
          <a:xfrm>
            <a:off x="4421108" y="1239256"/>
            <a:ext cx="4579164" cy="5096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anim calcmode="lin" valueType="num">
                                      <p:cBhvr>
                                        <p:cTn id="8"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anim calcmode="lin" valueType="num">
                                      <p:cBhvr>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1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500"/>
                                        <p:tgtEl>
                                          <p:spTgt spid="14">
                                            <p:txEl>
                                              <p:pRg st="2" end="2"/>
                                            </p:txEl>
                                          </p:spTgt>
                                        </p:tgtEl>
                                      </p:cBhvr>
                                    </p:animEffect>
                                    <p:anim calcmode="lin" valueType="num">
                                      <p:cBhvr>
                                        <p:cTn id="18"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9" dur="500" fill="hold"/>
                                        <p:tgtEl>
                                          <p:spTgt spid="1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anim calcmode="lin" valueType="num">
                                      <p:cBhvr>
                                        <p:cTn id="23" dur="500" fill="hold"/>
                                        <p:tgtEl>
                                          <p:spTgt spid="4"/>
                                        </p:tgtEl>
                                        <p:attrNameLst>
                                          <p:attrName>ppt_x</p:attrName>
                                        </p:attrNameLst>
                                      </p:cBhvr>
                                      <p:tavLst>
                                        <p:tav tm="0">
                                          <p:val>
                                            <p:strVal val="#ppt_x"/>
                                          </p:val>
                                        </p:tav>
                                        <p:tav tm="100000">
                                          <p:val>
                                            <p:strVal val="#ppt_x"/>
                                          </p:val>
                                        </p:tav>
                                      </p:tavLst>
                                    </p:anim>
                                    <p:anim calcmode="lin" valueType="num">
                                      <p:cBhvr>
                                        <p:cTn id="24"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2541588" y="0"/>
            <a:ext cx="6907213" cy="5676900"/>
          </a:xfrm>
          <a:prstGeom prst="triangle">
            <a:avLst/>
          </a:prstGeom>
          <a:noFill/>
          <a:ln>
            <a:solidFill>
              <a:schemeClr val="accent1">
                <a:lumMod val="75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5" name="等腰三角形 4"/>
          <p:cNvSpPr/>
          <p:nvPr/>
        </p:nvSpPr>
        <p:spPr>
          <a:xfrm rot="10800000">
            <a:off x="3059113" y="1319213"/>
            <a:ext cx="6008688" cy="4416425"/>
          </a:xfrm>
          <a:prstGeom prst="triangle">
            <a:avLst/>
          </a:prstGeom>
          <a:noFill/>
          <a:ln w="206375">
            <a:solidFill>
              <a:schemeClr val="accent1">
                <a:lumMod val="60000"/>
                <a:lumOff val="40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6" name="等腰三角形 10"/>
          <p:cNvSpPr/>
          <p:nvPr/>
        </p:nvSpPr>
        <p:spPr>
          <a:xfrm rot="7016274">
            <a:off x="1935163" y="454025"/>
            <a:ext cx="3770313" cy="6859588"/>
          </a:xfrm>
          <a:custGeom>
            <a:avLst/>
            <a:gdLst>
              <a:gd name="connsiteX0" fmla="*/ 0 w 7540399"/>
              <a:gd name="connsiteY0" fmla="*/ 6859430 h 6859430"/>
              <a:gd name="connsiteX1" fmla="*/ 3770200 w 7540399"/>
              <a:gd name="connsiteY1" fmla="*/ 0 h 6859430"/>
              <a:gd name="connsiteX2" fmla="*/ 7540399 w 7540399"/>
              <a:gd name="connsiteY2" fmla="*/ 6859430 h 6859430"/>
              <a:gd name="connsiteX3" fmla="*/ 0 w 7540399"/>
              <a:gd name="connsiteY3" fmla="*/ 6859430 h 6859430"/>
              <a:gd name="connsiteX0-1" fmla="*/ 0 w 3770200"/>
              <a:gd name="connsiteY0-2" fmla="*/ 6859430 h 6859430"/>
              <a:gd name="connsiteX1-3" fmla="*/ 3770200 w 3770200"/>
              <a:gd name="connsiteY1-4" fmla="*/ 0 h 6859430"/>
              <a:gd name="connsiteX2-5" fmla="*/ 0 w 3770200"/>
              <a:gd name="connsiteY2-6" fmla="*/ 6859430 h 6859430"/>
            </a:gdLst>
            <a:ahLst/>
            <a:cxnLst>
              <a:cxn ang="0">
                <a:pos x="connsiteX0-1" y="connsiteY0-2"/>
              </a:cxn>
              <a:cxn ang="0">
                <a:pos x="connsiteX1-3" y="connsiteY1-4"/>
              </a:cxn>
              <a:cxn ang="0">
                <a:pos x="connsiteX2-5" y="connsiteY2-6"/>
              </a:cxn>
            </a:cxnLst>
            <a:rect l="l" t="t" r="r" b="b"/>
            <a:pathLst>
              <a:path w="3770200" h="6859430">
                <a:moveTo>
                  <a:pt x="0" y="6859430"/>
                </a:moveTo>
                <a:lnTo>
                  <a:pt x="3770200" y="0"/>
                </a:lnTo>
                <a:lnTo>
                  <a:pt x="0" y="6859430"/>
                </a:lnTo>
                <a:close/>
              </a:path>
            </a:pathLst>
          </a:custGeom>
          <a:solidFill>
            <a:schemeClr val="accent1"/>
          </a:solidFill>
          <a:ln w="206375">
            <a:solidFill>
              <a:schemeClr val="accent1">
                <a:lumMod val="60000"/>
                <a:lumOff val="40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7" name="任意多边形 2"/>
          <p:cNvSpPr/>
          <p:nvPr/>
        </p:nvSpPr>
        <p:spPr>
          <a:xfrm rot="11211390">
            <a:off x="5659438" y="3959225"/>
            <a:ext cx="922338" cy="866775"/>
          </a:xfrm>
          <a:custGeom>
            <a:avLst/>
            <a:gdLst>
              <a:gd name="connsiteX0" fmla="*/ 0 w 2002971"/>
              <a:gd name="connsiteY0" fmla="*/ 1335314 h 1944914"/>
              <a:gd name="connsiteX1" fmla="*/ 783771 w 2002971"/>
              <a:gd name="connsiteY1" fmla="*/ 0 h 1944914"/>
              <a:gd name="connsiteX2" fmla="*/ 2002971 w 2002971"/>
              <a:gd name="connsiteY2" fmla="*/ 1944914 h 1944914"/>
              <a:gd name="connsiteX0-1" fmla="*/ 0 w 1416184"/>
              <a:gd name="connsiteY0-2" fmla="*/ 1335314 h 1335314"/>
              <a:gd name="connsiteX1-3" fmla="*/ 783771 w 1416184"/>
              <a:gd name="connsiteY1-4" fmla="*/ 0 h 1335314"/>
              <a:gd name="connsiteX2-5" fmla="*/ 1416184 w 1416184"/>
              <a:gd name="connsiteY2-6" fmla="*/ 970990 h 1335314"/>
            </a:gdLst>
            <a:ahLst/>
            <a:cxnLst>
              <a:cxn ang="0">
                <a:pos x="connsiteX0-1" y="connsiteY0-2"/>
              </a:cxn>
              <a:cxn ang="0">
                <a:pos x="connsiteX1-3" y="connsiteY1-4"/>
              </a:cxn>
              <a:cxn ang="0">
                <a:pos x="connsiteX2-5" y="connsiteY2-6"/>
              </a:cxn>
            </a:cxnLst>
            <a:rect l="l" t="t" r="r" b="b"/>
            <a:pathLst>
              <a:path w="1416184" h="1335314">
                <a:moveTo>
                  <a:pt x="0" y="1335314"/>
                </a:moveTo>
                <a:lnTo>
                  <a:pt x="783771" y="0"/>
                </a:lnTo>
                <a:lnTo>
                  <a:pt x="1416184" y="970990"/>
                </a:lnTo>
              </a:path>
            </a:pathLst>
          </a:custGeom>
          <a:noFill/>
          <a:ln w="1270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任意多边形 20"/>
          <p:cNvSpPr/>
          <p:nvPr/>
        </p:nvSpPr>
        <p:spPr>
          <a:xfrm rot="11211631">
            <a:off x="4587875" y="2082800"/>
            <a:ext cx="2930525" cy="1257300"/>
          </a:xfrm>
          <a:custGeom>
            <a:avLst/>
            <a:gdLst>
              <a:gd name="connsiteX0" fmla="*/ 4209143 w 5297714"/>
              <a:gd name="connsiteY0" fmla="*/ 0 h 1770743"/>
              <a:gd name="connsiteX1" fmla="*/ 5297714 w 5297714"/>
              <a:gd name="connsiteY1" fmla="*/ 1770743 h 1770743"/>
              <a:gd name="connsiteX2" fmla="*/ 0 w 5297714"/>
              <a:gd name="connsiteY2" fmla="*/ 1306286 h 1770743"/>
              <a:gd name="connsiteX3" fmla="*/ 769257 w 5297714"/>
              <a:gd name="connsiteY3" fmla="*/ 29029 h 1770743"/>
              <a:gd name="connsiteX0-1" fmla="*/ 4209143 w 5297714"/>
              <a:gd name="connsiteY0-2" fmla="*/ 0 h 1770743"/>
              <a:gd name="connsiteX1-3" fmla="*/ 5297714 w 5297714"/>
              <a:gd name="connsiteY1-4" fmla="*/ 1770743 h 1770743"/>
              <a:gd name="connsiteX2-5" fmla="*/ 0 w 5297714"/>
              <a:gd name="connsiteY2-6" fmla="*/ 1306286 h 1770743"/>
              <a:gd name="connsiteX3-7" fmla="*/ 562856 w 5297714"/>
              <a:gd name="connsiteY3-8" fmla="*/ 395863 h 1770743"/>
              <a:gd name="connsiteX0-9" fmla="*/ 3872553 w 5297714"/>
              <a:gd name="connsiteY0-10" fmla="*/ 0 h 2274831"/>
              <a:gd name="connsiteX1-11" fmla="*/ 5297714 w 5297714"/>
              <a:gd name="connsiteY1-12" fmla="*/ 2274831 h 2274831"/>
              <a:gd name="connsiteX2-13" fmla="*/ 0 w 5297714"/>
              <a:gd name="connsiteY2-14" fmla="*/ 1810374 h 2274831"/>
              <a:gd name="connsiteX3-15" fmla="*/ 562856 w 5297714"/>
              <a:gd name="connsiteY3-16" fmla="*/ 899951 h 2274831"/>
            </a:gdLst>
            <a:ahLst/>
            <a:cxnLst>
              <a:cxn ang="0">
                <a:pos x="connsiteX0-1" y="connsiteY0-2"/>
              </a:cxn>
              <a:cxn ang="0">
                <a:pos x="connsiteX1-3" y="connsiteY1-4"/>
              </a:cxn>
              <a:cxn ang="0">
                <a:pos x="connsiteX2-5" y="connsiteY2-6"/>
              </a:cxn>
              <a:cxn ang="0">
                <a:pos x="connsiteX3-7" y="connsiteY3-8"/>
              </a:cxn>
            </a:cxnLst>
            <a:rect l="l" t="t" r="r" b="b"/>
            <a:pathLst>
              <a:path w="5297714" h="2274831">
                <a:moveTo>
                  <a:pt x="3872553" y="0"/>
                </a:moveTo>
                <a:lnTo>
                  <a:pt x="5297714" y="2274831"/>
                </a:lnTo>
                <a:lnTo>
                  <a:pt x="0" y="1810374"/>
                </a:lnTo>
                <a:lnTo>
                  <a:pt x="562856" y="899951"/>
                </a:lnTo>
              </a:path>
            </a:pathLst>
          </a:custGeom>
          <a:noFill/>
          <a:ln w="1270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9" name="TextBox 9"/>
          <p:cNvSpPr txBox="1"/>
          <p:nvPr/>
        </p:nvSpPr>
        <p:spPr>
          <a:xfrm>
            <a:off x="2292350" y="3133725"/>
            <a:ext cx="7893050" cy="1014730"/>
          </a:xfrm>
          <a:prstGeom prst="rect">
            <a:avLst/>
          </a:prstGeom>
          <a:noFill/>
        </p:spPr>
        <p:txBody>
          <a:bodyPr wrap="square">
            <a:spAutoFit/>
          </a:bodyPr>
          <a:lstStyle/>
          <a:p>
            <a:pPr marR="0" algn="ctr" defTabSz="914400" fontAlgn="auto">
              <a:buClrTx/>
              <a:buSzTx/>
              <a:buFont typeface="Arial" panose="020B0604020202020204" pitchFamily="34" charset="0"/>
              <a:defRPr/>
            </a:pPr>
            <a:r>
              <a:rPr kumimoji="0" lang="en-US" altLang="zh-CN" sz="6000" b="1" kern="1200" cap="none" spc="300" normalizeH="0" baseline="0" noProof="1">
                <a:solidFill>
                  <a:schemeClr val="accent1"/>
                </a:solidFill>
                <a:latin typeface="微软雅黑" panose="020B0503020204020204" pitchFamily="34" charset="-122"/>
                <a:ea typeface="微软雅黑" panose="020B0503020204020204" pitchFamily="34" charset="-122"/>
                <a:cs typeface="+mn-cs"/>
                <a:sym typeface="+mn-ea"/>
              </a:rPr>
              <a:t>THANK YOU</a:t>
            </a:r>
            <a:endParaRPr kumimoji="0" lang="en-US" altLang="zh-CN" sz="6000" b="1" kern="1200" cap="none" spc="300" normalizeH="0" baseline="0" noProof="1">
              <a:solidFill>
                <a:schemeClr val="accent1"/>
              </a:solidFill>
              <a:latin typeface="微软雅黑" panose="020B0503020204020204" pitchFamily="34" charset="-122"/>
              <a:ea typeface="微软雅黑" panose="020B0503020204020204" pitchFamily="34"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p="http://schemas.openxmlformats.org/presentationml/2006/main">
  <p:tag name="KSO_WM_DIAGRAM_VIRTUALLY_FRAME" val="{&quot;height&quot;:409.2727559055118,&quot;left&quot;:0,&quot;top&quot;:26.713700787401574,&quot;width&quot;:960}"/>
</p:tagLst>
</file>

<file path=ppt/tags/tag2.xml><?xml version="1.0" encoding="utf-8"?>
<p:tagLst xmlns:p="http://schemas.openxmlformats.org/presentationml/2006/main">
  <p:tag name="KSO_WM_DIAGRAM_VIRTUALLY_FRAME" val="{&quot;height&quot;:409.2727559055118,&quot;left&quot;:0,&quot;top&quot;:26.713700787401574,&quot;width&quot;:960}"/>
</p:tagLst>
</file>

<file path=ppt/tags/tag3.xml><?xml version="1.0" encoding="utf-8"?>
<p:tagLst xmlns:p="http://schemas.openxmlformats.org/presentationml/2006/main">
  <p:tag name="KSO_WM_DIAGRAM_VIRTUALLY_FRAME" val="{&quot;height&quot;:409.2727559055118,&quot;left&quot;:0,&quot;top&quot;:26.713700787401574,&quot;width&quot;:960}"/>
</p:tagLst>
</file>

<file path=ppt/tags/tag4.xml><?xml version="1.0" encoding="utf-8"?>
<p:tagLst xmlns:p="http://schemas.openxmlformats.org/presentationml/2006/main">
  <p:tag name="KSO_WM_DIAGRAM_VIRTUALLY_FRAME" val="{&quot;height&quot;:409.2727559055118,&quot;left&quot;:0,&quot;top&quot;:26.713700787401574,&quot;width&quot;:960}"/>
</p:tagLst>
</file>

<file path=ppt/tags/tag5.xml><?xml version="1.0" encoding="utf-8"?>
<p:tagLst xmlns:p="http://schemas.openxmlformats.org/presentationml/2006/main">
  <p:tag name="KSO_WM_DIAGRAM_VIRTUALLY_FRAME" val="{&quot;height&quot;:409.2727559055118,&quot;left&quot;:0,&quot;top&quot;:26.713700787401574,&quot;width&quot;:960}"/>
</p:tagLst>
</file>

<file path=ppt/tags/tag6.xml><?xml version="1.0" encoding="utf-8"?>
<p:tagLst xmlns:p="http://schemas.openxmlformats.org/presentationml/2006/main">
  <p:tag name="KSO_WM_DIAGRAM_VIRTUALLY_FRAME" val="{&quot;height&quot;:409.2727559055118,&quot;left&quot;:0,&quot;top&quot;:26.713700787401574,&quot;width&quot;:960}"/>
</p:tagLst>
</file>

<file path=ppt/tags/tag7.xml><?xml version="1.0" encoding="utf-8"?>
<p:tagLst xmlns:p="http://schemas.openxmlformats.org/presentationml/2006/main">
  <p:tag name="KSO_WM_DIAGRAM_VIRTUALLY_FRAME" val="{&quot;height&quot;:409.2727559055118,&quot;left&quot;:0,&quot;top&quot;:26.713700787401574,&quot;width&quot;:960}"/>
</p:tagLst>
</file>

<file path=ppt/tags/tag8.xml><?xml version="1.0" encoding="utf-8"?>
<p:tagLst xmlns:p="http://schemas.openxmlformats.org/presentationml/2006/main">
  <p:tag name="KSO_WM_DIAGRAM_VIRTUALLY_FRAME" val="{&quot;height&quot;:409.2727559055118,&quot;left&quot;:0,&quot;top&quot;:26.713700787401574,&quot;width&quot;:960}"/>
</p:tagLst>
</file>

<file path=ppt/tags/tag9.xml><?xml version="1.0" encoding="utf-8"?>
<p:tagLst xmlns:p="http://schemas.openxmlformats.org/presentationml/2006/main">
  <p:tag name="KSO_WM_DIAGRAM_VIRTUALLY_FRAME" val="{&quot;height&quot;:409.2727559055118,&quot;left&quot;:0,&quot;top&quot;:26.713700787401574,&quot;width&quot;:960}"/>
</p:tagLst>
</file>

<file path=ppt/tags/tag10.xml><?xml version="1.0" encoding="utf-8"?>
<p:tagLst xmlns:p="http://schemas.openxmlformats.org/presentationml/2006/main">
  <p:tag name="KSO_WM_DIAGRAM_VIRTUALLY_FRAME" val="{&quot;height&quot;:409.2727559055118,&quot;left&quot;:0,&quot;top&quot;:26.713700787401574,&quot;width&quot;:96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accent1">
            <a:lumMod val="20000"/>
            <a:lumOff val="80000"/>
          </a:schemeClr>
        </a:solidFill>
      </a:spPr>
      <a:bodyPr wrap="square" rtlCol="0">
        <a:spAutoFit/>
      </a:bodyPr>
      <a:lstStyle>
        <a:defPPr indent="457200" algn="l">
          <a:lnSpc>
            <a:spcPct val="150000"/>
          </a:lnSpc>
          <a:defRPr sz="240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accent1">
            <a:lumMod val="20000"/>
            <a:lumOff val="80000"/>
          </a:schemeClr>
        </a:solidFill>
      </a:spPr>
      <a:bodyPr wrap="square" rtlCol="0">
        <a:spAutoFit/>
      </a:bodyPr>
      <a:lstStyle>
        <a:defPPr indent="457200" algn="l">
          <a:lnSpc>
            <a:spcPct val="150000"/>
          </a:lnSpc>
          <a:defRPr sz="240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1454</Words>
  <Application>WPS 演示</Application>
  <PresentationFormat>宽屏</PresentationFormat>
  <Paragraphs>93</Paragraphs>
  <Slides>10</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10</vt:i4>
      </vt:variant>
    </vt:vector>
  </HeadingPairs>
  <TitlesOfParts>
    <vt:vector size="27" baseType="lpstr">
      <vt:lpstr>Arial</vt:lpstr>
      <vt:lpstr>宋体</vt:lpstr>
      <vt:lpstr>Wingdings</vt:lpstr>
      <vt:lpstr>微软雅黑</vt:lpstr>
      <vt:lpstr>Calibri</vt:lpstr>
      <vt:lpstr>方正准圆简体</vt:lpstr>
      <vt:lpstr>方正宋刻本秀楷简体</vt:lpstr>
      <vt:lpstr>等线</vt:lpstr>
      <vt:lpstr>Arial Unicode MS</vt:lpstr>
      <vt:lpstr>等线 Light</vt:lpstr>
      <vt:lpstr>方正准圆简体</vt:lpstr>
      <vt:lpstr>方正宋刻本秀楷简体</vt:lpstr>
      <vt:lpstr>Segoe Print</vt:lpstr>
      <vt:lpstr>方正准圆_GBK</vt:lpstr>
      <vt:lpstr>方正宋刻本秀楷_GBK</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申 珊靛</dc:creator>
  <cp:lastModifiedBy>津AA7988</cp:lastModifiedBy>
  <cp:revision>378</cp:revision>
  <dcterms:created xsi:type="dcterms:W3CDTF">2021-03-12T12:02:00Z</dcterms:created>
  <dcterms:modified xsi:type="dcterms:W3CDTF">2026-03-18T10:44:37Z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E65FA6F0286F45C9B2FC8DE7E2D9D5E4_12</vt:lpwstr>
  </property>
</Properties>
</file>