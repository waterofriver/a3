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9" r:id="rId5"/>
    <p:sldId id="260" r:id="rId6"/>
    <p:sldId id="264" r:id="rId7"/>
    <p:sldId id="265" r:id="rId8"/>
    <p:sldId id="266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cnblogs.com/Hydraxx/p/10471454.html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547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2500267" y="2546624"/>
            <a:ext cx="7191467" cy="1014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实验七 </a:t>
            </a:r>
            <a:r>
              <a:rPr lang="en-US" altLang="zh-CN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Dos</a:t>
            </a:r>
            <a:r>
              <a:rPr lang="zh-CN" altLang="en-US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攻击</a:t>
            </a:r>
            <a:endParaRPr lang="zh-CN" altLang="en-US" sz="6000" b="1">
              <a:solidFill>
                <a:schemeClr val="accent1"/>
              </a:solidFill>
              <a:latin typeface="+mn-ea"/>
              <a:ea typeface="+mn-ea"/>
              <a:sym typeface="Calibri" panose="020F05020202040302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018345" y="453127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2021.03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6762516" y="4531016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内容：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ROS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进阶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charset="0"/>
            </a:endParaRPr>
          </a:p>
        </p:txBody>
      </p:sp>
      <p:grpSp>
        <p:nvGrpSpPr>
          <p:cNvPr id="14" name="Group 59"/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/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/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/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/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/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/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/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/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971" y="1397210"/>
            <a:ext cx="3336043" cy="112776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2021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  <a:endParaRPr lang="zh-CN" altLang="en-US" sz="2000" spc="300">
              <a:solidFill>
                <a:srgbClr val="345780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pic>
        <p:nvPicPr>
          <p:cNvPr id="2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022" y="1415800"/>
            <a:ext cx="3604032" cy="1013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概述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63880" y="2600960"/>
            <a:ext cx="4060190" cy="27076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原理：DoS攻击可以使攻击对象的资源被耗尽，让目标计算机或网络无法提供正常的服务或资源访问。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5581015" y="1973580"/>
            <a:ext cx="1029970" cy="34302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92040" y="3087370"/>
            <a:ext cx="102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021830" y="1757680"/>
            <a:ext cx="24149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latin typeface="Times New Roman" panose="02020603050405020304" charset="0"/>
                <a:ea typeface="宋体" panose="02010600030101010101" pitchFamily="2" charset="-122"/>
              </a:rPr>
              <a:t>syn flood</a:t>
            </a:r>
            <a:r>
              <a:rPr lang="zh-CN" sz="2400" b="0">
                <a:ea typeface="宋体" panose="02010600030101010101" pitchFamily="2" charset="-122"/>
              </a:rPr>
              <a:t>攻击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7063740" y="3489325"/>
            <a:ext cx="17399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</a:rPr>
              <a:t>Smurf攻击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21830" y="5216525"/>
            <a:ext cx="2059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</a:rPr>
              <a:t>DNS</a:t>
            </a:r>
            <a:r>
              <a:rPr lang="zh-CN" sz="2000" b="0">
                <a:ea typeface="宋体" panose="02010600030101010101" pitchFamily="2" charset="-122"/>
              </a:rPr>
              <a:t>放大攻击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概述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04875" y="2292985"/>
            <a:ext cx="9059545" cy="4092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DoS攻击可分为两种，一是利用网络协议的漏洞，二是利用暴力式的资源消耗。本质都是耗尽带宽资源，使网络拒绝服务。两种方式可以在同一个攻击过程中体现。利用网络协议的漏洞的，一般是寻找一个数据量较大的回应过程，不停请求，并把回应包的目的地改成被攻击的目标。于是，攻击者能以相对较小的代价阻塞被攻击者的网络服务。本章讲述利用网络协议漏洞和暴力式的DoS攻击，利用kali中的hping</a:t>
            </a:r>
            <a:r>
              <a:rPr lang="en-US" sz="2000" b="0">
                <a:latin typeface="Noto Sans CJK SC Regular" charset="0"/>
              </a:rPr>
              <a:t>3</a:t>
            </a:r>
            <a:r>
              <a:rPr lang="zh-CN" sz="2000" b="0">
                <a:cs typeface="Noto Sans CJK SC Regular" charset="0"/>
              </a:rPr>
              <a:t>工具实现。hping 是面向命令行的用于生成和解析TCP/IP协议数据包汇编/分析的开源工具。作者是Salvatore Sanfilippo，界面灵感来自ping（8）unix命令，目前最新版是 hping3，它支持TCP，UDP，ICMP和RAW-IP协议，具有跟踪路由模式，能够在覆盖的信道之间发送文件以及许多其他功能，支持使用tcl脚本自动化地调用其API。hping是安全审计、防火墙测试等工作的标配工具。hping 优势在于能够定制数据包的各个部分，因此用户可以灵活对目标机进行细致地探测</a:t>
            </a:r>
            <a:r>
              <a:rPr lang="zh-CN" sz="1200" b="0">
                <a:cs typeface="Noto Sans CJK SC Regular" charset="0"/>
              </a:rPr>
              <a:t>。</a:t>
            </a:r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85495" y="2169795"/>
            <a:ext cx="9438005" cy="444373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28395" y="1585595"/>
            <a:ext cx="2256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Dos</a:t>
            </a:r>
            <a:r>
              <a:rPr lang="zh-CN" altLang="en-US"/>
              <a:t>攻击介绍</a:t>
            </a:r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107440" y="2005965"/>
            <a:ext cx="1807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扫描主机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6710" y="2780348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用nmap扫描靶机，查看靶机打开了哪些端口，操作系统是什么操作系统。</a:t>
            </a:r>
            <a:r>
              <a:rPr lang="en-US" sz="2000" b="0">
                <a:solidFill>
                  <a:srgbClr val="3399FF"/>
                </a:solidFill>
                <a:latin typeface="Bitstream Vera Sans Mono" charset="0"/>
                <a:ea typeface="宋体" panose="02010600030101010101" pitchFamily="2" charset="-122"/>
              </a:rPr>
              <a:t>$ 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sudo nmap -sS -sU -T4 </a:t>
            </a:r>
            <a:r>
              <a:rPr lang="zh-CN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目标主机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70880" y="2207895"/>
            <a:ext cx="5080000" cy="25533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常用参数：</a:t>
            </a:r>
            <a:r>
              <a:rPr lang="en-US" sz="2000" b="0">
                <a:latin typeface="Noto Sans CJK SC Regular" charset="0"/>
              </a:rPr>
              <a:t>-sS</a:t>
            </a:r>
            <a:r>
              <a:rPr lang="zh-CN" sz="2000" b="0">
                <a:cs typeface="Noto Sans CJK SC Regular" charset="0"/>
              </a:rPr>
              <a:t>是用</a:t>
            </a:r>
            <a:r>
              <a:rPr lang="en-US" sz="2000" b="0">
                <a:latin typeface="Noto Sans CJK SC Regular" charset="0"/>
              </a:rPr>
              <a:t>tcp syn </a:t>
            </a:r>
            <a:r>
              <a:rPr lang="zh-CN" sz="2000" b="0">
                <a:cs typeface="Noto Sans CJK SC Regular" charset="0"/>
              </a:rPr>
              <a:t>连接方式进行</a:t>
            </a:r>
            <a:r>
              <a:rPr lang="en-US" sz="2000" b="0">
                <a:latin typeface="Noto Sans CJK SC Regular" charset="0"/>
              </a:rPr>
              <a:t>tcp</a:t>
            </a:r>
            <a:r>
              <a:rPr lang="zh-CN" sz="2000" b="0">
                <a:cs typeface="Noto Sans CJK SC Regular" charset="0"/>
              </a:rPr>
              <a:t>端口扫描</a:t>
            </a:r>
            <a:r>
              <a:rPr lang="en-US" sz="2000" b="0">
                <a:latin typeface="Noto Sans CJK SC Regular" charset="0"/>
              </a:rPr>
              <a:t>-sU</a:t>
            </a:r>
            <a:r>
              <a:rPr lang="zh-CN" sz="2000" b="0">
                <a:cs typeface="Noto Sans CJK SC Regular" charset="0"/>
              </a:rPr>
              <a:t>扫描</a:t>
            </a:r>
            <a:r>
              <a:rPr lang="en-US" sz="2000" b="0">
                <a:latin typeface="Noto Sans CJK SC Regular" charset="0"/>
              </a:rPr>
              <a:t>udp</a:t>
            </a:r>
            <a:r>
              <a:rPr lang="zh-CN" sz="2000" b="0">
                <a:cs typeface="Noto Sans CJK SC Regular" charset="0"/>
              </a:rPr>
              <a:t>端口</a:t>
            </a:r>
            <a:r>
              <a:rPr lang="en-US" sz="2000" b="0">
                <a:latin typeface="Noto Sans CJK SC Regular" charset="0"/>
              </a:rPr>
              <a:t>-T4</a:t>
            </a:r>
            <a:r>
              <a:rPr lang="zh-CN" sz="2000" b="0">
                <a:cs typeface="Noto Sans CJK SC Regular" charset="0"/>
              </a:rPr>
              <a:t>扫描等待的时间为</a:t>
            </a:r>
            <a:r>
              <a:rPr lang="en-US" sz="2000" b="0">
                <a:latin typeface="Noto Sans CJK SC Regular" charset="0"/>
              </a:rPr>
              <a:t>4ms-O</a:t>
            </a:r>
            <a:r>
              <a:rPr lang="zh-CN" sz="2000" b="0">
                <a:cs typeface="Noto Sans CJK SC Regular" charset="0"/>
              </a:rPr>
              <a:t>扫描操作系统</a:t>
            </a:r>
            <a:r>
              <a:rPr lang="en-US" sz="2000" b="0">
                <a:latin typeface="Noto Sans CJK SC Regular" charset="0"/>
              </a:rPr>
              <a:t>nmap</a:t>
            </a:r>
            <a:r>
              <a:rPr lang="zh-CN" sz="2000" b="0">
                <a:cs typeface="Noto Sans CJK SC Regular" charset="0"/>
              </a:rPr>
              <a:t>更多的使用方法可以</a:t>
            </a:r>
            <a:r>
              <a:rPr lang="en-US" sz="2000" b="0">
                <a:latin typeface="Noto Sans CJK SC Regular" charset="0"/>
              </a:rPr>
              <a:t>man nmap</a:t>
            </a:r>
            <a:r>
              <a:rPr lang="zh-CN" sz="2000" b="0">
                <a:cs typeface="Noto Sans CJK SC Regular" charset="0"/>
              </a:rPr>
              <a:t>查看帮助。</a:t>
            </a:r>
            <a:endParaRPr lang="zh-CN" altLang="en-US" sz="2000"/>
          </a:p>
        </p:txBody>
      </p:sp>
      <p:sp>
        <p:nvSpPr>
          <p:cNvPr id="9" name="圆角矩形 8"/>
          <p:cNvSpPr/>
          <p:nvPr/>
        </p:nvSpPr>
        <p:spPr>
          <a:xfrm>
            <a:off x="294640" y="2174240"/>
            <a:ext cx="5016500" cy="262064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syn flood攻击</a:t>
            </a:r>
            <a:endParaRPr lang="zh-CN" altLang="en-US" sz="2400"/>
          </a:p>
        </p:txBody>
      </p:sp>
      <p:sp>
        <p:nvSpPr>
          <p:cNvPr id="100" name="文本框 99"/>
          <p:cNvSpPr txBox="1"/>
          <p:nvPr/>
        </p:nvSpPr>
        <p:spPr>
          <a:xfrm>
            <a:off x="824230" y="2133600"/>
            <a:ext cx="997712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通过利用TCP连接的握手过程，SYN Flood攻击工作。在正常情况下，TCP连接显示三个不同的进程以进行连接。1.首先，客户端向服务器发送SYN数据包，以便启动连接。2.服务器响应该初始包与SYN / ACK包，以确认通信。3.最后，客户端返回ACK数据包以确认从服务器接收到的数据包。完成这个数据包发送和接收序列后，TCP连接打开并能发送和接收数据。为了创建拒绝服务，攻击者利用这样的漏洞，即在接收到初始SYN数据包之后，服务器将用一个或多个SYN / ACK数据包进行响应，并等待握手中的最后一步。这是它的工作原理：攻击者向目标服务器发送大量SYN数据包，通常会使用欺骗性的IP地址。然后，</a:t>
            </a:r>
            <a:r>
              <a:rPr lang="zh-CN" sz="2000" b="1">
                <a:cs typeface="Noto Sans CJK SC Regular" charset="0"/>
              </a:rPr>
              <a:t>服务器响应每个连接请求</a:t>
            </a:r>
            <a:r>
              <a:rPr lang="zh-CN" sz="2000" b="0">
                <a:cs typeface="Noto Sans CJK SC Regular" charset="0"/>
              </a:rPr>
              <a:t>，并留下开放端口准备好接收响应。当服务器等待从未到达的最终ACK数据包时，攻击者继续发送更多的SYN数据包。每个新的SYN数据包的到达导致服务器暂时维持新的开放端口连接一段时间，</a:t>
            </a:r>
            <a:r>
              <a:rPr lang="zh-CN" sz="2000" b="1">
                <a:cs typeface="Noto Sans CJK SC Regular" charset="0"/>
              </a:rPr>
              <a:t>一旦所有可用端口被使用，服务器就无法正常工作</a:t>
            </a:r>
            <a:r>
              <a:rPr lang="zh-CN" sz="2000" b="0">
                <a:cs typeface="Noto Sans CJK SC Regular" charset="0"/>
              </a:rPr>
              <a:t>。</a:t>
            </a:r>
            <a:endParaRPr lang="zh-CN" altLang="en-US" sz="2000"/>
          </a:p>
        </p:txBody>
      </p:sp>
      <p:cxnSp>
        <p:nvCxnSpPr>
          <p:cNvPr id="2" name="直接连接符 1"/>
          <p:cNvCxnSpPr/>
          <p:nvPr/>
        </p:nvCxnSpPr>
        <p:spPr>
          <a:xfrm>
            <a:off x="967105" y="1985010"/>
            <a:ext cx="2740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60120" y="1501775"/>
            <a:ext cx="229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syn flood攻击</a:t>
            </a:r>
            <a:endParaRPr lang="zh-CN" altLang="en-US" sz="2400"/>
          </a:p>
        </p:txBody>
      </p:sp>
      <p:sp>
        <p:nvSpPr>
          <p:cNvPr id="100" name="文本框 99"/>
          <p:cNvSpPr txBox="1"/>
          <p:nvPr/>
        </p:nvSpPr>
        <p:spPr>
          <a:xfrm>
            <a:off x="1657350" y="1509395"/>
            <a:ext cx="693610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1200" b="0">
                <a:latin typeface="Times New Roman" panose="02020603050405020304" charset="0"/>
                <a:cs typeface="Times New Roman" panose="02020603050405020304" charset="0"/>
              </a:rPr>
              <a:t>用</a:t>
            </a:r>
            <a:r>
              <a:rPr lang="en-US" sz="1200" b="0">
                <a:latin typeface="Times New Roman" panose="02020603050405020304" charset="0"/>
                <a:cs typeface="Times New Roman" panose="02020603050405020304" charset="0"/>
              </a:rPr>
              <a:t>hping3</a:t>
            </a:r>
            <a:r>
              <a:rPr lang="zh-CN" sz="1200" b="0">
                <a:latin typeface="Times New Roman" panose="02020603050405020304" charset="0"/>
                <a:cs typeface="Times New Roman" panose="02020603050405020304" charset="0"/>
              </a:rPr>
              <a:t>向靶机的</a:t>
            </a:r>
            <a:r>
              <a:rPr lang="en-US" sz="1200" b="0">
                <a:latin typeface="Times New Roman" panose="02020603050405020304" charset="0"/>
                <a:cs typeface="Times New Roman" panose="02020603050405020304" charset="0"/>
              </a:rPr>
              <a:t>tcp 80</a:t>
            </a:r>
            <a:r>
              <a:rPr lang="zh-CN" sz="1200" b="0">
                <a:latin typeface="Times New Roman" panose="02020603050405020304" charset="0"/>
                <a:cs typeface="Times New Roman" panose="02020603050405020304" charset="0"/>
              </a:rPr>
              <a:t>号端口发动</a:t>
            </a:r>
            <a:r>
              <a:rPr lang="en-US" sz="1200" b="0">
                <a:latin typeface="Times New Roman" panose="02020603050405020304" charset="0"/>
                <a:cs typeface="Times New Roman" panose="02020603050405020304" charset="0"/>
              </a:rPr>
              <a:t>syn-flooding</a:t>
            </a:r>
            <a:r>
              <a:rPr lang="zh-CN" sz="1200" b="0">
                <a:latin typeface="Times New Roman" panose="02020603050405020304" charset="0"/>
                <a:cs typeface="Times New Roman" panose="02020603050405020304" charset="0"/>
              </a:rPr>
              <a:t>攻击，可以尝试不伪造源地址和伪造源地址两种方式。</a:t>
            </a:r>
            <a:r>
              <a:rPr lang="en-US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sudo hping3 -n -S -d 100 -p 80 --flood --rand-source 192.168.1.118</a:t>
            </a:r>
            <a:r>
              <a:rPr lang="en-US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#100</a:t>
            </a:r>
            <a:r>
              <a:rPr lang="zh-CN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是数据大小，</a:t>
            </a:r>
            <a:r>
              <a:rPr lang="en-US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80</a:t>
            </a:r>
            <a:r>
              <a:rPr lang="zh-CN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是端口号。</a:t>
            </a:r>
            <a:r>
              <a:rPr lang="en-US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192.168.1.118</a:t>
            </a:r>
            <a:r>
              <a:rPr lang="zh-CN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是被攻击机。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2575" y="3227070"/>
            <a:ext cx="7320915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altLang="en-US" sz="1600" b="0">
                <a:latin typeface="Times New Roman" panose="02020603050405020304" charset="0"/>
                <a:cs typeface="Times New Roman" panose="02020603050405020304" charset="0"/>
              </a:rPr>
              <a:t>说明：</a:t>
            </a:r>
            <a:endParaRPr lang="en-US" sz="16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304800"/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-n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：数字化输出，象征性输出主机地址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-S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：设置tcpp的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SYN 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标志，表示建立tcp连接请求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-d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data size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数据大小，默认为0，如果做syn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-flood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攻击，可以不用带数据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-p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destport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目标端口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--flood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：尽最快发送数据包，不显示回复。flood攻击。</a:t>
            </a:r>
            <a:r>
              <a:rPr lang="en-US" sz="1600" b="0">
                <a:latin typeface="Times New Roman" panose="02020603050405020304" charset="0"/>
                <a:cs typeface="Times New Roman" panose="02020603050405020304" charset="0"/>
              </a:rPr>
              <a:t>--rand-source</a:t>
            </a:r>
            <a:r>
              <a:rPr lang="zh-CN" sz="1600" b="0">
                <a:latin typeface="Times New Roman" panose="02020603050405020304" charset="0"/>
                <a:cs typeface="Times New Roman" panose="02020603050405020304" charset="0"/>
              </a:rPr>
              <a:t>：进行源地址欺骗，地址为随机地址-c：发送的报文数-w：设置TCP报文的窗口字段-a：伪造的源ip地址</a:t>
            </a:r>
            <a:r>
              <a:rPr lang="zh-CN" sz="1600" b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更多使用方法可以阅读：</a:t>
            </a:r>
            <a:r>
              <a:rPr lang="en-US" sz="1600" b="0" u="sng">
                <a:solidFill>
                  <a:srgbClr val="0000CC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hlinkClick r:id="rId1"/>
              </a:rPr>
              <a:t>https://www.cnblogs.com/Hydraxx/p/10471454.html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syn flood攻击</a:t>
            </a:r>
            <a:endParaRPr lang="zh-CN" altLang="en-US" sz="2400"/>
          </a:p>
        </p:txBody>
      </p:sp>
      <p:pic>
        <p:nvPicPr>
          <p:cNvPr id="3" name="图片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410" y="3006725"/>
            <a:ext cx="6120130" cy="3158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90" y="2355850"/>
            <a:ext cx="5391150" cy="4165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4675" y="1746885"/>
            <a:ext cx="302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攻击效果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 Smurf攻击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16075" y="1477010"/>
            <a:ext cx="805815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Smurf攻击是一种病毒攻击，以最初发动这种攻击的程序“Smurf”来命名。这种攻击方法结合使用了</a:t>
            </a:r>
            <a:r>
              <a:rPr lang="zh-CN" sz="2000" b="1">
                <a:cs typeface="Noto Sans CJK SC Regular" charset="0"/>
              </a:rPr>
              <a:t>IP欺骗</a:t>
            </a:r>
            <a:r>
              <a:rPr lang="zh-CN" sz="2000" b="0">
                <a:cs typeface="Noto Sans CJK SC Regular" charset="0"/>
              </a:rPr>
              <a:t>和</a:t>
            </a:r>
            <a:r>
              <a:rPr lang="zh-CN" sz="2000" b="1">
                <a:cs typeface="Noto Sans CJK SC Regular" charset="0"/>
              </a:rPr>
              <a:t>ICMP回复方法</a:t>
            </a:r>
            <a:r>
              <a:rPr lang="zh-CN" sz="2000" b="0">
                <a:cs typeface="Noto Sans CJK SC Regular" charset="0"/>
              </a:rPr>
              <a:t>使大量网络传输充斥目标系统，引起目标系统拒绝为正常系统进行服务。这种攻击已经很少见,大多数的网络已经对这种攻击免疫了。因此可以构造类似的攻击过程，但是无法观测到攻击现象。</a:t>
            </a:r>
            <a:r>
              <a:rPr lang="zh-CN" altLang="en-US" sz="2000"/>
              <a:t>源码见</a:t>
            </a:r>
            <a:r>
              <a:rPr lang="en-US" altLang="zh-CN" sz="2000"/>
              <a:t>doc</a:t>
            </a:r>
            <a:endParaRPr lang="en-US" altLang="zh-CN" sz="2000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4229735"/>
            <a:ext cx="4902835" cy="1052195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760" y="3938588"/>
            <a:ext cx="6120130" cy="163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DNS放大攻击</a:t>
            </a:r>
            <a:endParaRPr lang="zh-CN" altLang="en-US" sz="2400"/>
          </a:p>
        </p:txBody>
      </p:sp>
      <p:sp>
        <p:nvSpPr>
          <p:cNvPr id="100" name="文本框 99"/>
          <p:cNvSpPr txBox="1"/>
          <p:nvPr/>
        </p:nvSpPr>
        <p:spPr>
          <a:xfrm>
            <a:off x="781050" y="1332230"/>
            <a:ext cx="989330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000" b="0">
                <a:cs typeface="Noto Sans CJK SC Regular" charset="0"/>
              </a:rPr>
              <a:t>DNS放大攻击 (DNS amplification attacks)是目前互联网常见的一种网络攻击手段，主要是利用了DNS应答包比请求包大的特点，攻击者利用僵尸网络中大量的被控主机，伪装成被攻击主机，在特定时间点连续向多个允许递归查询的dns服务器发送大量dns服务请求，迫使其提供应答服务，经dns服务器放大后的大量应答数据发送到被攻击主机，形成攻击流量，导致其无法提供正常服务甚至瘫痪。 与老式的“smurf attacks”攻击非常相似。这个攻击需要一些技巧，主要是找到可递归查询的DNS服务器，以及找到回应的报文长度大的域名。获得一份可递归查询的DNS服务器：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229360" y="4441190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44145" indent="-144145"/>
            <a:r>
              <a:rPr lang="en-US" sz="20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$ 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使用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nmap</a:t>
            </a:r>
            <a:r>
              <a:rPr lang="zh-CN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确定一台服务器是否支持递归查询</a:t>
            </a:r>
            <a:r>
              <a:rPr lang="en-US" sz="20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nmap -sU -p53 --script=dns-recursion 223.5.5.5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DNS放大攻击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2632075"/>
            <a:ext cx="4572000" cy="1593850"/>
          </a:xfrm>
          <a:prstGeom prst="rect">
            <a:avLst/>
          </a:prstGeom>
        </p:spPr>
      </p:pic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820" y="2579370"/>
            <a:ext cx="6120130" cy="1699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5195" y="1648460"/>
            <a:ext cx="270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源码：见</a:t>
            </a:r>
            <a:r>
              <a:rPr lang="en-US" altLang="zh-CN"/>
              <a:t>doc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43940" y="4598670"/>
            <a:ext cx="262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嗅探结果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22870" y="4542790"/>
            <a:ext cx="1661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攻击结果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4974,&quot;width&quot;:9638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演示</Application>
  <PresentationFormat>宽屏</PresentationFormat>
  <Paragraphs>118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方正准圆简体</vt:lpstr>
      <vt:lpstr>方正宋刻本秀楷简体</vt:lpstr>
      <vt:lpstr>Times New Roman</vt:lpstr>
      <vt:lpstr>Noto Sans CJK SC Regular</vt:lpstr>
      <vt:lpstr>Segoe Print</vt:lpstr>
      <vt:lpstr>Bitstream Vera Sans Mono</vt:lpstr>
      <vt:lpstr>Consolas</vt:lpstr>
      <vt:lpstr>方正姚体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cosφ√</cp:lastModifiedBy>
  <cp:revision>174</cp:revision>
  <dcterms:created xsi:type="dcterms:W3CDTF">2019-06-19T02:08:00Z</dcterms:created>
  <dcterms:modified xsi:type="dcterms:W3CDTF">2022-03-15T09:01:46Z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6D2A99C0154E4DA0A0605BB1C2ECBF0A</vt:lpwstr>
  </property>
</Properties>
</file>