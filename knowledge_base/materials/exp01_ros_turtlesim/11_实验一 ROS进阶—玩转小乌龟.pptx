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9" r:id="rId4"/>
    <p:sldId id="277" r:id="rId5"/>
    <p:sldId id="278" r:id="rId6"/>
    <p:sldId id="260" r:id="rId7"/>
    <p:sldId id="279" r:id="rId8"/>
    <p:sldId id="261" r:id="rId9"/>
    <p:sldId id="263" r:id="rId10"/>
    <p:sldId id="262" r:id="rId11"/>
    <p:sldId id="265" r:id="rId12"/>
    <p:sldId id="266" r:id="rId13"/>
    <p:sldId id="268" r:id="rId14"/>
    <p:sldId id="269" r:id="rId15"/>
    <p:sldId id="270" r:id="rId16"/>
    <p:sldId id="273" r:id="rId17"/>
    <p:sldId id="271" r:id="rId18"/>
    <p:sldId id="274" r:id="rId19"/>
    <p:sldId id="272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96" d="100"/>
          <a:sy n="96" d="100"/>
        </p:scale>
        <p:origin x="3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492B1-0C5A-4196-BD5A-E25E482A5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178BF0-0FB2-4157-94C8-60D23AE41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EC93F-B58D-4BAC-A643-9C65EE0A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30BD-EEEA-42AA-81A1-6BB0BE51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0CAB7-73A5-4C61-AFE5-E970E7E6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59A43-4A1F-4410-9B4D-3925D2F7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D32DFF-9387-4964-8523-216A65401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45149-9F4B-414E-A5A5-1BC20FD4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F9E98-605C-46A3-A2B0-DE11B019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20530-1173-46A9-B561-ABC53E04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90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AC33F-BC76-4F76-B18F-1F3ABABE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44EF2A-4F7E-41E3-8B53-23EA70337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9B4D17-2136-49F6-A86F-B3F890DA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77ADF9-6B16-4A91-984C-EAF74F30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CCE8A-56F3-4D85-B313-C156ACDD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140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E6CB2-0804-4E4F-BD32-414A4167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08AB1-545C-4CF5-8723-A62DE4BE5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D0195D-BE80-4E0A-AC0F-7900C5D92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E6A1DE-DAA3-4F0A-B858-DA7A5AFD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543A-6D2B-49AF-962F-AC42DF27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27804E-B37F-48DC-9CE6-1B7E8B29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97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B7A21-43EE-42C1-8A5D-F9D82CFC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D43ADA-D3FE-4728-BB57-5EFE47B68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141D56-9192-4359-B128-CF347250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C5CA01-9162-4DA5-B71C-E30B4C952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CE2240-4C37-494C-8DEF-0BE2F8893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4BF995-C68C-4154-A992-D7629699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D03D2D-FF72-4FF0-B5C8-ECF1064B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FBCA7C-644A-4373-AB14-5D22E44E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00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61089-0F77-431C-B275-14C0C58C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28DD5C-A5FC-4721-A7E5-A5D34A15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37CA22-806D-4280-B77E-CA2C4F46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A51879-0B46-431F-8C0F-3A38090F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21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8318D0-AAB2-42F9-9E26-56C1CB7C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817007-959B-4116-925A-43817F38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278F3-ACB2-4379-835C-4570EF7C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907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2BBDF-7CFE-4EFF-B704-790CF5F4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A4827-9BBA-4258-BA50-AC33F1F26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004658-627A-461F-B99F-27392E3E7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B33D8-A635-4736-A8FC-0E7FB1EF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34F964-AB89-451A-8895-00B77101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EAF20E-5B35-43C4-91D6-5DFDE3B8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5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B7D62-35B1-486A-BA4A-5BD62D87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B77D51-6E0B-4BDB-AB93-B4C68FACD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2CCFBA-FCB2-4EA4-931C-B0815E5AB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87AEB5-3A92-4059-AC54-3DDE28D7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975F10-5DA9-40FD-B833-1AEE3352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768966-0C69-4938-BD07-608E6904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74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C168C-70CF-489F-AA3C-EAB18682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D8EC20-E3C4-4040-918C-D140F43BE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81EFD-5990-4B49-BEB1-7827F321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DDFDE-08EE-4CC7-A8EA-1D5AE271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507A4D-BB8A-4750-B2A9-1DD61F62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1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3ECB69-D882-4535-B0D7-4E30F131C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C451D9-EE77-4FA7-AA27-96B7A3438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73AA9-B71F-4C03-85CA-A10ACAF6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2BCAF-A674-4F07-830F-51ABF482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3B0B8-9C89-411F-9CE1-B0E7ECE7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73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D0900C-D238-45F2-9A3F-9CC4338D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9D3590-7911-4C76-82B9-2A273AA6F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6424D-17FE-46C6-82EA-9137849D6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253A8-2FA4-4E85-8F40-57D98F8E6A65}" type="datetimeFigureOut">
              <a:rPr lang="zh-CN" altLang="en-US" smtClean="0"/>
              <a:t>2025/3/18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D866D1-D453-4383-9F00-E9035E63D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B7091-FA79-4441-B297-A73323AE3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5D12F-C677-4341-AFA6-F784F7E82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41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26CE274-E65B-461F-877E-B7E7AE14F7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AB6328-93D6-44D0-B018-7AB05C8C86B7}"/>
              </a:ext>
            </a:extLst>
          </p:cNvPr>
          <p:cNvSpPr/>
          <p:nvPr/>
        </p:nvSpPr>
        <p:spPr>
          <a:xfrm>
            <a:off x="3469024" y="0"/>
            <a:ext cx="500791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3457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5F9966-9130-4CAA-9435-AA0B3D681875}"/>
              </a:ext>
            </a:extLst>
          </p:cNvPr>
          <p:cNvSpPr/>
          <p:nvPr/>
        </p:nvSpPr>
        <p:spPr>
          <a:xfrm>
            <a:off x="370702" y="998837"/>
            <a:ext cx="11450595" cy="48603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92F53D2A-DDCD-421F-923B-DCB0E62EE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267" y="2546624"/>
            <a:ext cx="7191467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6000" b="1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  <a:sym typeface="Calibri" panose="020F0502020204030204" pitchFamily="34" charset="0"/>
              </a:rPr>
              <a:t>实验一 玩转小乌龟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B71B30E-AEA7-4AE3-9A6C-EA71AA5F066A}"/>
              </a:ext>
            </a:extLst>
          </p:cNvPr>
          <p:cNvCxnSpPr/>
          <p:nvPr/>
        </p:nvCxnSpPr>
        <p:spPr>
          <a:xfrm>
            <a:off x="5939450" y="4160852"/>
            <a:ext cx="372724" cy="0"/>
          </a:xfrm>
          <a:prstGeom prst="line">
            <a:avLst/>
          </a:prstGeom>
          <a:ln w="19050">
            <a:solidFill>
              <a:srgbClr val="3457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A6DFE96F-CF89-4918-9DF7-23306AB2179A}"/>
              </a:ext>
            </a:extLst>
          </p:cNvPr>
          <p:cNvSpPr/>
          <p:nvPr/>
        </p:nvSpPr>
        <p:spPr>
          <a:xfrm>
            <a:off x="3567367" y="447738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1" name="文本框 10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7CB3D532-35FA-4AC4-9C8B-F288F604F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710" y="4535085"/>
            <a:ext cx="2762533" cy="379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日期：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2021.03</a:t>
            </a:r>
            <a:endParaRPr lang="zh-CN" altLang="en-US" sz="1865">
              <a:solidFill>
                <a:srgbClr val="345780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CA6A941-9377-42C6-BCDF-7B7941D7649F}"/>
              </a:ext>
            </a:extLst>
          </p:cNvPr>
          <p:cNvSpPr/>
          <p:nvPr/>
        </p:nvSpPr>
        <p:spPr>
          <a:xfrm>
            <a:off x="6312174" y="447331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3" name="文本框 12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<a:extLst>
              <a:ext uri="{FF2B5EF4-FFF2-40B4-BE49-F238E27FC236}">
                <a16:creationId xmlns:a16="http://schemas.microsoft.com/office/drawing/2014/main" id="{A1BB899F-0A56-49A2-8835-5351EF5C8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516" y="4531016"/>
            <a:ext cx="2762533" cy="379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内容：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ROS</a:t>
            </a: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进阶</a:t>
            </a:r>
          </a:p>
        </p:txBody>
      </p:sp>
      <p:grpSp>
        <p:nvGrpSpPr>
          <p:cNvPr id="14" name="Group 59">
            <a:extLst>
              <a:ext uri="{FF2B5EF4-FFF2-40B4-BE49-F238E27FC236}">
                <a16:creationId xmlns:a16="http://schemas.microsoft.com/office/drawing/2014/main" id="{06848B52-D03E-43E0-8605-71C66A6DDD5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52872" y="4551022"/>
            <a:ext cx="290891" cy="317537"/>
            <a:chOff x="1066" y="1985"/>
            <a:chExt cx="262" cy="286"/>
          </a:xfrm>
          <a:solidFill>
            <a:schemeClr val="bg1"/>
          </a:solidFill>
        </p:grpSpPr>
        <p:sp>
          <p:nvSpPr>
            <p:cNvPr id="15" name="Freeform 60">
              <a:extLst>
                <a:ext uri="{FF2B5EF4-FFF2-40B4-BE49-F238E27FC236}">
                  <a16:creationId xmlns:a16="http://schemas.microsoft.com/office/drawing/2014/main" id="{65AFB32E-06C3-45D3-9241-D2D91F6B4D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6" y="2005"/>
              <a:ext cx="262" cy="266"/>
            </a:xfrm>
            <a:custGeom>
              <a:avLst/>
              <a:gdLst>
                <a:gd name="T0" fmla="*/ 572 w 642"/>
                <a:gd name="T1" fmla="*/ 655 h 655"/>
                <a:gd name="T2" fmla="*/ 70 w 642"/>
                <a:gd name="T3" fmla="*/ 655 h 655"/>
                <a:gd name="T4" fmla="*/ 19 w 642"/>
                <a:gd name="T5" fmla="*/ 630 h 655"/>
                <a:gd name="T6" fmla="*/ 0 w 642"/>
                <a:gd name="T7" fmla="*/ 575 h 655"/>
                <a:gd name="T8" fmla="*/ 0 w 642"/>
                <a:gd name="T9" fmla="*/ 80 h 655"/>
                <a:gd name="T10" fmla="*/ 19 w 642"/>
                <a:gd name="T11" fmla="*/ 25 h 655"/>
                <a:gd name="T12" fmla="*/ 70 w 642"/>
                <a:gd name="T13" fmla="*/ 0 h 655"/>
                <a:gd name="T14" fmla="*/ 93 w 642"/>
                <a:gd name="T15" fmla="*/ 0 h 655"/>
                <a:gd name="T16" fmla="*/ 111 w 642"/>
                <a:gd name="T17" fmla="*/ 18 h 655"/>
                <a:gd name="T18" fmla="*/ 93 w 642"/>
                <a:gd name="T19" fmla="*/ 36 h 655"/>
                <a:gd name="T20" fmla="*/ 70 w 642"/>
                <a:gd name="T21" fmla="*/ 36 h 655"/>
                <a:gd name="T22" fmla="*/ 47 w 642"/>
                <a:gd name="T23" fmla="*/ 48 h 655"/>
                <a:gd name="T24" fmla="*/ 36 w 642"/>
                <a:gd name="T25" fmla="*/ 80 h 655"/>
                <a:gd name="T26" fmla="*/ 36 w 642"/>
                <a:gd name="T27" fmla="*/ 575 h 655"/>
                <a:gd name="T28" fmla="*/ 47 w 642"/>
                <a:gd name="T29" fmla="*/ 607 h 655"/>
                <a:gd name="T30" fmla="*/ 70 w 642"/>
                <a:gd name="T31" fmla="*/ 619 h 655"/>
                <a:gd name="T32" fmla="*/ 572 w 642"/>
                <a:gd name="T33" fmla="*/ 619 h 655"/>
                <a:gd name="T34" fmla="*/ 595 w 642"/>
                <a:gd name="T35" fmla="*/ 607 h 655"/>
                <a:gd name="T36" fmla="*/ 606 w 642"/>
                <a:gd name="T37" fmla="*/ 575 h 655"/>
                <a:gd name="T38" fmla="*/ 606 w 642"/>
                <a:gd name="T39" fmla="*/ 80 h 655"/>
                <a:gd name="T40" fmla="*/ 595 w 642"/>
                <a:gd name="T41" fmla="*/ 48 h 655"/>
                <a:gd name="T42" fmla="*/ 572 w 642"/>
                <a:gd name="T43" fmla="*/ 36 h 655"/>
                <a:gd name="T44" fmla="*/ 547 w 642"/>
                <a:gd name="T45" fmla="*/ 36 h 655"/>
                <a:gd name="T46" fmla="*/ 529 w 642"/>
                <a:gd name="T47" fmla="*/ 18 h 655"/>
                <a:gd name="T48" fmla="*/ 547 w 642"/>
                <a:gd name="T49" fmla="*/ 0 h 655"/>
                <a:gd name="T50" fmla="*/ 572 w 642"/>
                <a:gd name="T51" fmla="*/ 0 h 655"/>
                <a:gd name="T52" fmla="*/ 622 w 642"/>
                <a:gd name="T53" fmla="*/ 25 h 655"/>
                <a:gd name="T54" fmla="*/ 642 w 642"/>
                <a:gd name="T55" fmla="*/ 80 h 655"/>
                <a:gd name="T56" fmla="*/ 642 w 642"/>
                <a:gd name="T57" fmla="*/ 575 h 655"/>
                <a:gd name="T58" fmla="*/ 622 w 642"/>
                <a:gd name="T59" fmla="*/ 630 h 655"/>
                <a:gd name="T60" fmla="*/ 572 w 642"/>
                <a:gd name="T61" fmla="*/ 655 h 655"/>
                <a:gd name="T62" fmla="*/ 418 w 642"/>
                <a:gd name="T63" fmla="*/ 36 h 655"/>
                <a:gd name="T64" fmla="*/ 224 w 642"/>
                <a:gd name="T65" fmla="*/ 36 h 655"/>
                <a:gd name="T66" fmla="*/ 206 w 642"/>
                <a:gd name="T67" fmla="*/ 18 h 655"/>
                <a:gd name="T68" fmla="*/ 224 w 642"/>
                <a:gd name="T69" fmla="*/ 0 h 655"/>
                <a:gd name="T70" fmla="*/ 418 w 642"/>
                <a:gd name="T71" fmla="*/ 0 h 655"/>
                <a:gd name="T72" fmla="*/ 436 w 642"/>
                <a:gd name="T73" fmla="*/ 18 h 655"/>
                <a:gd name="T74" fmla="*/ 418 w 642"/>
                <a:gd name="T75" fmla="*/ 36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2" h="655">
                  <a:moveTo>
                    <a:pt x="572" y="655"/>
                  </a:moveTo>
                  <a:cubicBezTo>
                    <a:pt x="70" y="655"/>
                    <a:pt x="70" y="655"/>
                    <a:pt x="70" y="655"/>
                  </a:cubicBezTo>
                  <a:cubicBezTo>
                    <a:pt x="51" y="655"/>
                    <a:pt x="33" y="646"/>
                    <a:pt x="19" y="630"/>
                  </a:cubicBezTo>
                  <a:cubicBezTo>
                    <a:pt x="7" y="615"/>
                    <a:pt x="0" y="596"/>
                    <a:pt x="0" y="575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60"/>
                    <a:pt x="7" y="40"/>
                    <a:pt x="19" y="25"/>
                  </a:cubicBezTo>
                  <a:cubicBezTo>
                    <a:pt x="33" y="9"/>
                    <a:pt x="51" y="0"/>
                    <a:pt x="70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03" y="0"/>
                    <a:pt x="111" y="8"/>
                    <a:pt x="111" y="18"/>
                  </a:cubicBezTo>
                  <a:cubicBezTo>
                    <a:pt x="111" y="28"/>
                    <a:pt x="103" y="36"/>
                    <a:pt x="93" y="36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61" y="36"/>
                    <a:pt x="53" y="40"/>
                    <a:pt x="47" y="48"/>
                  </a:cubicBezTo>
                  <a:cubicBezTo>
                    <a:pt x="40" y="56"/>
                    <a:pt x="36" y="68"/>
                    <a:pt x="36" y="80"/>
                  </a:cubicBezTo>
                  <a:cubicBezTo>
                    <a:pt x="36" y="575"/>
                    <a:pt x="36" y="575"/>
                    <a:pt x="36" y="575"/>
                  </a:cubicBezTo>
                  <a:cubicBezTo>
                    <a:pt x="36" y="587"/>
                    <a:pt x="40" y="599"/>
                    <a:pt x="47" y="607"/>
                  </a:cubicBezTo>
                  <a:cubicBezTo>
                    <a:pt x="53" y="615"/>
                    <a:pt x="61" y="619"/>
                    <a:pt x="70" y="619"/>
                  </a:cubicBezTo>
                  <a:cubicBezTo>
                    <a:pt x="572" y="619"/>
                    <a:pt x="572" y="619"/>
                    <a:pt x="572" y="619"/>
                  </a:cubicBezTo>
                  <a:cubicBezTo>
                    <a:pt x="580" y="619"/>
                    <a:pt x="588" y="615"/>
                    <a:pt x="595" y="607"/>
                  </a:cubicBezTo>
                  <a:cubicBezTo>
                    <a:pt x="602" y="599"/>
                    <a:pt x="606" y="587"/>
                    <a:pt x="606" y="575"/>
                  </a:cubicBezTo>
                  <a:cubicBezTo>
                    <a:pt x="606" y="80"/>
                    <a:pt x="606" y="80"/>
                    <a:pt x="606" y="80"/>
                  </a:cubicBezTo>
                  <a:cubicBezTo>
                    <a:pt x="606" y="68"/>
                    <a:pt x="602" y="56"/>
                    <a:pt x="595" y="48"/>
                  </a:cubicBezTo>
                  <a:cubicBezTo>
                    <a:pt x="588" y="40"/>
                    <a:pt x="580" y="36"/>
                    <a:pt x="572" y="36"/>
                  </a:cubicBezTo>
                  <a:cubicBezTo>
                    <a:pt x="547" y="36"/>
                    <a:pt x="547" y="36"/>
                    <a:pt x="547" y="36"/>
                  </a:cubicBezTo>
                  <a:cubicBezTo>
                    <a:pt x="537" y="36"/>
                    <a:pt x="529" y="28"/>
                    <a:pt x="529" y="18"/>
                  </a:cubicBezTo>
                  <a:cubicBezTo>
                    <a:pt x="529" y="8"/>
                    <a:pt x="537" y="0"/>
                    <a:pt x="547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1" y="0"/>
                    <a:pt x="609" y="9"/>
                    <a:pt x="622" y="25"/>
                  </a:cubicBezTo>
                  <a:cubicBezTo>
                    <a:pt x="635" y="40"/>
                    <a:pt x="642" y="60"/>
                    <a:pt x="642" y="80"/>
                  </a:cubicBezTo>
                  <a:cubicBezTo>
                    <a:pt x="642" y="575"/>
                    <a:pt x="642" y="575"/>
                    <a:pt x="642" y="575"/>
                  </a:cubicBezTo>
                  <a:cubicBezTo>
                    <a:pt x="642" y="596"/>
                    <a:pt x="635" y="615"/>
                    <a:pt x="622" y="630"/>
                  </a:cubicBezTo>
                  <a:cubicBezTo>
                    <a:pt x="609" y="646"/>
                    <a:pt x="591" y="655"/>
                    <a:pt x="572" y="655"/>
                  </a:cubicBezTo>
                  <a:close/>
                  <a:moveTo>
                    <a:pt x="418" y="36"/>
                  </a:moveTo>
                  <a:cubicBezTo>
                    <a:pt x="224" y="36"/>
                    <a:pt x="224" y="36"/>
                    <a:pt x="224" y="36"/>
                  </a:cubicBezTo>
                  <a:cubicBezTo>
                    <a:pt x="214" y="36"/>
                    <a:pt x="206" y="28"/>
                    <a:pt x="206" y="18"/>
                  </a:cubicBezTo>
                  <a:cubicBezTo>
                    <a:pt x="206" y="8"/>
                    <a:pt x="214" y="0"/>
                    <a:pt x="224" y="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428" y="0"/>
                    <a:pt x="436" y="8"/>
                    <a:pt x="436" y="18"/>
                  </a:cubicBezTo>
                  <a:cubicBezTo>
                    <a:pt x="436" y="28"/>
                    <a:pt x="428" y="36"/>
                    <a:pt x="4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6" name="Freeform 61">
              <a:extLst>
                <a:ext uri="{FF2B5EF4-FFF2-40B4-BE49-F238E27FC236}">
                  <a16:creationId xmlns:a16="http://schemas.microsoft.com/office/drawing/2014/main" id="{42E249E5-CB8F-49AB-ACAC-32DC1584A0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" y="1985"/>
              <a:ext cx="146" cy="64"/>
            </a:xfrm>
            <a:custGeom>
              <a:avLst/>
              <a:gdLst>
                <a:gd name="T0" fmla="*/ 18 w 357"/>
                <a:gd name="T1" fmla="*/ 0 h 157"/>
                <a:gd name="T2" fmla="*/ 36 w 357"/>
                <a:gd name="T3" fmla="*/ 18 h 157"/>
                <a:gd name="T4" fmla="*/ 36 w 357"/>
                <a:gd name="T5" fmla="*/ 139 h 157"/>
                <a:gd name="T6" fmla="*/ 18 w 357"/>
                <a:gd name="T7" fmla="*/ 157 h 157"/>
                <a:gd name="T8" fmla="*/ 0 w 357"/>
                <a:gd name="T9" fmla="*/ 139 h 157"/>
                <a:gd name="T10" fmla="*/ 0 w 357"/>
                <a:gd name="T11" fmla="*/ 18 h 157"/>
                <a:gd name="T12" fmla="*/ 18 w 357"/>
                <a:gd name="T13" fmla="*/ 0 h 157"/>
                <a:gd name="T14" fmla="*/ 339 w 357"/>
                <a:gd name="T15" fmla="*/ 0 h 157"/>
                <a:gd name="T16" fmla="*/ 357 w 357"/>
                <a:gd name="T17" fmla="*/ 18 h 157"/>
                <a:gd name="T18" fmla="*/ 357 w 357"/>
                <a:gd name="T19" fmla="*/ 139 h 157"/>
                <a:gd name="T20" fmla="*/ 339 w 357"/>
                <a:gd name="T21" fmla="*/ 157 h 157"/>
                <a:gd name="T22" fmla="*/ 321 w 357"/>
                <a:gd name="T23" fmla="*/ 139 h 157"/>
                <a:gd name="T24" fmla="*/ 321 w 357"/>
                <a:gd name="T25" fmla="*/ 18 h 157"/>
                <a:gd name="T26" fmla="*/ 339 w 357"/>
                <a:gd name="T2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7" h="157">
                  <a:moveTo>
                    <a:pt x="18" y="0"/>
                  </a:moveTo>
                  <a:cubicBezTo>
                    <a:pt x="28" y="0"/>
                    <a:pt x="36" y="8"/>
                    <a:pt x="36" y="18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6" y="149"/>
                    <a:pt x="28" y="157"/>
                    <a:pt x="18" y="157"/>
                  </a:cubicBezTo>
                  <a:cubicBezTo>
                    <a:pt x="8" y="157"/>
                    <a:pt x="0" y="149"/>
                    <a:pt x="0" y="1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lose/>
                  <a:moveTo>
                    <a:pt x="339" y="0"/>
                  </a:moveTo>
                  <a:cubicBezTo>
                    <a:pt x="349" y="0"/>
                    <a:pt x="357" y="8"/>
                    <a:pt x="357" y="1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7" y="149"/>
                    <a:pt x="349" y="157"/>
                    <a:pt x="339" y="157"/>
                  </a:cubicBezTo>
                  <a:cubicBezTo>
                    <a:pt x="329" y="157"/>
                    <a:pt x="321" y="149"/>
                    <a:pt x="321" y="139"/>
                  </a:cubicBezTo>
                  <a:cubicBezTo>
                    <a:pt x="321" y="18"/>
                    <a:pt x="321" y="18"/>
                    <a:pt x="321" y="18"/>
                  </a:cubicBezTo>
                  <a:cubicBezTo>
                    <a:pt x="321" y="8"/>
                    <a:pt x="329" y="0"/>
                    <a:pt x="3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7" name="Freeform 62">
              <a:extLst>
                <a:ext uri="{FF2B5EF4-FFF2-40B4-BE49-F238E27FC236}">
                  <a16:creationId xmlns:a16="http://schemas.microsoft.com/office/drawing/2014/main" id="{45829222-856C-4259-9584-C856FD8F1A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4" y="2044"/>
              <a:ext cx="246" cy="183"/>
            </a:xfrm>
            <a:custGeom>
              <a:avLst/>
              <a:gdLst>
                <a:gd name="T0" fmla="*/ 0 w 603"/>
                <a:gd name="T1" fmla="*/ 18 h 450"/>
                <a:gd name="T2" fmla="*/ 18 w 603"/>
                <a:gd name="T3" fmla="*/ 0 h 450"/>
                <a:gd name="T4" fmla="*/ 585 w 603"/>
                <a:gd name="T5" fmla="*/ 0 h 450"/>
                <a:gd name="T6" fmla="*/ 603 w 603"/>
                <a:gd name="T7" fmla="*/ 18 h 450"/>
                <a:gd name="T8" fmla="*/ 585 w 603"/>
                <a:gd name="T9" fmla="*/ 36 h 450"/>
                <a:gd name="T10" fmla="*/ 18 w 603"/>
                <a:gd name="T11" fmla="*/ 36 h 450"/>
                <a:gd name="T12" fmla="*/ 0 w 603"/>
                <a:gd name="T13" fmla="*/ 18 h 450"/>
                <a:gd name="T14" fmla="*/ 306 w 603"/>
                <a:gd name="T15" fmla="*/ 450 h 450"/>
                <a:gd name="T16" fmla="*/ 184 w 603"/>
                <a:gd name="T17" fmla="*/ 400 h 450"/>
                <a:gd name="T18" fmla="*/ 134 w 603"/>
                <a:gd name="T19" fmla="*/ 279 h 450"/>
                <a:gd name="T20" fmla="*/ 184 w 603"/>
                <a:gd name="T21" fmla="*/ 158 h 450"/>
                <a:gd name="T22" fmla="*/ 306 w 603"/>
                <a:gd name="T23" fmla="*/ 107 h 450"/>
                <a:gd name="T24" fmla="*/ 324 w 603"/>
                <a:gd name="T25" fmla="*/ 125 h 450"/>
                <a:gd name="T26" fmla="*/ 306 w 603"/>
                <a:gd name="T27" fmla="*/ 143 h 450"/>
                <a:gd name="T28" fmla="*/ 170 w 603"/>
                <a:gd name="T29" fmla="*/ 279 h 450"/>
                <a:gd name="T30" fmla="*/ 306 w 603"/>
                <a:gd name="T31" fmla="*/ 414 h 450"/>
                <a:gd name="T32" fmla="*/ 441 w 603"/>
                <a:gd name="T33" fmla="*/ 279 h 450"/>
                <a:gd name="T34" fmla="*/ 459 w 603"/>
                <a:gd name="T35" fmla="*/ 261 h 450"/>
                <a:gd name="T36" fmla="*/ 477 w 603"/>
                <a:gd name="T37" fmla="*/ 279 h 450"/>
                <a:gd name="T38" fmla="*/ 427 w 603"/>
                <a:gd name="T39" fmla="*/ 400 h 450"/>
                <a:gd name="T40" fmla="*/ 306 w 603"/>
                <a:gd name="T41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3" h="450">
                  <a:moveTo>
                    <a:pt x="0" y="18"/>
                  </a:moveTo>
                  <a:cubicBezTo>
                    <a:pt x="0" y="8"/>
                    <a:pt x="8" y="0"/>
                    <a:pt x="18" y="0"/>
                  </a:cubicBezTo>
                  <a:cubicBezTo>
                    <a:pt x="585" y="0"/>
                    <a:pt x="585" y="0"/>
                    <a:pt x="585" y="0"/>
                  </a:cubicBezTo>
                  <a:cubicBezTo>
                    <a:pt x="595" y="0"/>
                    <a:pt x="603" y="8"/>
                    <a:pt x="603" y="18"/>
                  </a:cubicBezTo>
                  <a:cubicBezTo>
                    <a:pt x="603" y="28"/>
                    <a:pt x="595" y="36"/>
                    <a:pt x="585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lose/>
                  <a:moveTo>
                    <a:pt x="306" y="450"/>
                  </a:moveTo>
                  <a:cubicBezTo>
                    <a:pt x="260" y="450"/>
                    <a:pt x="217" y="433"/>
                    <a:pt x="184" y="400"/>
                  </a:cubicBezTo>
                  <a:cubicBezTo>
                    <a:pt x="152" y="368"/>
                    <a:pt x="134" y="325"/>
                    <a:pt x="134" y="279"/>
                  </a:cubicBezTo>
                  <a:cubicBezTo>
                    <a:pt x="134" y="233"/>
                    <a:pt x="152" y="190"/>
                    <a:pt x="184" y="158"/>
                  </a:cubicBezTo>
                  <a:cubicBezTo>
                    <a:pt x="217" y="125"/>
                    <a:pt x="260" y="107"/>
                    <a:pt x="306" y="107"/>
                  </a:cubicBezTo>
                  <a:cubicBezTo>
                    <a:pt x="316" y="107"/>
                    <a:pt x="324" y="115"/>
                    <a:pt x="324" y="125"/>
                  </a:cubicBezTo>
                  <a:cubicBezTo>
                    <a:pt x="324" y="135"/>
                    <a:pt x="316" y="143"/>
                    <a:pt x="306" y="143"/>
                  </a:cubicBezTo>
                  <a:cubicBezTo>
                    <a:pt x="231" y="143"/>
                    <a:pt x="170" y="204"/>
                    <a:pt x="170" y="279"/>
                  </a:cubicBezTo>
                  <a:cubicBezTo>
                    <a:pt x="170" y="354"/>
                    <a:pt x="231" y="414"/>
                    <a:pt x="306" y="414"/>
                  </a:cubicBezTo>
                  <a:cubicBezTo>
                    <a:pt x="380" y="414"/>
                    <a:pt x="441" y="354"/>
                    <a:pt x="441" y="279"/>
                  </a:cubicBezTo>
                  <a:cubicBezTo>
                    <a:pt x="441" y="269"/>
                    <a:pt x="449" y="261"/>
                    <a:pt x="459" y="261"/>
                  </a:cubicBezTo>
                  <a:cubicBezTo>
                    <a:pt x="469" y="261"/>
                    <a:pt x="477" y="269"/>
                    <a:pt x="477" y="279"/>
                  </a:cubicBezTo>
                  <a:cubicBezTo>
                    <a:pt x="477" y="325"/>
                    <a:pt x="459" y="368"/>
                    <a:pt x="427" y="400"/>
                  </a:cubicBezTo>
                  <a:cubicBezTo>
                    <a:pt x="395" y="433"/>
                    <a:pt x="351" y="450"/>
                    <a:pt x="30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8" name="Freeform 63">
              <a:extLst>
                <a:ext uri="{FF2B5EF4-FFF2-40B4-BE49-F238E27FC236}">
                  <a16:creationId xmlns:a16="http://schemas.microsoft.com/office/drawing/2014/main" id="{6571DE4D-C05A-45D1-8431-0F042F30CA2C}"/>
                </a:ext>
              </a:extLst>
            </p:cNvPr>
            <p:cNvSpPr/>
            <p:nvPr/>
          </p:nvSpPr>
          <p:spPr bwMode="auto">
            <a:xfrm>
              <a:off x="1193" y="2088"/>
              <a:ext cx="53" cy="72"/>
            </a:xfrm>
            <a:custGeom>
              <a:avLst/>
              <a:gdLst>
                <a:gd name="T0" fmla="*/ 113 w 131"/>
                <a:gd name="T1" fmla="*/ 176 h 176"/>
                <a:gd name="T2" fmla="*/ 18 w 131"/>
                <a:gd name="T3" fmla="*/ 176 h 176"/>
                <a:gd name="T4" fmla="*/ 0 w 131"/>
                <a:gd name="T5" fmla="*/ 158 h 176"/>
                <a:gd name="T6" fmla="*/ 0 w 131"/>
                <a:gd name="T7" fmla="*/ 18 h 176"/>
                <a:gd name="T8" fmla="*/ 18 w 131"/>
                <a:gd name="T9" fmla="*/ 0 h 176"/>
                <a:gd name="T10" fmla="*/ 36 w 131"/>
                <a:gd name="T11" fmla="*/ 18 h 176"/>
                <a:gd name="T12" fmla="*/ 36 w 131"/>
                <a:gd name="T13" fmla="*/ 140 h 176"/>
                <a:gd name="T14" fmla="*/ 113 w 131"/>
                <a:gd name="T15" fmla="*/ 140 h 176"/>
                <a:gd name="T16" fmla="*/ 131 w 131"/>
                <a:gd name="T17" fmla="*/ 158 h 176"/>
                <a:gd name="T18" fmla="*/ 113 w 131"/>
                <a:gd name="T1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1" h="176">
                  <a:moveTo>
                    <a:pt x="113" y="176"/>
                  </a:moveTo>
                  <a:cubicBezTo>
                    <a:pt x="18" y="176"/>
                    <a:pt x="18" y="176"/>
                    <a:pt x="18" y="176"/>
                  </a:cubicBezTo>
                  <a:cubicBezTo>
                    <a:pt x="8" y="176"/>
                    <a:pt x="0" y="168"/>
                    <a:pt x="0" y="15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23" y="140"/>
                    <a:pt x="131" y="148"/>
                    <a:pt x="131" y="158"/>
                  </a:cubicBezTo>
                  <a:cubicBezTo>
                    <a:pt x="131" y="168"/>
                    <a:pt x="123" y="176"/>
                    <a:pt x="113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grpSp>
        <p:nvGrpSpPr>
          <p:cNvPr id="19" name="Group 66">
            <a:extLst>
              <a:ext uri="{FF2B5EF4-FFF2-40B4-BE49-F238E27FC236}">
                <a16:creationId xmlns:a16="http://schemas.microsoft.com/office/drawing/2014/main" id="{8DB7D7DD-8C2E-4A99-91AF-824436473C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8151" y="4542797"/>
            <a:ext cx="256116" cy="277284"/>
            <a:chOff x="2111" y="2322"/>
            <a:chExt cx="121" cy="131"/>
          </a:xfrm>
          <a:solidFill>
            <a:schemeClr val="bg1"/>
          </a:solidFill>
        </p:grpSpPr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B81DA5CE-3648-48AA-BC46-E7EEFE7F991E}"/>
                </a:ext>
              </a:extLst>
            </p:cNvPr>
            <p:cNvSpPr/>
            <p:nvPr/>
          </p:nvSpPr>
          <p:spPr bwMode="auto">
            <a:xfrm>
              <a:off x="2159" y="2350"/>
              <a:ext cx="40" cy="37"/>
            </a:xfrm>
            <a:custGeom>
              <a:avLst/>
              <a:gdLst>
                <a:gd name="T0" fmla="*/ 89 w 213"/>
                <a:gd name="T1" fmla="*/ 19 h 198"/>
                <a:gd name="T2" fmla="*/ 196 w 213"/>
                <a:gd name="T3" fmla="*/ 143 h 198"/>
                <a:gd name="T4" fmla="*/ 208 w 213"/>
                <a:gd name="T5" fmla="*/ 189 h 198"/>
                <a:gd name="T6" fmla="*/ 206 w 213"/>
                <a:gd name="T7" fmla="*/ 191 h 198"/>
                <a:gd name="T8" fmla="*/ 158 w 213"/>
                <a:gd name="T9" fmla="*/ 186 h 198"/>
                <a:gd name="T10" fmla="*/ 22 w 213"/>
                <a:gd name="T11" fmla="*/ 92 h 198"/>
                <a:gd name="T12" fmla="*/ 13 w 213"/>
                <a:gd name="T13" fmla="*/ 44 h 198"/>
                <a:gd name="T14" fmla="*/ 40 w 213"/>
                <a:gd name="T15" fmla="*/ 15 h 198"/>
                <a:gd name="T16" fmla="*/ 89 w 213"/>
                <a:gd name="T17" fmla="*/ 1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98">
                  <a:moveTo>
                    <a:pt x="89" y="19"/>
                  </a:moveTo>
                  <a:cubicBezTo>
                    <a:pt x="196" y="143"/>
                    <a:pt x="196" y="143"/>
                    <a:pt x="196" y="143"/>
                  </a:cubicBezTo>
                  <a:cubicBezTo>
                    <a:pt x="210" y="160"/>
                    <a:pt x="213" y="183"/>
                    <a:pt x="208" y="189"/>
                  </a:cubicBezTo>
                  <a:cubicBezTo>
                    <a:pt x="206" y="191"/>
                    <a:pt x="206" y="191"/>
                    <a:pt x="206" y="191"/>
                  </a:cubicBezTo>
                  <a:cubicBezTo>
                    <a:pt x="200" y="197"/>
                    <a:pt x="176" y="198"/>
                    <a:pt x="158" y="186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4" y="80"/>
                    <a:pt x="0" y="58"/>
                    <a:pt x="13" y="44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53" y="0"/>
                    <a:pt x="74" y="2"/>
                    <a:pt x="89" y="1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70B9B73D-CC92-47F4-B10B-7BEF81CCB6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9" y="2322"/>
              <a:ext cx="71" cy="90"/>
            </a:xfrm>
            <a:custGeom>
              <a:avLst/>
              <a:gdLst>
                <a:gd name="T0" fmla="*/ 142 w 381"/>
                <a:gd name="T1" fmla="*/ 449 h 481"/>
                <a:gd name="T2" fmla="*/ 348 w 381"/>
                <a:gd name="T3" fmla="*/ 236 h 481"/>
                <a:gd name="T4" fmla="*/ 374 w 381"/>
                <a:gd name="T5" fmla="*/ 235 h 481"/>
                <a:gd name="T6" fmla="*/ 374 w 381"/>
                <a:gd name="T7" fmla="*/ 260 h 481"/>
                <a:gd name="T8" fmla="*/ 168 w 381"/>
                <a:gd name="T9" fmla="*/ 474 h 481"/>
                <a:gd name="T10" fmla="*/ 142 w 381"/>
                <a:gd name="T11" fmla="*/ 474 h 481"/>
                <a:gd name="T12" fmla="*/ 142 w 381"/>
                <a:gd name="T13" fmla="*/ 449 h 481"/>
                <a:gd name="T14" fmla="*/ 122 w 381"/>
                <a:gd name="T15" fmla="*/ 245 h 481"/>
                <a:gd name="T16" fmla="*/ 0 w 381"/>
                <a:gd name="T17" fmla="*/ 123 h 481"/>
                <a:gd name="T18" fmla="*/ 20 w 381"/>
                <a:gd name="T19" fmla="*/ 56 h 481"/>
                <a:gd name="T20" fmla="*/ 45 w 381"/>
                <a:gd name="T21" fmla="*/ 51 h 481"/>
                <a:gd name="T22" fmla="*/ 50 w 381"/>
                <a:gd name="T23" fmla="*/ 76 h 481"/>
                <a:gd name="T24" fmla="*/ 36 w 381"/>
                <a:gd name="T25" fmla="*/ 123 h 481"/>
                <a:gd name="T26" fmla="*/ 122 w 381"/>
                <a:gd name="T27" fmla="*/ 209 h 481"/>
                <a:gd name="T28" fmla="*/ 209 w 381"/>
                <a:gd name="T29" fmla="*/ 123 h 481"/>
                <a:gd name="T30" fmla="*/ 133 w 381"/>
                <a:gd name="T31" fmla="*/ 37 h 481"/>
                <a:gd name="T32" fmla="*/ 117 w 381"/>
                <a:gd name="T33" fmla="*/ 17 h 481"/>
                <a:gd name="T34" fmla="*/ 137 w 381"/>
                <a:gd name="T35" fmla="*/ 2 h 481"/>
                <a:gd name="T36" fmla="*/ 245 w 381"/>
                <a:gd name="T37" fmla="*/ 123 h 481"/>
                <a:gd name="T38" fmla="*/ 122 w 381"/>
                <a:gd name="T39" fmla="*/ 245 h 481"/>
                <a:gd name="T40" fmla="*/ 67 w 381"/>
                <a:gd name="T41" fmla="*/ 52 h 481"/>
                <a:gd name="T42" fmla="*/ 52 w 381"/>
                <a:gd name="T43" fmla="*/ 44 h 481"/>
                <a:gd name="T44" fmla="*/ 58 w 381"/>
                <a:gd name="T45" fmla="*/ 19 h 481"/>
                <a:gd name="T46" fmla="*/ 81 w 381"/>
                <a:gd name="T47" fmla="*/ 8 h 481"/>
                <a:gd name="T48" fmla="*/ 104 w 381"/>
                <a:gd name="T49" fmla="*/ 19 h 481"/>
                <a:gd name="T50" fmla="*/ 93 w 381"/>
                <a:gd name="T51" fmla="*/ 42 h 481"/>
                <a:gd name="T52" fmla="*/ 77 w 381"/>
                <a:gd name="T53" fmla="*/ 50 h 481"/>
                <a:gd name="T54" fmla="*/ 67 w 381"/>
                <a:gd name="T55" fmla="*/ 52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1" h="481">
                  <a:moveTo>
                    <a:pt x="142" y="449"/>
                  </a:moveTo>
                  <a:cubicBezTo>
                    <a:pt x="348" y="236"/>
                    <a:pt x="348" y="236"/>
                    <a:pt x="348" y="236"/>
                  </a:cubicBezTo>
                  <a:cubicBezTo>
                    <a:pt x="355" y="228"/>
                    <a:pt x="366" y="228"/>
                    <a:pt x="374" y="235"/>
                  </a:cubicBezTo>
                  <a:cubicBezTo>
                    <a:pt x="381" y="242"/>
                    <a:pt x="381" y="253"/>
                    <a:pt x="374" y="260"/>
                  </a:cubicBezTo>
                  <a:cubicBezTo>
                    <a:pt x="168" y="474"/>
                    <a:pt x="168" y="474"/>
                    <a:pt x="168" y="474"/>
                  </a:cubicBezTo>
                  <a:cubicBezTo>
                    <a:pt x="161" y="481"/>
                    <a:pt x="150" y="481"/>
                    <a:pt x="142" y="474"/>
                  </a:cubicBezTo>
                  <a:cubicBezTo>
                    <a:pt x="135" y="467"/>
                    <a:pt x="135" y="456"/>
                    <a:pt x="142" y="449"/>
                  </a:cubicBezTo>
                  <a:close/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99"/>
                    <a:pt x="7" y="76"/>
                    <a:pt x="20" y="56"/>
                  </a:cubicBezTo>
                  <a:cubicBezTo>
                    <a:pt x="26" y="48"/>
                    <a:pt x="37" y="45"/>
                    <a:pt x="45" y="51"/>
                  </a:cubicBezTo>
                  <a:cubicBezTo>
                    <a:pt x="53" y="56"/>
                    <a:pt x="56" y="67"/>
                    <a:pt x="50" y="76"/>
                  </a:cubicBezTo>
                  <a:cubicBezTo>
                    <a:pt x="41" y="90"/>
                    <a:pt x="36" y="106"/>
                    <a:pt x="36" y="123"/>
                  </a:cubicBezTo>
                  <a:cubicBezTo>
                    <a:pt x="36" y="171"/>
                    <a:pt x="75" y="209"/>
                    <a:pt x="122" y="209"/>
                  </a:cubicBezTo>
                  <a:cubicBezTo>
                    <a:pt x="170" y="209"/>
                    <a:pt x="209" y="171"/>
                    <a:pt x="209" y="123"/>
                  </a:cubicBezTo>
                  <a:cubicBezTo>
                    <a:pt x="209" y="79"/>
                    <a:pt x="176" y="42"/>
                    <a:pt x="133" y="37"/>
                  </a:cubicBezTo>
                  <a:cubicBezTo>
                    <a:pt x="123" y="36"/>
                    <a:pt x="116" y="27"/>
                    <a:pt x="117" y="17"/>
                  </a:cubicBezTo>
                  <a:cubicBezTo>
                    <a:pt x="118" y="7"/>
                    <a:pt x="127" y="0"/>
                    <a:pt x="137" y="2"/>
                  </a:cubicBezTo>
                  <a:cubicBezTo>
                    <a:pt x="198" y="9"/>
                    <a:pt x="245" y="61"/>
                    <a:pt x="245" y="123"/>
                  </a:cubicBezTo>
                  <a:cubicBezTo>
                    <a:pt x="245" y="190"/>
                    <a:pt x="190" y="245"/>
                    <a:pt x="122" y="245"/>
                  </a:cubicBezTo>
                  <a:close/>
                  <a:moveTo>
                    <a:pt x="67" y="52"/>
                  </a:moveTo>
                  <a:cubicBezTo>
                    <a:pt x="61" y="52"/>
                    <a:pt x="55" y="50"/>
                    <a:pt x="52" y="44"/>
                  </a:cubicBezTo>
                  <a:cubicBezTo>
                    <a:pt x="47" y="36"/>
                    <a:pt x="49" y="25"/>
                    <a:pt x="58" y="19"/>
                  </a:cubicBezTo>
                  <a:cubicBezTo>
                    <a:pt x="65" y="15"/>
                    <a:pt x="73" y="11"/>
                    <a:pt x="81" y="8"/>
                  </a:cubicBezTo>
                  <a:cubicBezTo>
                    <a:pt x="91" y="5"/>
                    <a:pt x="101" y="9"/>
                    <a:pt x="104" y="19"/>
                  </a:cubicBezTo>
                  <a:cubicBezTo>
                    <a:pt x="107" y="28"/>
                    <a:pt x="103" y="38"/>
                    <a:pt x="93" y="42"/>
                  </a:cubicBezTo>
                  <a:cubicBezTo>
                    <a:pt x="87" y="44"/>
                    <a:pt x="82" y="47"/>
                    <a:pt x="77" y="50"/>
                  </a:cubicBezTo>
                  <a:cubicBezTo>
                    <a:pt x="74" y="52"/>
                    <a:pt x="71" y="52"/>
                    <a:pt x="67" y="5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BB95EC14-8991-42D2-BEE7-A1D609F92B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1" y="2406"/>
              <a:ext cx="121" cy="47"/>
            </a:xfrm>
            <a:custGeom>
              <a:avLst/>
              <a:gdLst>
                <a:gd name="T0" fmla="*/ 597 w 648"/>
                <a:gd name="T1" fmla="*/ 249 h 249"/>
                <a:gd name="T2" fmla="*/ 50 w 648"/>
                <a:gd name="T3" fmla="*/ 249 h 249"/>
                <a:gd name="T4" fmla="*/ 0 w 648"/>
                <a:gd name="T5" fmla="*/ 198 h 249"/>
                <a:gd name="T6" fmla="*/ 0 w 648"/>
                <a:gd name="T7" fmla="*/ 50 h 249"/>
                <a:gd name="T8" fmla="*/ 50 w 648"/>
                <a:gd name="T9" fmla="*/ 0 h 249"/>
                <a:gd name="T10" fmla="*/ 597 w 648"/>
                <a:gd name="T11" fmla="*/ 0 h 249"/>
                <a:gd name="T12" fmla="*/ 648 w 648"/>
                <a:gd name="T13" fmla="*/ 50 h 249"/>
                <a:gd name="T14" fmla="*/ 648 w 648"/>
                <a:gd name="T15" fmla="*/ 198 h 249"/>
                <a:gd name="T16" fmla="*/ 597 w 648"/>
                <a:gd name="T17" fmla="*/ 249 h 249"/>
                <a:gd name="T18" fmla="*/ 50 w 648"/>
                <a:gd name="T19" fmla="*/ 35 h 249"/>
                <a:gd name="T20" fmla="*/ 36 w 648"/>
                <a:gd name="T21" fmla="*/ 50 h 249"/>
                <a:gd name="T22" fmla="*/ 36 w 648"/>
                <a:gd name="T23" fmla="*/ 198 h 249"/>
                <a:gd name="T24" fmla="*/ 50 w 648"/>
                <a:gd name="T25" fmla="*/ 213 h 249"/>
                <a:gd name="T26" fmla="*/ 597 w 648"/>
                <a:gd name="T27" fmla="*/ 213 h 249"/>
                <a:gd name="T28" fmla="*/ 612 w 648"/>
                <a:gd name="T29" fmla="*/ 198 h 249"/>
                <a:gd name="T30" fmla="*/ 612 w 648"/>
                <a:gd name="T31" fmla="*/ 50 h 249"/>
                <a:gd name="T32" fmla="*/ 597 w 648"/>
                <a:gd name="T33" fmla="*/ 35 h 249"/>
                <a:gd name="T34" fmla="*/ 50 w 648"/>
                <a:gd name="T35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8" h="249">
                  <a:moveTo>
                    <a:pt x="597" y="249"/>
                  </a:moveTo>
                  <a:cubicBezTo>
                    <a:pt x="50" y="249"/>
                    <a:pt x="50" y="249"/>
                    <a:pt x="50" y="249"/>
                  </a:cubicBezTo>
                  <a:cubicBezTo>
                    <a:pt x="22" y="249"/>
                    <a:pt x="0" y="226"/>
                    <a:pt x="0" y="19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625" y="0"/>
                    <a:pt x="648" y="22"/>
                    <a:pt x="648" y="50"/>
                  </a:cubicBezTo>
                  <a:cubicBezTo>
                    <a:pt x="648" y="198"/>
                    <a:pt x="648" y="198"/>
                    <a:pt x="648" y="198"/>
                  </a:cubicBezTo>
                  <a:cubicBezTo>
                    <a:pt x="648" y="226"/>
                    <a:pt x="625" y="249"/>
                    <a:pt x="597" y="249"/>
                  </a:cubicBezTo>
                  <a:close/>
                  <a:moveTo>
                    <a:pt x="50" y="35"/>
                  </a:moveTo>
                  <a:cubicBezTo>
                    <a:pt x="42" y="35"/>
                    <a:pt x="36" y="42"/>
                    <a:pt x="36" y="50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206"/>
                    <a:pt x="42" y="213"/>
                    <a:pt x="50" y="213"/>
                  </a:cubicBezTo>
                  <a:cubicBezTo>
                    <a:pt x="597" y="213"/>
                    <a:pt x="597" y="213"/>
                    <a:pt x="597" y="213"/>
                  </a:cubicBezTo>
                  <a:cubicBezTo>
                    <a:pt x="605" y="213"/>
                    <a:pt x="612" y="206"/>
                    <a:pt x="612" y="198"/>
                  </a:cubicBezTo>
                  <a:cubicBezTo>
                    <a:pt x="612" y="50"/>
                    <a:pt x="612" y="50"/>
                    <a:pt x="612" y="50"/>
                  </a:cubicBezTo>
                  <a:cubicBezTo>
                    <a:pt x="612" y="42"/>
                    <a:pt x="605" y="35"/>
                    <a:pt x="597" y="35"/>
                  </a:cubicBezTo>
                  <a:lnTo>
                    <a:pt x="5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24827FE4-A38E-4098-90F1-DEDD3D57A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971" y="1397210"/>
            <a:ext cx="3336043" cy="112776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F3F82DFB-DABC-4C09-A048-B2D7309D498E}"/>
              </a:ext>
            </a:extLst>
          </p:cNvPr>
          <p:cNvSpPr/>
          <p:nvPr/>
        </p:nvSpPr>
        <p:spPr>
          <a:xfrm>
            <a:off x="3469024" y="3707404"/>
            <a:ext cx="583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华中科技大学 </a:t>
            </a:r>
            <a:r>
              <a:rPr lang="en-US" altLang="zh-CN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2021 ROS</a:t>
            </a:r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创新实践教学 </a:t>
            </a:r>
          </a:p>
        </p:txBody>
      </p:sp>
      <p:pic>
        <p:nvPicPr>
          <p:cNvPr id="25" name="图片 3">
            <a:extLst>
              <a:ext uri="{FF2B5EF4-FFF2-40B4-BE49-F238E27FC236}">
                <a16:creationId xmlns:a16="http://schemas.microsoft.com/office/drawing/2014/main" id="{9FD36E82-4F43-4A3D-BD0D-782C08532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022" y="1415800"/>
            <a:ext cx="3604032" cy="1013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374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箭头: 五边形 18">
            <a:extLst>
              <a:ext uri="{FF2B5EF4-FFF2-40B4-BE49-F238E27FC236}">
                <a16:creationId xmlns:a16="http://schemas.microsoft.com/office/drawing/2014/main" id="{A972E024-6202-4FB3-B06C-155CE4F7AE80}"/>
              </a:ext>
            </a:extLst>
          </p:cNvPr>
          <p:cNvSpPr/>
          <p:nvPr/>
        </p:nvSpPr>
        <p:spPr>
          <a:xfrm flipH="1">
            <a:off x="3086358" y="2945282"/>
            <a:ext cx="1678150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结点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E5951F0E-974D-4BA3-877D-F120227A06AC}"/>
              </a:ext>
            </a:extLst>
          </p:cNvPr>
          <p:cNvSpPr/>
          <p:nvPr/>
        </p:nvSpPr>
        <p:spPr>
          <a:xfrm flipH="1">
            <a:off x="838940" y="1709227"/>
            <a:ext cx="2069867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小海龟</a:t>
            </a:r>
          </a:p>
        </p:txBody>
      </p:sp>
      <p:sp>
        <p:nvSpPr>
          <p:cNvPr id="5" name=" 160">
            <a:extLst>
              <a:ext uri="{FF2B5EF4-FFF2-40B4-BE49-F238E27FC236}">
                <a16:creationId xmlns:a16="http://schemas.microsoft.com/office/drawing/2014/main" id="{548E59DA-08E8-4157-B990-989FC360A838}"/>
              </a:ext>
            </a:extLst>
          </p:cNvPr>
          <p:cNvSpPr/>
          <p:nvPr/>
        </p:nvSpPr>
        <p:spPr>
          <a:xfrm rot="10800000" flipH="1">
            <a:off x="3112991" y="2042562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箭头: 五边形 12">
            <a:extLst>
              <a:ext uri="{FF2B5EF4-FFF2-40B4-BE49-F238E27FC236}">
                <a16:creationId xmlns:a16="http://schemas.microsoft.com/office/drawing/2014/main" id="{56F161E6-65DE-4F69-9A0B-17B7B1168F8F}"/>
              </a:ext>
            </a:extLst>
          </p:cNvPr>
          <p:cNvSpPr/>
          <p:nvPr/>
        </p:nvSpPr>
        <p:spPr>
          <a:xfrm>
            <a:off x="634756" y="1709227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99DC91C8-FC34-48C3-8F2F-326DF1FCE2F9}"/>
              </a:ext>
            </a:extLst>
          </p:cNvPr>
          <p:cNvSpPr/>
          <p:nvPr/>
        </p:nvSpPr>
        <p:spPr>
          <a:xfrm>
            <a:off x="2908807" y="2945282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认识</a:t>
            </a:r>
          </a:p>
        </p:txBody>
      </p:sp>
      <p:sp>
        <p:nvSpPr>
          <p:cNvPr id="20" name="箭头: 五边形 19">
            <a:extLst>
              <a:ext uri="{FF2B5EF4-FFF2-40B4-BE49-F238E27FC236}">
                <a16:creationId xmlns:a16="http://schemas.microsoft.com/office/drawing/2014/main" id="{5B9552D1-6D44-4FA9-BE22-C3D8E302A0B0}"/>
              </a:ext>
            </a:extLst>
          </p:cNvPr>
          <p:cNvSpPr/>
          <p:nvPr/>
        </p:nvSpPr>
        <p:spPr>
          <a:xfrm flipH="1">
            <a:off x="5424390" y="2945282"/>
            <a:ext cx="1610226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服务</a:t>
            </a:r>
          </a:p>
        </p:txBody>
      </p:sp>
      <p:sp>
        <p:nvSpPr>
          <p:cNvPr id="21" name="箭头: 五边形 20">
            <a:extLst>
              <a:ext uri="{FF2B5EF4-FFF2-40B4-BE49-F238E27FC236}">
                <a16:creationId xmlns:a16="http://schemas.microsoft.com/office/drawing/2014/main" id="{256BCAA9-72E9-4929-B99B-0D565579EF4D}"/>
              </a:ext>
            </a:extLst>
          </p:cNvPr>
          <p:cNvSpPr/>
          <p:nvPr/>
        </p:nvSpPr>
        <p:spPr>
          <a:xfrm>
            <a:off x="5246839" y="2945282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认识</a:t>
            </a:r>
          </a:p>
        </p:txBody>
      </p:sp>
      <p:sp>
        <p:nvSpPr>
          <p:cNvPr id="22" name="箭头: 五边形 21">
            <a:extLst>
              <a:ext uri="{FF2B5EF4-FFF2-40B4-BE49-F238E27FC236}">
                <a16:creationId xmlns:a16="http://schemas.microsoft.com/office/drawing/2014/main" id="{EAF452FB-26CE-4C0B-8B08-22996461DA2C}"/>
              </a:ext>
            </a:extLst>
          </p:cNvPr>
          <p:cNvSpPr/>
          <p:nvPr/>
        </p:nvSpPr>
        <p:spPr>
          <a:xfrm flipH="1">
            <a:off x="7683068" y="2945282"/>
            <a:ext cx="1678151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话题</a:t>
            </a:r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D6525596-F73E-4A90-89D5-163A8FD64141}"/>
              </a:ext>
            </a:extLst>
          </p:cNvPr>
          <p:cNvSpPr/>
          <p:nvPr/>
        </p:nvSpPr>
        <p:spPr>
          <a:xfrm>
            <a:off x="7505517" y="2945282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认识</a:t>
            </a:r>
          </a:p>
        </p:txBody>
      </p:sp>
      <p:sp>
        <p:nvSpPr>
          <p:cNvPr id="24" name="箭头: 五边形 23">
            <a:extLst>
              <a:ext uri="{FF2B5EF4-FFF2-40B4-BE49-F238E27FC236}">
                <a16:creationId xmlns:a16="http://schemas.microsoft.com/office/drawing/2014/main" id="{6E63A3A9-EC19-4021-82BB-B3CA9981BF0E}"/>
              </a:ext>
            </a:extLst>
          </p:cNvPr>
          <p:cNvSpPr/>
          <p:nvPr/>
        </p:nvSpPr>
        <p:spPr>
          <a:xfrm flipH="1">
            <a:off x="5640284" y="4663150"/>
            <a:ext cx="2788663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操控小海龟</a:t>
            </a: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319F14D5-D909-4117-8E8F-88C063371240}"/>
              </a:ext>
            </a:extLst>
          </p:cNvPr>
          <p:cNvSpPr/>
          <p:nvPr/>
        </p:nvSpPr>
        <p:spPr>
          <a:xfrm>
            <a:off x="5462734" y="4663150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消息</a:t>
            </a: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229B8E1D-E3D5-4391-9D98-9AB2C79A4997}"/>
              </a:ext>
            </a:extLst>
          </p:cNvPr>
          <p:cNvSpPr/>
          <p:nvPr/>
        </p:nvSpPr>
        <p:spPr>
          <a:xfrm flipH="1">
            <a:off x="9253510" y="5725072"/>
            <a:ext cx="2311698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　功能包</a:t>
            </a: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8123F9EF-53E5-4D38-9FD8-94E49B543E69}"/>
              </a:ext>
            </a:extLst>
          </p:cNvPr>
          <p:cNvSpPr/>
          <p:nvPr/>
        </p:nvSpPr>
        <p:spPr>
          <a:xfrm>
            <a:off x="9075960" y="5725072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</a:p>
        </p:txBody>
      </p:sp>
      <p:sp>
        <p:nvSpPr>
          <p:cNvPr id="28" name=" 160">
            <a:extLst>
              <a:ext uri="{FF2B5EF4-FFF2-40B4-BE49-F238E27FC236}">
                <a16:creationId xmlns:a16="http://schemas.microsoft.com/office/drawing/2014/main" id="{F85EBE64-3361-4FB0-907A-C172A01672AE}"/>
              </a:ext>
            </a:extLst>
          </p:cNvPr>
          <p:cNvSpPr/>
          <p:nvPr/>
        </p:nvSpPr>
        <p:spPr>
          <a:xfrm rot="10800000" flipH="1">
            <a:off x="4837257" y="3874023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" name=" 160">
            <a:extLst>
              <a:ext uri="{FF2B5EF4-FFF2-40B4-BE49-F238E27FC236}">
                <a16:creationId xmlns:a16="http://schemas.microsoft.com/office/drawing/2014/main" id="{5B8234CD-65A9-434D-9700-585D93803F59}"/>
              </a:ext>
            </a:extLst>
          </p:cNvPr>
          <p:cNvSpPr/>
          <p:nvPr/>
        </p:nvSpPr>
        <p:spPr>
          <a:xfrm rot="10800000" flipH="1">
            <a:off x="8741834" y="4936446"/>
            <a:ext cx="722630" cy="65405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D4F1F9">
              <a:alpha val="41000"/>
            </a:srgbClr>
          </a:solidFill>
          <a:ln>
            <a:solidFill>
              <a:srgbClr val="58B6E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" name="箭头: 五边形 29">
            <a:extLst>
              <a:ext uri="{FF2B5EF4-FFF2-40B4-BE49-F238E27FC236}">
                <a16:creationId xmlns:a16="http://schemas.microsoft.com/office/drawing/2014/main" id="{192A7DFA-75C9-4D95-92AC-B02AB902629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箭头: 五边形 30">
            <a:extLst>
              <a:ext uri="{FF2B5EF4-FFF2-40B4-BE49-F238E27FC236}">
                <a16:creationId xmlns:a16="http://schemas.microsoft.com/office/drawing/2014/main" id="{25A45A79-F2E6-428E-8FFA-1F5F36C3FAE3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338882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3" grpId="0" animBg="1"/>
      <p:bldP spid="14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2699890"/>
            <a:ext cx="12192000" cy="1689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本关涉及的指令：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roscore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在新的终端中建立主服务器，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rosrun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turtlesim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turtlesim_node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turtlesim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包工具，建立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Turtlesim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</p:spTree>
    <p:extLst>
      <p:ext uri="{BB962C8B-B14F-4D97-AF65-F5344CB8AC3E}">
        <p14:creationId xmlns:p14="http://schemas.microsoft.com/office/powerpoint/2010/main" val="89861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9B748-C24C-C833-431F-937FDADA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6411227-F4D8-576B-668D-86342DEE7DED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FF68D7E-324F-B200-7EA5-DF8D02F753F3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86556090-CA95-13C3-EE6F-22C18C2F9B65}"/>
              </a:ext>
            </a:extLst>
          </p:cNvPr>
          <p:cNvSpPr/>
          <p:nvPr/>
        </p:nvSpPr>
        <p:spPr>
          <a:xfrm>
            <a:off x="6009379" y="3429000"/>
            <a:ext cx="1581704" cy="129293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结果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202F488-F71C-E2AA-BEE7-0C929C5745AA}"/>
              </a:ext>
            </a:extLst>
          </p:cNvPr>
          <p:cNvSpPr/>
          <p:nvPr/>
        </p:nvSpPr>
        <p:spPr>
          <a:xfrm>
            <a:off x="556839" y="1455938"/>
            <a:ext cx="5370485" cy="52936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B5879E-04C8-7DD6-C91B-CDEA9C52528E}"/>
              </a:ext>
            </a:extLst>
          </p:cNvPr>
          <p:cNvSpPr txBox="1"/>
          <p:nvPr/>
        </p:nvSpPr>
        <p:spPr>
          <a:xfrm>
            <a:off x="662676" y="1612364"/>
            <a:ext cx="478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鼠标右键，点击在终端中打开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16BB10-AA82-C1B6-D9AF-7079B20D1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94" y="2477952"/>
            <a:ext cx="5206374" cy="32495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967FD98-2DB6-547F-EFF5-A9ED01F96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791" y="2663686"/>
            <a:ext cx="4418272" cy="275769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FFA0D4D-F95F-07E3-9FDA-EB0A5CEF0885}"/>
              </a:ext>
            </a:extLst>
          </p:cNvPr>
          <p:cNvSpPr txBox="1"/>
          <p:nvPr/>
        </p:nvSpPr>
        <p:spPr>
          <a:xfrm>
            <a:off x="985612" y="1947115"/>
            <a:ext cx="4503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（或者使用快捷键</a:t>
            </a:r>
            <a:r>
              <a:rPr lang="en-US" altLang="zh-CN" b="1" dirty="0" err="1"/>
              <a:t>ctrl+T</a:t>
            </a:r>
            <a:r>
              <a:rPr lang="zh-CN" altLang="en-US" b="1" dirty="0"/>
              <a:t>，快速打开终端）</a:t>
            </a:r>
          </a:p>
        </p:txBody>
      </p:sp>
    </p:spTree>
    <p:extLst>
      <p:ext uri="{BB962C8B-B14F-4D97-AF65-F5344CB8AC3E}">
        <p14:creationId xmlns:p14="http://schemas.microsoft.com/office/powerpoint/2010/main" val="97206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9DAFC-90BB-20CA-E619-94DE547C9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65528BA-6747-C7B1-CA8C-36815FE350AF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146DD166-FC41-CA23-4754-CBE199F9F18E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CF52AE7-2355-BBC3-1A55-53C65C3DC2C0}"/>
              </a:ext>
            </a:extLst>
          </p:cNvPr>
          <p:cNvSpPr/>
          <p:nvPr/>
        </p:nvSpPr>
        <p:spPr>
          <a:xfrm>
            <a:off x="3127760" y="1807120"/>
            <a:ext cx="5539161" cy="41431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5F9497-2954-D132-F37A-02F0C4AC6052}"/>
              </a:ext>
            </a:extLst>
          </p:cNvPr>
          <p:cNvSpPr txBox="1"/>
          <p:nvPr/>
        </p:nvSpPr>
        <p:spPr>
          <a:xfrm>
            <a:off x="3233598" y="1963546"/>
            <a:ext cx="478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输入命令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roscore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，点击回车运行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4DAE1E-6BBF-A580-8032-72D5D6CF0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757" y="2538292"/>
            <a:ext cx="4953255" cy="3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42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B54A87D-03A6-48F6-99AE-169AAEF85268}"/>
              </a:ext>
            </a:extLst>
          </p:cNvPr>
          <p:cNvSpPr/>
          <p:nvPr/>
        </p:nvSpPr>
        <p:spPr>
          <a:xfrm>
            <a:off x="195815" y="1438183"/>
            <a:ext cx="4785064" cy="52936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4D4B03-1DD2-4A11-AEDE-EAF8CFB430B0}"/>
              </a:ext>
            </a:extLst>
          </p:cNvPr>
          <p:cNvSpPr txBox="1"/>
          <p:nvPr/>
        </p:nvSpPr>
        <p:spPr>
          <a:xfrm>
            <a:off x="168115" y="1438183"/>
            <a:ext cx="478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roscore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正常启动时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E1F2721-F744-4476-A635-14ADF567F619}"/>
              </a:ext>
            </a:extLst>
          </p:cNvPr>
          <p:cNvSpPr/>
          <p:nvPr/>
        </p:nvSpPr>
        <p:spPr>
          <a:xfrm>
            <a:off x="5157926" y="1438183"/>
            <a:ext cx="6766678" cy="52936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4E40B3-23B0-4F39-A6DC-6635E14DC539}"/>
              </a:ext>
            </a:extLst>
          </p:cNvPr>
          <p:cNvSpPr txBox="1"/>
          <p:nvPr/>
        </p:nvSpPr>
        <p:spPr>
          <a:xfrm>
            <a:off x="5157926" y="1524388"/>
            <a:ext cx="667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常见报错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DB7EA7-C64B-4FAB-9C29-BF1AB8347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655" y="1986985"/>
            <a:ext cx="6599159" cy="3304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F7482BC-D0E4-48A4-BC5D-6159EF4C9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300" y="5363746"/>
            <a:ext cx="41338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2A6C696-8F15-4B03-B4FB-C73D033D8E59}"/>
              </a:ext>
            </a:extLst>
          </p:cNvPr>
          <p:cNvSpPr txBox="1"/>
          <p:nvPr/>
        </p:nvSpPr>
        <p:spPr>
          <a:xfrm>
            <a:off x="5157926" y="5826780"/>
            <a:ext cx="2182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解决方式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2850F1-0B0F-3C9F-24B9-658240260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38" y="1791110"/>
            <a:ext cx="4059934" cy="477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8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09BE-D980-59E3-739F-70713C04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F16A90DA-D8BC-889E-B47B-70D6C16CC841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596028EB-2E3B-9C76-928E-5ABB489AF693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F59A5DA-9F1B-A1CF-3101-954F20C892D8}"/>
              </a:ext>
            </a:extLst>
          </p:cNvPr>
          <p:cNvSpPr/>
          <p:nvPr/>
        </p:nvSpPr>
        <p:spPr>
          <a:xfrm>
            <a:off x="954404" y="1358348"/>
            <a:ext cx="10137665" cy="53050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2943CB-231E-BF62-30CB-DCA674E384BA}"/>
              </a:ext>
            </a:extLst>
          </p:cNvPr>
          <p:cNvSpPr txBox="1"/>
          <p:nvPr/>
        </p:nvSpPr>
        <p:spPr>
          <a:xfrm>
            <a:off x="3624077" y="1616823"/>
            <a:ext cx="522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点击右上角唤出新终端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0E02213-2A18-451F-F3E7-B0241573A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65" y="2098865"/>
            <a:ext cx="8043777" cy="441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46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04EE10-1F0F-4279-AA42-650795AA9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030" y="1579206"/>
            <a:ext cx="3448992" cy="3699588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7CB80C43-C546-4C48-B269-DF2B7F400A40}"/>
              </a:ext>
            </a:extLst>
          </p:cNvPr>
          <p:cNvSpPr/>
          <p:nvPr/>
        </p:nvSpPr>
        <p:spPr>
          <a:xfrm>
            <a:off x="6488625" y="2891306"/>
            <a:ext cx="1581704" cy="129293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结果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7FFF22-0E50-481E-AC8F-ADB1D5445AF7}"/>
              </a:ext>
            </a:extLst>
          </p:cNvPr>
          <p:cNvSpPr/>
          <p:nvPr/>
        </p:nvSpPr>
        <p:spPr>
          <a:xfrm>
            <a:off x="508615" y="1736034"/>
            <a:ext cx="5678309" cy="33859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5D4086-E2D6-4BEE-AE4D-1C0E0983D65E}"/>
              </a:ext>
            </a:extLst>
          </p:cNvPr>
          <p:cNvSpPr txBox="1"/>
          <p:nvPr/>
        </p:nvSpPr>
        <p:spPr>
          <a:xfrm>
            <a:off x="899375" y="1967976"/>
            <a:ext cx="4785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在新终端中执行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rosrun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turtlesim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turtlesim_node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7C6C4A5-2819-2009-CC7E-BC576833E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10" y="2975274"/>
            <a:ext cx="4562129" cy="158286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6B13343-690D-F868-699C-DCC7CA89F491}"/>
              </a:ext>
            </a:extLst>
          </p:cNvPr>
          <p:cNvSpPr txBox="1"/>
          <p:nvPr/>
        </p:nvSpPr>
        <p:spPr>
          <a:xfrm>
            <a:off x="3703468" y="5725071"/>
            <a:ext cx="4785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不要关闭这两个终端或杀死其中的进程，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接下来可以打开新的终端查看节点信息，控制小乌龟运动了。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713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2309273"/>
            <a:ext cx="12192000" cy="2797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本关涉及的指令：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rosnode list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列出系统中已发布的节点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rosnode info /turtlesim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调出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/turtlesim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结点的信息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需要解决的问题：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Q1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：调出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/turtlesim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的信息，并分析信息的含义。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　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node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261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7FFF22-0E50-481E-AC8F-ADB1D5445AF7}"/>
              </a:ext>
            </a:extLst>
          </p:cNvPr>
          <p:cNvSpPr/>
          <p:nvPr/>
        </p:nvSpPr>
        <p:spPr>
          <a:xfrm>
            <a:off x="388164" y="2782533"/>
            <a:ext cx="6181312" cy="18554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5D4086-E2D6-4BEE-AE4D-1C0E0983D65E}"/>
              </a:ext>
            </a:extLst>
          </p:cNvPr>
          <p:cNvSpPr txBox="1"/>
          <p:nvPr/>
        </p:nvSpPr>
        <p:spPr>
          <a:xfrm>
            <a:off x="494001" y="2895638"/>
            <a:ext cx="597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rosnode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list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16435D-B6D2-4F2B-858C-33C78B8B4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01" y="3264970"/>
            <a:ext cx="5977222" cy="1195444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181336C5-E637-490F-A4A0-87F5C7E88F80}"/>
              </a:ext>
            </a:extLst>
          </p:cNvPr>
          <p:cNvSpPr/>
          <p:nvPr/>
        </p:nvSpPr>
        <p:spPr>
          <a:xfrm>
            <a:off x="7102136" y="2136067"/>
            <a:ext cx="2441359" cy="1292933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/rosout</a:t>
            </a:r>
            <a:endParaRPr lang="zh-CN" altLang="en-US" sz="320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E3CD1495-FCAB-4E3D-86A4-64D409A739AF}"/>
              </a:ext>
            </a:extLst>
          </p:cNvPr>
          <p:cNvSpPr/>
          <p:nvPr/>
        </p:nvSpPr>
        <p:spPr>
          <a:xfrm>
            <a:off x="7102135" y="3785672"/>
            <a:ext cx="2441359" cy="1292933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/turtlesim</a:t>
            </a:r>
            <a:endParaRPr lang="zh-CN" altLang="en-US" sz="320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A5B29C1-F6CA-4DB0-974A-4F4792EC2DE7}"/>
              </a:ext>
            </a:extLst>
          </p:cNvPr>
          <p:cNvSpPr/>
          <p:nvPr/>
        </p:nvSpPr>
        <p:spPr>
          <a:xfrm>
            <a:off x="9632271" y="2225953"/>
            <a:ext cx="2293398" cy="111316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默认结点</a:t>
            </a:r>
          </a:p>
        </p:txBody>
      </p:sp>
      <p:sp>
        <p:nvSpPr>
          <p:cNvPr id="22" name="箭头: 五边形 21">
            <a:extLst>
              <a:ext uri="{FF2B5EF4-FFF2-40B4-BE49-F238E27FC236}">
                <a16:creationId xmlns:a16="http://schemas.microsoft.com/office/drawing/2014/main" id="{A8FE8FFF-D157-4704-9B26-ACF68878BBFD}"/>
              </a:ext>
            </a:extLst>
          </p:cNvPr>
          <p:cNvSpPr/>
          <p:nvPr/>
        </p:nvSpPr>
        <p:spPr>
          <a:xfrm>
            <a:off x="-7402" y="349616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31B45A3B-3FCA-4BF0-A022-2D03DD48D4F9}"/>
              </a:ext>
            </a:extLst>
          </p:cNvPr>
          <p:cNvSpPr/>
          <p:nvPr/>
        </p:nvSpPr>
        <p:spPr>
          <a:xfrm flipH="1">
            <a:off x="1306493" y="349616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node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AC3028F-8391-43EB-8F9B-53C013CFB6A3}"/>
              </a:ext>
            </a:extLst>
          </p:cNvPr>
          <p:cNvSpPr/>
          <p:nvPr/>
        </p:nvSpPr>
        <p:spPr>
          <a:xfrm>
            <a:off x="9632271" y="3913623"/>
            <a:ext cx="2293398" cy="10163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新建的结点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EC6CC58-8A88-4018-91E5-70424F042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250" y="3540887"/>
            <a:ext cx="787440" cy="66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3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BCF8AA12-3F94-4560-973B-EAA412D4203E}"/>
              </a:ext>
            </a:extLst>
          </p:cNvPr>
          <p:cNvSpPr/>
          <p:nvPr/>
        </p:nvSpPr>
        <p:spPr>
          <a:xfrm flipH="1">
            <a:off x="1306493" y="349616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node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D6261EFA-82ED-4536-BFDD-7653F51DB353}"/>
              </a:ext>
            </a:extLst>
          </p:cNvPr>
          <p:cNvSpPr/>
          <p:nvPr/>
        </p:nvSpPr>
        <p:spPr>
          <a:xfrm>
            <a:off x="-7402" y="349616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7FFF22-0E50-481E-AC8F-ADB1D5445AF7}"/>
              </a:ext>
            </a:extLst>
          </p:cNvPr>
          <p:cNvSpPr/>
          <p:nvPr/>
        </p:nvSpPr>
        <p:spPr>
          <a:xfrm>
            <a:off x="476940" y="1766656"/>
            <a:ext cx="5370485" cy="43252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5D4086-E2D6-4BEE-AE4D-1C0E0983D65E}"/>
              </a:ext>
            </a:extLst>
          </p:cNvPr>
          <p:cNvSpPr txBox="1"/>
          <p:nvPr/>
        </p:nvSpPr>
        <p:spPr>
          <a:xfrm>
            <a:off x="582777" y="1923082"/>
            <a:ext cx="478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rosnode info /turtlesim</a:t>
            </a:r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5BDA710-E489-40AC-9FE4-32ADEA3B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28" y="2752078"/>
            <a:ext cx="5284508" cy="271232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8F66592-DBFD-49C5-B8D4-7421DAA54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126" y="1766656"/>
            <a:ext cx="5050721" cy="4200917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CDE6507A-F3D2-449F-A812-AE8C08881579}"/>
              </a:ext>
            </a:extLst>
          </p:cNvPr>
          <p:cNvSpPr/>
          <p:nvPr/>
        </p:nvSpPr>
        <p:spPr>
          <a:xfrm flipH="1">
            <a:off x="8513944" y="1461282"/>
            <a:ext cx="3007903" cy="83113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/Services</a:t>
            </a:r>
            <a:endParaRPr lang="zh-CN" altLang="en-US" sz="3200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5717D8A1-B3E8-4B56-A4EC-C2EA8FC0213F}"/>
              </a:ext>
            </a:extLst>
          </p:cNvPr>
          <p:cNvSpPr/>
          <p:nvPr/>
        </p:nvSpPr>
        <p:spPr>
          <a:xfrm flipH="1">
            <a:off x="9453606" y="3429000"/>
            <a:ext cx="2068241" cy="83113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Connect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150816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998554"/>
            <a:ext cx="12192000" cy="33510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本关涉及的指令：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rosservice list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列出服务名称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rosservice call /spawn [Tab]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在同一个窗口中创建一个新的小乌龟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需要解决的问题：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Q2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/spawn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名为学号的小乌龟，使用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rosservice call /teleop_*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控制其运动，并完成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/kill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，记录每一步参数的并解释其含义。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924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DA4722D-E417-4E0C-849E-908F7DEF3A8B}"/>
              </a:ext>
            </a:extLst>
          </p:cNvPr>
          <p:cNvSpPr/>
          <p:nvPr/>
        </p:nvSpPr>
        <p:spPr>
          <a:xfrm>
            <a:off x="830323" y="1748926"/>
            <a:ext cx="6416841" cy="434042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45D5A5-2486-433B-8A60-4E5D252D4E05}"/>
              </a:ext>
            </a:extLst>
          </p:cNvPr>
          <p:cNvSpPr txBox="1"/>
          <p:nvPr/>
        </p:nvSpPr>
        <p:spPr>
          <a:xfrm>
            <a:off x="936159" y="1905352"/>
            <a:ext cx="6188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rosservice list 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670C3D-4087-46A6-825D-1105819DB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59" y="2431110"/>
            <a:ext cx="6126033" cy="3173266"/>
          </a:xfrm>
          <a:prstGeom prst="rect">
            <a:avLst/>
          </a:prstGeom>
        </p:spPr>
      </p:pic>
      <p:sp>
        <p:nvSpPr>
          <p:cNvPr id="13" name="箭头: 右 12">
            <a:extLst>
              <a:ext uri="{FF2B5EF4-FFF2-40B4-BE49-F238E27FC236}">
                <a16:creationId xmlns:a16="http://schemas.microsoft.com/office/drawing/2014/main" id="{E1663CAF-2BC1-48D9-B4B9-CD9A10B34952}"/>
              </a:ext>
            </a:extLst>
          </p:cNvPr>
          <p:cNvSpPr/>
          <p:nvPr/>
        </p:nvSpPr>
        <p:spPr>
          <a:xfrm flipH="1">
            <a:off x="7248544" y="1461282"/>
            <a:ext cx="4620367" cy="4720062"/>
          </a:xfrm>
          <a:prstGeom prst="rightArrow">
            <a:avLst>
              <a:gd name="adj1" fmla="val 59613"/>
              <a:gd name="adj2" fmla="val 3382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kern="5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Noto Sans CJK SC Regular"/>
              </a:rPr>
              <a:t>  </a:t>
            </a:r>
            <a:r>
              <a:rPr lang="zh-CN" altLang="zh-CN" sz="2400" kern="5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Noto Sans CJK SC Regular"/>
              </a:rPr>
              <a:t>可以通过名称了解</a:t>
            </a:r>
            <a:r>
              <a:rPr lang="en-US" altLang="zh-CN" sz="2400" kern="50">
                <a:latin typeface="微软雅黑" panose="020B0503020204020204" pitchFamily="34" charset="-122"/>
                <a:ea typeface="微软雅黑" panose="020B0503020204020204" pitchFamily="34" charset="-122"/>
                <a:cs typeface="Noto Sans CJK SC Regular"/>
              </a:rPr>
              <a:t>service</a:t>
            </a:r>
            <a:r>
              <a:rPr lang="zh-CN" altLang="zh-CN" sz="2400" kern="5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Noto Sans CJK SC Regular"/>
              </a:rPr>
              <a:t>的功能</a:t>
            </a:r>
            <a:r>
              <a:rPr lang="zh-CN" altLang="en-US" sz="2400" kern="5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Noto Sans CJK SC Regular"/>
              </a:rPr>
              <a:t>。</a:t>
            </a:r>
            <a:endParaRPr lang="en-US" altLang="zh-CN" sz="2400" kern="5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Noto Sans CJK SC Regular"/>
            </a:endParaRPr>
          </a:p>
          <a:p>
            <a:r>
              <a:rPr lang="zh-CN" altLang="en-US" sz="2400" kern="50">
                <a:latin typeface="微软雅黑" panose="020B0503020204020204" pitchFamily="34" charset="-122"/>
                <a:ea typeface="微软雅黑" panose="020B0503020204020204" pitchFamily="34" charset="-122"/>
              </a:rPr>
              <a:t>  例如：</a:t>
            </a:r>
            <a:r>
              <a:rPr lang="en-US" altLang="zh-CN" sz="2400" kern="50">
                <a:latin typeface="微软雅黑" panose="020B0503020204020204" pitchFamily="34" charset="-122"/>
                <a:ea typeface="微软雅黑" panose="020B0503020204020204" pitchFamily="34" charset="-122"/>
              </a:rPr>
              <a:t>spawn</a:t>
            </a:r>
            <a:r>
              <a:rPr lang="zh-CN" altLang="en-US" sz="2400" kern="50">
                <a:latin typeface="微软雅黑" panose="020B0503020204020204" pitchFamily="34" charset="-122"/>
                <a:ea typeface="微软雅黑" panose="020B0503020204020204" pitchFamily="34" charset="-122"/>
              </a:rPr>
              <a:t>产卵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846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DA7B538D-DC2E-4650-AF01-C0353818EF58}"/>
              </a:ext>
            </a:extLst>
          </p:cNvPr>
          <p:cNvSpPr/>
          <p:nvPr/>
        </p:nvSpPr>
        <p:spPr>
          <a:xfrm>
            <a:off x="5847055" y="3347813"/>
            <a:ext cx="1581704" cy="129293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结果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E938C7E-06D2-43B7-8B3E-17E42632E3EB}"/>
              </a:ext>
            </a:extLst>
          </p:cNvPr>
          <p:cNvSpPr/>
          <p:nvPr/>
        </p:nvSpPr>
        <p:spPr>
          <a:xfrm>
            <a:off x="361531" y="2547891"/>
            <a:ext cx="5370485" cy="296514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94C520-B5F9-411B-98A7-B9093F30C102}"/>
              </a:ext>
            </a:extLst>
          </p:cNvPr>
          <p:cNvSpPr txBox="1"/>
          <p:nvPr/>
        </p:nvSpPr>
        <p:spPr>
          <a:xfrm>
            <a:off x="467368" y="2704317"/>
            <a:ext cx="478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rosservice call /spawn [Tab][Tab]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9AA5AA-7508-4939-A699-C89546C4E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8" y="3276683"/>
            <a:ext cx="5178831" cy="13090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EBFDE36-0D61-477A-9BE8-9CCE01ABD3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209"/>
          <a:stretch/>
        </p:blipFill>
        <p:spPr>
          <a:xfrm>
            <a:off x="7543799" y="2031644"/>
            <a:ext cx="4416921" cy="392527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77669F0-7799-47EC-9414-198EFA503190}"/>
              </a:ext>
            </a:extLst>
          </p:cNvPr>
          <p:cNvSpPr txBox="1"/>
          <p:nvPr/>
        </p:nvSpPr>
        <p:spPr>
          <a:xfrm>
            <a:off x="467368" y="4585708"/>
            <a:ext cx="4785064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x,y,theta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等可手动输入，</a:t>
            </a:r>
            <a:r>
              <a:rPr lang="zh-CN" altLang="en-US" sz="18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注意空格</a:t>
            </a:r>
            <a:endParaRPr lang="en-US" altLang="zh-CN" sz="18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也可用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[Tab][Tab]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补全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81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E2F684E-3E11-4385-BE50-392F0FB0DBDE}"/>
              </a:ext>
            </a:extLst>
          </p:cNvPr>
          <p:cNvSpPr txBox="1"/>
          <p:nvPr/>
        </p:nvSpPr>
        <p:spPr>
          <a:xfrm>
            <a:off x="0" y="1732223"/>
            <a:ext cx="12192000" cy="44590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本关涉及的指令：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rostopic list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了解一下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turtlesim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包含的所有话题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rostopic info /turtle1/pose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了解位姿的话题的具体信息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rostopic type /turtle1/pose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了解位姿的话题的数据类型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rosmsg show turtlesim/Pose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了解位姿的话题的数据结构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rostopic echo /turtle1/pose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turtlesim/Pose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话题进行实时监听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需要解决的问题：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Q3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：说明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/cmd_vel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的连接信息、传送数据类型、数据类型的数据结构。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第四关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话题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625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第四关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话题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684F583-234B-4B6F-BF01-EF64D46128B9}"/>
              </a:ext>
            </a:extLst>
          </p:cNvPr>
          <p:cNvSpPr/>
          <p:nvPr/>
        </p:nvSpPr>
        <p:spPr>
          <a:xfrm>
            <a:off x="195815" y="1438183"/>
            <a:ext cx="6329272" cy="52936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BD5CD417-5124-4BDC-AEB5-56400A95C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98" y="1779698"/>
            <a:ext cx="5728306" cy="4610588"/>
          </a:xfrm>
          <a:prstGeom prst="rect">
            <a:avLst/>
          </a:prstGeom>
        </p:spPr>
      </p:pic>
      <p:sp>
        <p:nvSpPr>
          <p:cNvPr id="30" name="箭头: 右 29">
            <a:extLst>
              <a:ext uri="{FF2B5EF4-FFF2-40B4-BE49-F238E27FC236}">
                <a16:creationId xmlns:a16="http://schemas.microsoft.com/office/drawing/2014/main" id="{FF590F3E-495F-4776-B3CD-2B5549FC06B9}"/>
              </a:ext>
            </a:extLst>
          </p:cNvPr>
          <p:cNvSpPr/>
          <p:nvPr/>
        </p:nvSpPr>
        <p:spPr>
          <a:xfrm flipH="1">
            <a:off x="6224604" y="1896288"/>
            <a:ext cx="3007903" cy="83113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列出话题</a:t>
            </a: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AB9E3E52-72EC-48DE-B372-F2D7354E85D6}"/>
              </a:ext>
            </a:extLst>
          </p:cNvPr>
          <p:cNvSpPr/>
          <p:nvPr/>
        </p:nvSpPr>
        <p:spPr>
          <a:xfrm flipH="1">
            <a:off x="6224602" y="2909822"/>
            <a:ext cx="4499622" cy="83113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显示话题</a:t>
            </a:r>
            <a:r>
              <a:rPr lang="en-US" altLang="zh-CN" sz="3200"/>
              <a:t>pose</a:t>
            </a:r>
            <a:r>
              <a:rPr lang="zh-CN" altLang="en-US" sz="3200"/>
              <a:t>的信息</a:t>
            </a: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951859F3-89AE-4A55-A899-A38E19486B6F}"/>
              </a:ext>
            </a:extLst>
          </p:cNvPr>
          <p:cNvSpPr/>
          <p:nvPr/>
        </p:nvSpPr>
        <p:spPr>
          <a:xfrm flipH="1">
            <a:off x="6224602" y="4405245"/>
            <a:ext cx="5138815" cy="83113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显示话题</a:t>
            </a:r>
            <a:r>
              <a:rPr lang="en-US" altLang="zh-CN" sz="3200"/>
              <a:t>pose</a:t>
            </a:r>
            <a:r>
              <a:rPr lang="zh-CN" altLang="en-US" sz="3200"/>
              <a:t>的数据类型</a:t>
            </a: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04CA6627-38D2-4882-B3B1-967E01C92A2D}"/>
              </a:ext>
            </a:extLst>
          </p:cNvPr>
          <p:cNvSpPr/>
          <p:nvPr/>
        </p:nvSpPr>
        <p:spPr>
          <a:xfrm flipH="1">
            <a:off x="6224601" y="5352967"/>
            <a:ext cx="5771583" cy="831132"/>
          </a:xfrm>
          <a:prstGeom prst="rightArrow">
            <a:avLst>
              <a:gd name="adj1" fmla="val 59613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显示话题</a:t>
            </a:r>
            <a:r>
              <a:rPr lang="en-US" altLang="zh-CN" sz="3200"/>
              <a:t>pose</a:t>
            </a:r>
            <a:r>
              <a:rPr lang="zh-CN" altLang="en-US" sz="3200"/>
              <a:t>的数据结构</a:t>
            </a:r>
          </a:p>
        </p:txBody>
      </p:sp>
    </p:spTree>
    <p:extLst>
      <p:ext uri="{BB962C8B-B14F-4D97-AF65-F5344CB8AC3E}">
        <p14:creationId xmlns:p14="http://schemas.microsoft.com/office/powerpoint/2010/main" val="141040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第五关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控制小乌龟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message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6EDC07-7C06-4C54-938B-12DFF25BC51A}"/>
              </a:ext>
            </a:extLst>
          </p:cNvPr>
          <p:cNvSpPr txBox="1"/>
          <p:nvPr/>
        </p:nvSpPr>
        <p:spPr>
          <a:xfrm>
            <a:off x="0" y="1732223"/>
            <a:ext cx="12192000" cy="44590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本关涉及的指令：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rostopic type /turtle1/cmd_vel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查看与移动有关的话题的信息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rostopic pub -1 /turtle1/cmd_vel geometry_msgs/Twist [Tab][Tab]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发送控制消息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rosservice call /reset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重启窗口（还原初始状态）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需要解决的问题：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Q4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：发送命令使乌龟运动。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要求：以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1Hz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的频率连续发送命令 线速度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4.0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右旋角速度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</a:p>
        </p:txBody>
      </p:sp>
    </p:spTree>
    <p:extLst>
      <p:ext uri="{BB962C8B-B14F-4D97-AF65-F5344CB8AC3E}">
        <p14:creationId xmlns:p14="http://schemas.microsoft.com/office/powerpoint/2010/main" val="211333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3798B30-AE22-47A0-872B-ABEC4EAE0A9D}"/>
              </a:ext>
            </a:extLst>
          </p:cNvPr>
          <p:cNvSpPr/>
          <p:nvPr/>
        </p:nvSpPr>
        <p:spPr>
          <a:xfrm>
            <a:off x="280550" y="1669002"/>
            <a:ext cx="6705094" cy="44388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4A52992-8CF1-4A48-82BA-9AB02F138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09" y="2873943"/>
            <a:ext cx="6373252" cy="689329"/>
          </a:xfrm>
          <a:prstGeom prst="rect">
            <a:avLst/>
          </a:prstGeom>
        </p:spPr>
      </p:pic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第五关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控制小乌龟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message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A8C28A5-2081-4BE7-ACA3-C2D535B8BBCD}"/>
              </a:ext>
            </a:extLst>
          </p:cNvPr>
          <p:cNvSpPr txBox="1"/>
          <p:nvPr/>
        </p:nvSpPr>
        <p:spPr>
          <a:xfrm>
            <a:off x="1017231" y="1869355"/>
            <a:ext cx="49391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rostopic type /turtle1/cmd_vel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rostopic pub -1 /turtle1/cmd_vel geometry_msgs/Twist [Tab][Tab]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051AD4-A1F8-4366-9F41-1C2F755D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122" y="2226550"/>
            <a:ext cx="4452368" cy="389805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2D6EA0D-95E4-4A4D-A5AA-D2DD0E871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52" y="3529112"/>
            <a:ext cx="6373252" cy="2132444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3B2783EE-7DD8-44D2-8A54-9612407CCFAD}"/>
              </a:ext>
            </a:extLst>
          </p:cNvPr>
          <p:cNvSpPr/>
          <p:nvPr/>
        </p:nvSpPr>
        <p:spPr>
          <a:xfrm>
            <a:off x="6908851" y="3529112"/>
            <a:ext cx="1581704" cy="129293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结果</a:t>
            </a:r>
          </a:p>
        </p:txBody>
      </p:sp>
    </p:spTree>
    <p:extLst>
      <p:ext uri="{BB962C8B-B14F-4D97-AF65-F5344CB8AC3E}">
        <p14:creationId xmlns:p14="http://schemas.microsoft.com/office/powerpoint/2010/main" val="419866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第六关（提升关）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创建自己的软件包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6EDC07-7C06-4C54-938B-12DFF25BC51A}"/>
              </a:ext>
            </a:extLst>
          </p:cNvPr>
          <p:cNvSpPr txBox="1"/>
          <p:nvPr/>
        </p:nvSpPr>
        <p:spPr>
          <a:xfrm>
            <a:off x="0" y="2202739"/>
            <a:ext cx="12192000" cy="2797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本关涉及的指令：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catkin_make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catkin_create_pkg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rqt_plot /turtle1/pose/x:y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rosrun learing_topic turtlesim.py</a:t>
            </a:r>
          </a:p>
        </p:txBody>
      </p:sp>
    </p:spTree>
    <p:extLst>
      <p:ext uri="{BB962C8B-B14F-4D97-AF65-F5344CB8AC3E}">
        <p14:creationId xmlns:p14="http://schemas.microsoft.com/office/powerpoint/2010/main" val="1974534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72D33D1-5903-44E0-80A7-1C04CFFC423F}"/>
              </a:ext>
            </a:extLst>
          </p:cNvPr>
          <p:cNvSpPr/>
          <p:nvPr/>
        </p:nvSpPr>
        <p:spPr>
          <a:xfrm>
            <a:off x="7174595" y="1132929"/>
            <a:ext cx="4810259" cy="572507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B46CA3-5E37-482F-8239-8988B59B00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24" t="31619" b="9761"/>
          <a:stretch/>
        </p:blipFill>
        <p:spPr>
          <a:xfrm>
            <a:off x="7647830" y="4477185"/>
            <a:ext cx="3863787" cy="2272685"/>
          </a:xfrm>
          <a:prstGeom prst="rect">
            <a:avLst/>
          </a:prstGeom>
        </p:spPr>
      </p:pic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468C25B5-FBBF-4ED5-BACB-5A26DB89EC25}"/>
              </a:ext>
            </a:extLst>
          </p:cNvPr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9C25CE1-0637-4A01-9E64-885CB5A753CF}"/>
              </a:ext>
            </a:extLst>
          </p:cNvPr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第六关（提升关）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创建自己的软件包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459D7C9-2EEB-41B5-8E80-2F447B140DCA}"/>
              </a:ext>
            </a:extLst>
          </p:cNvPr>
          <p:cNvSpPr/>
          <p:nvPr/>
        </p:nvSpPr>
        <p:spPr>
          <a:xfrm>
            <a:off x="280550" y="1455938"/>
            <a:ext cx="6705094" cy="513129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432AEA-2B0F-405F-894B-07268AD6488B}"/>
              </a:ext>
            </a:extLst>
          </p:cNvPr>
          <p:cNvSpPr txBox="1"/>
          <p:nvPr/>
        </p:nvSpPr>
        <p:spPr>
          <a:xfrm>
            <a:off x="1017231" y="1456611"/>
            <a:ext cx="4939133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创建功能包的指令见指导书。</a:t>
            </a:r>
            <a:endParaRPr lang="en-US" altLang="zh-CN" sz="1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rqt_plot /turtle1/pose/x:y</a:t>
            </a:r>
          </a:p>
          <a:p>
            <a:pPr indent="457200">
              <a:lnSpc>
                <a:spcPct val="150000"/>
              </a:lnSpc>
            </a:pP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rosrun learing_topic turtlesim.py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8EB6C1-8286-4905-B928-8D5E692DD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01" y="3871697"/>
            <a:ext cx="6327191" cy="227737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AB6CA4E-506D-4657-BEC3-596079A14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369" y="1213117"/>
            <a:ext cx="3537132" cy="326406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368E31C-D26D-4EF6-B87F-EEEC2D0E5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01" y="2794488"/>
            <a:ext cx="6379369" cy="1004544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95C2DE82-956A-4508-A0CC-C427D46B59D5}"/>
              </a:ext>
            </a:extLst>
          </p:cNvPr>
          <p:cNvSpPr/>
          <p:nvPr/>
        </p:nvSpPr>
        <p:spPr>
          <a:xfrm>
            <a:off x="6455131" y="3348998"/>
            <a:ext cx="1581704" cy="129293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结果</a:t>
            </a:r>
          </a:p>
        </p:txBody>
      </p:sp>
    </p:spTree>
    <p:extLst>
      <p:ext uri="{BB962C8B-B14F-4D97-AF65-F5344CB8AC3E}">
        <p14:creationId xmlns:p14="http://schemas.microsoft.com/office/powerpoint/2010/main" val="33393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F0181567-F7D0-4343-B7C1-211F743C570C}"/>
              </a:ext>
            </a:extLst>
          </p:cNvPr>
          <p:cNvSpPr/>
          <p:nvPr/>
        </p:nvSpPr>
        <p:spPr>
          <a:xfrm>
            <a:off x="2541588" y="0"/>
            <a:ext cx="6907213" cy="5676900"/>
          </a:xfrm>
          <a:prstGeom prst="triangle">
            <a:avLst/>
          </a:prstGeom>
          <a:noFill/>
          <a:ln>
            <a:solidFill>
              <a:schemeClr val="accent1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A816B2B-96F0-4A05-A735-0D991F8E5595}"/>
              </a:ext>
            </a:extLst>
          </p:cNvPr>
          <p:cNvSpPr/>
          <p:nvPr/>
        </p:nvSpPr>
        <p:spPr>
          <a:xfrm rot="10800000">
            <a:off x="3059113" y="1319213"/>
            <a:ext cx="6008688" cy="4416425"/>
          </a:xfrm>
          <a:prstGeom prst="triangle">
            <a:avLst/>
          </a:prstGeom>
          <a:noFill/>
          <a:ln w="2063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等腰三角形 10">
            <a:extLst>
              <a:ext uri="{FF2B5EF4-FFF2-40B4-BE49-F238E27FC236}">
                <a16:creationId xmlns:a16="http://schemas.microsoft.com/office/drawing/2014/main" id="{3B034A26-43F6-4F69-9BE0-2D399A996E2A}"/>
              </a:ext>
            </a:extLst>
          </p:cNvPr>
          <p:cNvSpPr/>
          <p:nvPr/>
        </p:nvSpPr>
        <p:spPr>
          <a:xfrm rot="7016274">
            <a:off x="1935163" y="454025"/>
            <a:ext cx="3770313" cy="6859588"/>
          </a:xfrm>
          <a:custGeom>
            <a:avLst/>
            <a:gdLst>
              <a:gd name="connsiteX0" fmla="*/ 0 w 7540399"/>
              <a:gd name="connsiteY0" fmla="*/ 6859430 h 6859430"/>
              <a:gd name="connsiteX1" fmla="*/ 3770200 w 7540399"/>
              <a:gd name="connsiteY1" fmla="*/ 0 h 6859430"/>
              <a:gd name="connsiteX2" fmla="*/ 7540399 w 7540399"/>
              <a:gd name="connsiteY2" fmla="*/ 6859430 h 6859430"/>
              <a:gd name="connsiteX3" fmla="*/ 0 w 7540399"/>
              <a:gd name="connsiteY3" fmla="*/ 6859430 h 6859430"/>
              <a:gd name="connsiteX0-1" fmla="*/ 0 w 3770200"/>
              <a:gd name="connsiteY0-2" fmla="*/ 6859430 h 6859430"/>
              <a:gd name="connsiteX1-3" fmla="*/ 3770200 w 3770200"/>
              <a:gd name="connsiteY1-4" fmla="*/ 0 h 6859430"/>
              <a:gd name="connsiteX2-5" fmla="*/ 0 w 3770200"/>
              <a:gd name="connsiteY2-6" fmla="*/ 6859430 h 68594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770200" h="6859430">
                <a:moveTo>
                  <a:pt x="0" y="6859430"/>
                </a:moveTo>
                <a:lnTo>
                  <a:pt x="3770200" y="0"/>
                </a:lnTo>
                <a:lnTo>
                  <a:pt x="0" y="6859430"/>
                </a:lnTo>
                <a:close/>
              </a:path>
            </a:pathLst>
          </a:custGeom>
          <a:solidFill>
            <a:schemeClr val="accent1"/>
          </a:solidFill>
          <a:ln w="2063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任意多边形 2">
            <a:extLst>
              <a:ext uri="{FF2B5EF4-FFF2-40B4-BE49-F238E27FC236}">
                <a16:creationId xmlns:a16="http://schemas.microsoft.com/office/drawing/2014/main" id="{B3DB9AA0-A04A-46A5-9CE6-6652CFE84DB2}"/>
              </a:ext>
            </a:extLst>
          </p:cNvPr>
          <p:cNvSpPr/>
          <p:nvPr/>
        </p:nvSpPr>
        <p:spPr>
          <a:xfrm rot="11211390">
            <a:off x="5659438" y="3959225"/>
            <a:ext cx="922338" cy="866775"/>
          </a:xfrm>
          <a:custGeom>
            <a:avLst/>
            <a:gdLst>
              <a:gd name="connsiteX0" fmla="*/ 0 w 2002971"/>
              <a:gd name="connsiteY0" fmla="*/ 1335314 h 1944914"/>
              <a:gd name="connsiteX1" fmla="*/ 783771 w 2002971"/>
              <a:gd name="connsiteY1" fmla="*/ 0 h 1944914"/>
              <a:gd name="connsiteX2" fmla="*/ 2002971 w 2002971"/>
              <a:gd name="connsiteY2" fmla="*/ 1944914 h 1944914"/>
              <a:gd name="connsiteX0-1" fmla="*/ 0 w 1416184"/>
              <a:gd name="connsiteY0-2" fmla="*/ 1335314 h 1335314"/>
              <a:gd name="connsiteX1-3" fmla="*/ 783771 w 1416184"/>
              <a:gd name="connsiteY1-4" fmla="*/ 0 h 1335314"/>
              <a:gd name="connsiteX2-5" fmla="*/ 1416184 w 1416184"/>
              <a:gd name="connsiteY2-6" fmla="*/ 970990 h 13353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416184" h="1335314">
                <a:moveTo>
                  <a:pt x="0" y="1335314"/>
                </a:moveTo>
                <a:lnTo>
                  <a:pt x="783771" y="0"/>
                </a:lnTo>
                <a:lnTo>
                  <a:pt x="1416184" y="970990"/>
                </a:ln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20">
            <a:extLst>
              <a:ext uri="{FF2B5EF4-FFF2-40B4-BE49-F238E27FC236}">
                <a16:creationId xmlns:a16="http://schemas.microsoft.com/office/drawing/2014/main" id="{BE6523AF-051A-4B4A-8B17-B5BBFFAEAC0E}"/>
              </a:ext>
            </a:extLst>
          </p:cNvPr>
          <p:cNvSpPr/>
          <p:nvPr/>
        </p:nvSpPr>
        <p:spPr>
          <a:xfrm rot="11211631">
            <a:off x="4587875" y="2082800"/>
            <a:ext cx="2930525" cy="1257300"/>
          </a:xfrm>
          <a:custGeom>
            <a:avLst/>
            <a:gdLst>
              <a:gd name="connsiteX0" fmla="*/ 4209143 w 5297714"/>
              <a:gd name="connsiteY0" fmla="*/ 0 h 1770743"/>
              <a:gd name="connsiteX1" fmla="*/ 5297714 w 5297714"/>
              <a:gd name="connsiteY1" fmla="*/ 1770743 h 1770743"/>
              <a:gd name="connsiteX2" fmla="*/ 0 w 5297714"/>
              <a:gd name="connsiteY2" fmla="*/ 1306286 h 1770743"/>
              <a:gd name="connsiteX3" fmla="*/ 769257 w 5297714"/>
              <a:gd name="connsiteY3" fmla="*/ 29029 h 1770743"/>
              <a:gd name="connsiteX0-1" fmla="*/ 4209143 w 5297714"/>
              <a:gd name="connsiteY0-2" fmla="*/ 0 h 1770743"/>
              <a:gd name="connsiteX1-3" fmla="*/ 5297714 w 5297714"/>
              <a:gd name="connsiteY1-4" fmla="*/ 1770743 h 1770743"/>
              <a:gd name="connsiteX2-5" fmla="*/ 0 w 5297714"/>
              <a:gd name="connsiteY2-6" fmla="*/ 1306286 h 1770743"/>
              <a:gd name="connsiteX3-7" fmla="*/ 562856 w 5297714"/>
              <a:gd name="connsiteY3-8" fmla="*/ 395863 h 1770743"/>
              <a:gd name="connsiteX0-9" fmla="*/ 3872553 w 5297714"/>
              <a:gd name="connsiteY0-10" fmla="*/ 0 h 2274831"/>
              <a:gd name="connsiteX1-11" fmla="*/ 5297714 w 5297714"/>
              <a:gd name="connsiteY1-12" fmla="*/ 2274831 h 2274831"/>
              <a:gd name="connsiteX2-13" fmla="*/ 0 w 5297714"/>
              <a:gd name="connsiteY2-14" fmla="*/ 1810374 h 2274831"/>
              <a:gd name="connsiteX3-15" fmla="*/ 562856 w 5297714"/>
              <a:gd name="connsiteY3-16" fmla="*/ 899951 h 22748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297714" h="2274831">
                <a:moveTo>
                  <a:pt x="3872553" y="0"/>
                </a:moveTo>
                <a:lnTo>
                  <a:pt x="5297714" y="2274831"/>
                </a:lnTo>
                <a:lnTo>
                  <a:pt x="0" y="1810374"/>
                </a:lnTo>
                <a:lnTo>
                  <a:pt x="562856" y="899951"/>
                </a:ln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F5EBEF3-F14D-45B5-AC9A-0AE10D94F43B}"/>
              </a:ext>
            </a:extLst>
          </p:cNvPr>
          <p:cNvSpPr txBox="1"/>
          <p:nvPr/>
        </p:nvSpPr>
        <p:spPr>
          <a:xfrm>
            <a:off x="2292350" y="3133725"/>
            <a:ext cx="789305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6000" b="1" kern="1200" cap="none" spc="300" normalizeH="0" baseline="0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155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Words>775</Words>
  <Application>Microsoft Office PowerPoint</Application>
  <PresentationFormat>宽屏</PresentationFormat>
  <Paragraphs>128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等线</vt:lpstr>
      <vt:lpstr>等线 Light</vt:lpstr>
      <vt:lpstr>方正宋刻本秀楷简体</vt:lpstr>
      <vt:lpstr>方正准圆简体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申 珊靛</dc:creator>
  <cp:lastModifiedBy>挺畅 吴</cp:lastModifiedBy>
  <cp:revision>141</cp:revision>
  <dcterms:created xsi:type="dcterms:W3CDTF">2021-03-12T12:02:50Z</dcterms:created>
  <dcterms:modified xsi:type="dcterms:W3CDTF">2025-03-18T13:21:09Z</dcterms:modified>
</cp:coreProperties>
</file>