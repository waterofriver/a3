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5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ee.com/IcathianRain/secure_teleop_robot.git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469024" y="0"/>
            <a:ext cx="5007917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400547" y="998837"/>
            <a:ext cx="11450595" cy="48603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2499995" y="2546350"/>
            <a:ext cx="8011795" cy="1014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6000" b="1">
                <a:solidFill>
                  <a:schemeClr val="accent1"/>
                </a:solidFill>
                <a:latin typeface="+mn-ea"/>
                <a:ea typeface="+mn-ea"/>
                <a:sym typeface="Calibri" panose="020F0502020204030204" charset="0"/>
              </a:rPr>
              <a:t>实验八</a:t>
            </a:r>
            <a:r>
              <a:rPr lang="en-US" altLang="zh-CN" sz="6000" b="1">
                <a:solidFill>
                  <a:schemeClr val="accent1"/>
                </a:solidFill>
                <a:latin typeface="+mn-ea"/>
                <a:ea typeface="+mn-ea"/>
                <a:sym typeface="Calibri" panose="020F0502020204030204" charset="0"/>
              </a:rPr>
              <a:t> RSA</a:t>
            </a:r>
            <a:r>
              <a:rPr lang="zh-CN" altLang="en-US" sz="6000" b="1">
                <a:solidFill>
                  <a:schemeClr val="accent1"/>
                </a:solidFill>
                <a:latin typeface="+mn-ea"/>
                <a:ea typeface="+mn-ea"/>
                <a:sym typeface="Calibri" panose="020F0502020204030204" charset="0"/>
              </a:rPr>
              <a:t>加密通讯</a:t>
            </a:r>
            <a:endParaRPr lang="zh-CN" altLang="en-US" sz="6000" b="1">
              <a:solidFill>
                <a:schemeClr val="accent1"/>
              </a:solidFill>
              <a:latin typeface="+mn-ea"/>
              <a:ea typeface="+mn-ea"/>
              <a:sym typeface="Calibri" panose="020F050202020403020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939450" y="4160852"/>
            <a:ext cx="372724" cy="0"/>
          </a:xfrm>
          <a:prstGeom prst="line">
            <a:avLst/>
          </a:prstGeom>
          <a:ln w="19050">
            <a:solidFill>
              <a:srgbClr val="3457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3567367" y="447738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1" name="文本框 10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4018345" y="4531275"/>
            <a:ext cx="2762533" cy="378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charset="0"/>
              </a:rPr>
              <a:t>日期：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charset="0"/>
              </a:rPr>
              <a:t>2022.03</a:t>
            </a:r>
            <a:endParaRPr lang="zh-CN" altLang="en-US" sz="1865">
              <a:solidFill>
                <a:srgbClr val="345780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312174" y="4473316"/>
            <a:ext cx="468069" cy="468069"/>
          </a:xfrm>
          <a:prstGeom prst="ellipse">
            <a:avLst/>
          </a:prstGeom>
          <a:solidFill>
            <a:srgbClr val="345780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rgbClr val="212834"/>
              </a:solidFill>
            </a:endParaRPr>
          </a:p>
        </p:txBody>
      </p:sp>
      <p:sp>
        <p:nvSpPr>
          <p:cNvPr id="13" name="文本框 12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6762516" y="4531016"/>
            <a:ext cx="2762533" cy="379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865755" algn="l"/>
              </a:tabLst>
            </a:pP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charset="0"/>
              </a:rPr>
              <a:t>内容：</a:t>
            </a:r>
            <a:r>
              <a:rPr lang="en-US" altLang="zh-CN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charset="0"/>
              </a:rPr>
              <a:t>ROS</a:t>
            </a:r>
            <a:r>
              <a:rPr lang="zh-CN" altLang="en-US" sz="1865">
                <a:solidFill>
                  <a:srgbClr val="345780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charset="0"/>
              </a:rPr>
              <a:t>进阶</a:t>
            </a:r>
            <a:endParaRPr lang="zh-CN" altLang="en-US" sz="1865">
              <a:solidFill>
                <a:srgbClr val="345780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charset="0"/>
            </a:endParaRPr>
          </a:p>
        </p:txBody>
      </p:sp>
      <p:grpSp>
        <p:nvGrpSpPr>
          <p:cNvPr id="14" name="Group 59"/>
          <p:cNvGrpSpPr>
            <a:grpSpLocks noChangeAspect="1"/>
          </p:cNvGrpSpPr>
          <p:nvPr/>
        </p:nvGrpSpPr>
        <p:grpSpPr bwMode="auto">
          <a:xfrm>
            <a:off x="3652872" y="4551022"/>
            <a:ext cx="290891" cy="317537"/>
            <a:chOff x="1066" y="1985"/>
            <a:chExt cx="262" cy="286"/>
          </a:xfrm>
          <a:solidFill>
            <a:schemeClr val="bg1"/>
          </a:solidFill>
        </p:grpSpPr>
        <p:sp>
          <p:nvSpPr>
            <p:cNvPr id="15" name="Freeform 60"/>
            <p:cNvSpPr>
              <a:spLocks noEditPoints="1"/>
            </p:cNvSpPr>
            <p:nvPr/>
          </p:nvSpPr>
          <p:spPr bwMode="auto">
            <a:xfrm>
              <a:off x="1066" y="2005"/>
              <a:ext cx="262" cy="266"/>
            </a:xfrm>
            <a:custGeom>
              <a:avLst/>
              <a:gdLst>
                <a:gd name="T0" fmla="*/ 572 w 642"/>
                <a:gd name="T1" fmla="*/ 655 h 655"/>
                <a:gd name="T2" fmla="*/ 70 w 642"/>
                <a:gd name="T3" fmla="*/ 655 h 655"/>
                <a:gd name="T4" fmla="*/ 19 w 642"/>
                <a:gd name="T5" fmla="*/ 630 h 655"/>
                <a:gd name="T6" fmla="*/ 0 w 642"/>
                <a:gd name="T7" fmla="*/ 575 h 655"/>
                <a:gd name="T8" fmla="*/ 0 w 642"/>
                <a:gd name="T9" fmla="*/ 80 h 655"/>
                <a:gd name="T10" fmla="*/ 19 w 642"/>
                <a:gd name="T11" fmla="*/ 25 h 655"/>
                <a:gd name="T12" fmla="*/ 70 w 642"/>
                <a:gd name="T13" fmla="*/ 0 h 655"/>
                <a:gd name="T14" fmla="*/ 93 w 642"/>
                <a:gd name="T15" fmla="*/ 0 h 655"/>
                <a:gd name="T16" fmla="*/ 111 w 642"/>
                <a:gd name="T17" fmla="*/ 18 h 655"/>
                <a:gd name="T18" fmla="*/ 93 w 642"/>
                <a:gd name="T19" fmla="*/ 36 h 655"/>
                <a:gd name="T20" fmla="*/ 70 w 642"/>
                <a:gd name="T21" fmla="*/ 36 h 655"/>
                <a:gd name="T22" fmla="*/ 47 w 642"/>
                <a:gd name="T23" fmla="*/ 48 h 655"/>
                <a:gd name="T24" fmla="*/ 36 w 642"/>
                <a:gd name="T25" fmla="*/ 80 h 655"/>
                <a:gd name="T26" fmla="*/ 36 w 642"/>
                <a:gd name="T27" fmla="*/ 575 h 655"/>
                <a:gd name="T28" fmla="*/ 47 w 642"/>
                <a:gd name="T29" fmla="*/ 607 h 655"/>
                <a:gd name="T30" fmla="*/ 70 w 642"/>
                <a:gd name="T31" fmla="*/ 619 h 655"/>
                <a:gd name="T32" fmla="*/ 572 w 642"/>
                <a:gd name="T33" fmla="*/ 619 h 655"/>
                <a:gd name="T34" fmla="*/ 595 w 642"/>
                <a:gd name="T35" fmla="*/ 607 h 655"/>
                <a:gd name="T36" fmla="*/ 606 w 642"/>
                <a:gd name="T37" fmla="*/ 575 h 655"/>
                <a:gd name="T38" fmla="*/ 606 w 642"/>
                <a:gd name="T39" fmla="*/ 80 h 655"/>
                <a:gd name="T40" fmla="*/ 595 w 642"/>
                <a:gd name="T41" fmla="*/ 48 h 655"/>
                <a:gd name="T42" fmla="*/ 572 w 642"/>
                <a:gd name="T43" fmla="*/ 36 h 655"/>
                <a:gd name="T44" fmla="*/ 547 w 642"/>
                <a:gd name="T45" fmla="*/ 36 h 655"/>
                <a:gd name="T46" fmla="*/ 529 w 642"/>
                <a:gd name="T47" fmla="*/ 18 h 655"/>
                <a:gd name="T48" fmla="*/ 547 w 642"/>
                <a:gd name="T49" fmla="*/ 0 h 655"/>
                <a:gd name="T50" fmla="*/ 572 w 642"/>
                <a:gd name="T51" fmla="*/ 0 h 655"/>
                <a:gd name="T52" fmla="*/ 622 w 642"/>
                <a:gd name="T53" fmla="*/ 25 h 655"/>
                <a:gd name="T54" fmla="*/ 642 w 642"/>
                <a:gd name="T55" fmla="*/ 80 h 655"/>
                <a:gd name="T56" fmla="*/ 642 w 642"/>
                <a:gd name="T57" fmla="*/ 575 h 655"/>
                <a:gd name="T58" fmla="*/ 622 w 642"/>
                <a:gd name="T59" fmla="*/ 630 h 655"/>
                <a:gd name="T60" fmla="*/ 572 w 642"/>
                <a:gd name="T61" fmla="*/ 655 h 655"/>
                <a:gd name="T62" fmla="*/ 418 w 642"/>
                <a:gd name="T63" fmla="*/ 36 h 655"/>
                <a:gd name="T64" fmla="*/ 224 w 642"/>
                <a:gd name="T65" fmla="*/ 36 h 655"/>
                <a:gd name="T66" fmla="*/ 206 w 642"/>
                <a:gd name="T67" fmla="*/ 18 h 655"/>
                <a:gd name="T68" fmla="*/ 224 w 642"/>
                <a:gd name="T69" fmla="*/ 0 h 655"/>
                <a:gd name="T70" fmla="*/ 418 w 642"/>
                <a:gd name="T71" fmla="*/ 0 h 655"/>
                <a:gd name="T72" fmla="*/ 436 w 642"/>
                <a:gd name="T73" fmla="*/ 18 h 655"/>
                <a:gd name="T74" fmla="*/ 418 w 642"/>
                <a:gd name="T75" fmla="*/ 36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2" h="655">
                  <a:moveTo>
                    <a:pt x="572" y="655"/>
                  </a:moveTo>
                  <a:cubicBezTo>
                    <a:pt x="70" y="655"/>
                    <a:pt x="70" y="655"/>
                    <a:pt x="70" y="655"/>
                  </a:cubicBezTo>
                  <a:cubicBezTo>
                    <a:pt x="51" y="655"/>
                    <a:pt x="33" y="646"/>
                    <a:pt x="19" y="630"/>
                  </a:cubicBezTo>
                  <a:cubicBezTo>
                    <a:pt x="7" y="615"/>
                    <a:pt x="0" y="596"/>
                    <a:pt x="0" y="575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60"/>
                    <a:pt x="7" y="40"/>
                    <a:pt x="19" y="25"/>
                  </a:cubicBezTo>
                  <a:cubicBezTo>
                    <a:pt x="33" y="9"/>
                    <a:pt x="51" y="0"/>
                    <a:pt x="70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03" y="0"/>
                    <a:pt x="111" y="8"/>
                    <a:pt x="111" y="18"/>
                  </a:cubicBezTo>
                  <a:cubicBezTo>
                    <a:pt x="111" y="28"/>
                    <a:pt x="103" y="36"/>
                    <a:pt x="93" y="36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61" y="36"/>
                    <a:pt x="53" y="40"/>
                    <a:pt x="47" y="48"/>
                  </a:cubicBezTo>
                  <a:cubicBezTo>
                    <a:pt x="40" y="56"/>
                    <a:pt x="36" y="68"/>
                    <a:pt x="36" y="80"/>
                  </a:cubicBezTo>
                  <a:cubicBezTo>
                    <a:pt x="36" y="575"/>
                    <a:pt x="36" y="575"/>
                    <a:pt x="36" y="575"/>
                  </a:cubicBezTo>
                  <a:cubicBezTo>
                    <a:pt x="36" y="587"/>
                    <a:pt x="40" y="599"/>
                    <a:pt x="47" y="607"/>
                  </a:cubicBezTo>
                  <a:cubicBezTo>
                    <a:pt x="53" y="615"/>
                    <a:pt x="61" y="619"/>
                    <a:pt x="70" y="619"/>
                  </a:cubicBezTo>
                  <a:cubicBezTo>
                    <a:pt x="572" y="619"/>
                    <a:pt x="572" y="619"/>
                    <a:pt x="572" y="619"/>
                  </a:cubicBezTo>
                  <a:cubicBezTo>
                    <a:pt x="580" y="619"/>
                    <a:pt x="588" y="615"/>
                    <a:pt x="595" y="607"/>
                  </a:cubicBezTo>
                  <a:cubicBezTo>
                    <a:pt x="602" y="599"/>
                    <a:pt x="606" y="587"/>
                    <a:pt x="606" y="575"/>
                  </a:cubicBezTo>
                  <a:cubicBezTo>
                    <a:pt x="606" y="80"/>
                    <a:pt x="606" y="80"/>
                    <a:pt x="606" y="80"/>
                  </a:cubicBezTo>
                  <a:cubicBezTo>
                    <a:pt x="606" y="68"/>
                    <a:pt x="602" y="56"/>
                    <a:pt x="595" y="48"/>
                  </a:cubicBezTo>
                  <a:cubicBezTo>
                    <a:pt x="588" y="40"/>
                    <a:pt x="580" y="36"/>
                    <a:pt x="572" y="36"/>
                  </a:cubicBezTo>
                  <a:cubicBezTo>
                    <a:pt x="547" y="36"/>
                    <a:pt x="547" y="36"/>
                    <a:pt x="547" y="36"/>
                  </a:cubicBezTo>
                  <a:cubicBezTo>
                    <a:pt x="537" y="36"/>
                    <a:pt x="529" y="28"/>
                    <a:pt x="529" y="18"/>
                  </a:cubicBezTo>
                  <a:cubicBezTo>
                    <a:pt x="529" y="8"/>
                    <a:pt x="537" y="0"/>
                    <a:pt x="547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1" y="0"/>
                    <a:pt x="609" y="9"/>
                    <a:pt x="622" y="25"/>
                  </a:cubicBezTo>
                  <a:cubicBezTo>
                    <a:pt x="635" y="40"/>
                    <a:pt x="642" y="60"/>
                    <a:pt x="642" y="80"/>
                  </a:cubicBezTo>
                  <a:cubicBezTo>
                    <a:pt x="642" y="575"/>
                    <a:pt x="642" y="575"/>
                    <a:pt x="642" y="575"/>
                  </a:cubicBezTo>
                  <a:cubicBezTo>
                    <a:pt x="642" y="596"/>
                    <a:pt x="635" y="615"/>
                    <a:pt x="622" y="630"/>
                  </a:cubicBezTo>
                  <a:cubicBezTo>
                    <a:pt x="609" y="646"/>
                    <a:pt x="591" y="655"/>
                    <a:pt x="572" y="655"/>
                  </a:cubicBezTo>
                  <a:close/>
                  <a:moveTo>
                    <a:pt x="418" y="36"/>
                  </a:moveTo>
                  <a:cubicBezTo>
                    <a:pt x="224" y="36"/>
                    <a:pt x="224" y="36"/>
                    <a:pt x="224" y="36"/>
                  </a:cubicBezTo>
                  <a:cubicBezTo>
                    <a:pt x="214" y="36"/>
                    <a:pt x="206" y="28"/>
                    <a:pt x="206" y="18"/>
                  </a:cubicBezTo>
                  <a:cubicBezTo>
                    <a:pt x="206" y="8"/>
                    <a:pt x="214" y="0"/>
                    <a:pt x="224" y="0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428" y="0"/>
                    <a:pt x="436" y="8"/>
                    <a:pt x="436" y="18"/>
                  </a:cubicBezTo>
                  <a:cubicBezTo>
                    <a:pt x="436" y="28"/>
                    <a:pt x="428" y="36"/>
                    <a:pt x="4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6" name="Freeform 61"/>
            <p:cNvSpPr>
              <a:spLocks noEditPoints="1"/>
            </p:cNvSpPr>
            <p:nvPr/>
          </p:nvSpPr>
          <p:spPr bwMode="auto">
            <a:xfrm>
              <a:off x="1124" y="1985"/>
              <a:ext cx="146" cy="64"/>
            </a:xfrm>
            <a:custGeom>
              <a:avLst/>
              <a:gdLst>
                <a:gd name="T0" fmla="*/ 18 w 357"/>
                <a:gd name="T1" fmla="*/ 0 h 157"/>
                <a:gd name="T2" fmla="*/ 36 w 357"/>
                <a:gd name="T3" fmla="*/ 18 h 157"/>
                <a:gd name="T4" fmla="*/ 36 w 357"/>
                <a:gd name="T5" fmla="*/ 139 h 157"/>
                <a:gd name="T6" fmla="*/ 18 w 357"/>
                <a:gd name="T7" fmla="*/ 157 h 157"/>
                <a:gd name="T8" fmla="*/ 0 w 357"/>
                <a:gd name="T9" fmla="*/ 139 h 157"/>
                <a:gd name="T10" fmla="*/ 0 w 357"/>
                <a:gd name="T11" fmla="*/ 18 h 157"/>
                <a:gd name="T12" fmla="*/ 18 w 357"/>
                <a:gd name="T13" fmla="*/ 0 h 157"/>
                <a:gd name="T14" fmla="*/ 339 w 357"/>
                <a:gd name="T15" fmla="*/ 0 h 157"/>
                <a:gd name="T16" fmla="*/ 357 w 357"/>
                <a:gd name="T17" fmla="*/ 18 h 157"/>
                <a:gd name="T18" fmla="*/ 357 w 357"/>
                <a:gd name="T19" fmla="*/ 139 h 157"/>
                <a:gd name="T20" fmla="*/ 339 w 357"/>
                <a:gd name="T21" fmla="*/ 157 h 157"/>
                <a:gd name="T22" fmla="*/ 321 w 357"/>
                <a:gd name="T23" fmla="*/ 139 h 157"/>
                <a:gd name="T24" fmla="*/ 321 w 357"/>
                <a:gd name="T25" fmla="*/ 18 h 157"/>
                <a:gd name="T26" fmla="*/ 339 w 357"/>
                <a:gd name="T2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7" h="157">
                  <a:moveTo>
                    <a:pt x="18" y="0"/>
                  </a:moveTo>
                  <a:cubicBezTo>
                    <a:pt x="28" y="0"/>
                    <a:pt x="36" y="8"/>
                    <a:pt x="36" y="18"/>
                  </a:cubicBezTo>
                  <a:cubicBezTo>
                    <a:pt x="36" y="139"/>
                    <a:pt x="36" y="139"/>
                    <a:pt x="36" y="139"/>
                  </a:cubicBezTo>
                  <a:cubicBezTo>
                    <a:pt x="36" y="149"/>
                    <a:pt x="28" y="157"/>
                    <a:pt x="18" y="157"/>
                  </a:cubicBezTo>
                  <a:cubicBezTo>
                    <a:pt x="8" y="157"/>
                    <a:pt x="0" y="149"/>
                    <a:pt x="0" y="1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lose/>
                  <a:moveTo>
                    <a:pt x="339" y="0"/>
                  </a:moveTo>
                  <a:cubicBezTo>
                    <a:pt x="349" y="0"/>
                    <a:pt x="357" y="8"/>
                    <a:pt x="357" y="1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7" y="149"/>
                    <a:pt x="349" y="157"/>
                    <a:pt x="339" y="157"/>
                  </a:cubicBezTo>
                  <a:cubicBezTo>
                    <a:pt x="329" y="157"/>
                    <a:pt x="321" y="149"/>
                    <a:pt x="321" y="139"/>
                  </a:cubicBezTo>
                  <a:cubicBezTo>
                    <a:pt x="321" y="18"/>
                    <a:pt x="321" y="18"/>
                    <a:pt x="321" y="18"/>
                  </a:cubicBezTo>
                  <a:cubicBezTo>
                    <a:pt x="321" y="8"/>
                    <a:pt x="329" y="0"/>
                    <a:pt x="33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7" name="Freeform 62"/>
            <p:cNvSpPr>
              <a:spLocks noEditPoints="1"/>
            </p:cNvSpPr>
            <p:nvPr/>
          </p:nvSpPr>
          <p:spPr bwMode="auto">
            <a:xfrm>
              <a:off x="1074" y="2044"/>
              <a:ext cx="246" cy="183"/>
            </a:xfrm>
            <a:custGeom>
              <a:avLst/>
              <a:gdLst>
                <a:gd name="T0" fmla="*/ 0 w 603"/>
                <a:gd name="T1" fmla="*/ 18 h 450"/>
                <a:gd name="T2" fmla="*/ 18 w 603"/>
                <a:gd name="T3" fmla="*/ 0 h 450"/>
                <a:gd name="T4" fmla="*/ 585 w 603"/>
                <a:gd name="T5" fmla="*/ 0 h 450"/>
                <a:gd name="T6" fmla="*/ 603 w 603"/>
                <a:gd name="T7" fmla="*/ 18 h 450"/>
                <a:gd name="T8" fmla="*/ 585 w 603"/>
                <a:gd name="T9" fmla="*/ 36 h 450"/>
                <a:gd name="T10" fmla="*/ 18 w 603"/>
                <a:gd name="T11" fmla="*/ 36 h 450"/>
                <a:gd name="T12" fmla="*/ 0 w 603"/>
                <a:gd name="T13" fmla="*/ 18 h 450"/>
                <a:gd name="T14" fmla="*/ 306 w 603"/>
                <a:gd name="T15" fmla="*/ 450 h 450"/>
                <a:gd name="T16" fmla="*/ 184 w 603"/>
                <a:gd name="T17" fmla="*/ 400 h 450"/>
                <a:gd name="T18" fmla="*/ 134 w 603"/>
                <a:gd name="T19" fmla="*/ 279 h 450"/>
                <a:gd name="T20" fmla="*/ 184 w 603"/>
                <a:gd name="T21" fmla="*/ 158 h 450"/>
                <a:gd name="T22" fmla="*/ 306 w 603"/>
                <a:gd name="T23" fmla="*/ 107 h 450"/>
                <a:gd name="T24" fmla="*/ 324 w 603"/>
                <a:gd name="T25" fmla="*/ 125 h 450"/>
                <a:gd name="T26" fmla="*/ 306 w 603"/>
                <a:gd name="T27" fmla="*/ 143 h 450"/>
                <a:gd name="T28" fmla="*/ 170 w 603"/>
                <a:gd name="T29" fmla="*/ 279 h 450"/>
                <a:gd name="T30" fmla="*/ 306 w 603"/>
                <a:gd name="T31" fmla="*/ 414 h 450"/>
                <a:gd name="T32" fmla="*/ 441 w 603"/>
                <a:gd name="T33" fmla="*/ 279 h 450"/>
                <a:gd name="T34" fmla="*/ 459 w 603"/>
                <a:gd name="T35" fmla="*/ 261 h 450"/>
                <a:gd name="T36" fmla="*/ 477 w 603"/>
                <a:gd name="T37" fmla="*/ 279 h 450"/>
                <a:gd name="T38" fmla="*/ 427 w 603"/>
                <a:gd name="T39" fmla="*/ 400 h 450"/>
                <a:gd name="T40" fmla="*/ 306 w 603"/>
                <a:gd name="T41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3" h="450">
                  <a:moveTo>
                    <a:pt x="0" y="18"/>
                  </a:moveTo>
                  <a:cubicBezTo>
                    <a:pt x="0" y="8"/>
                    <a:pt x="8" y="0"/>
                    <a:pt x="18" y="0"/>
                  </a:cubicBezTo>
                  <a:cubicBezTo>
                    <a:pt x="585" y="0"/>
                    <a:pt x="585" y="0"/>
                    <a:pt x="585" y="0"/>
                  </a:cubicBezTo>
                  <a:cubicBezTo>
                    <a:pt x="595" y="0"/>
                    <a:pt x="603" y="8"/>
                    <a:pt x="603" y="18"/>
                  </a:cubicBezTo>
                  <a:cubicBezTo>
                    <a:pt x="603" y="28"/>
                    <a:pt x="595" y="36"/>
                    <a:pt x="585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lose/>
                  <a:moveTo>
                    <a:pt x="306" y="450"/>
                  </a:moveTo>
                  <a:cubicBezTo>
                    <a:pt x="260" y="450"/>
                    <a:pt x="217" y="433"/>
                    <a:pt x="184" y="400"/>
                  </a:cubicBezTo>
                  <a:cubicBezTo>
                    <a:pt x="152" y="368"/>
                    <a:pt x="134" y="325"/>
                    <a:pt x="134" y="279"/>
                  </a:cubicBezTo>
                  <a:cubicBezTo>
                    <a:pt x="134" y="233"/>
                    <a:pt x="152" y="190"/>
                    <a:pt x="184" y="158"/>
                  </a:cubicBezTo>
                  <a:cubicBezTo>
                    <a:pt x="217" y="125"/>
                    <a:pt x="260" y="107"/>
                    <a:pt x="306" y="107"/>
                  </a:cubicBezTo>
                  <a:cubicBezTo>
                    <a:pt x="316" y="107"/>
                    <a:pt x="324" y="115"/>
                    <a:pt x="324" y="125"/>
                  </a:cubicBezTo>
                  <a:cubicBezTo>
                    <a:pt x="324" y="135"/>
                    <a:pt x="316" y="143"/>
                    <a:pt x="306" y="143"/>
                  </a:cubicBezTo>
                  <a:cubicBezTo>
                    <a:pt x="231" y="143"/>
                    <a:pt x="170" y="204"/>
                    <a:pt x="170" y="279"/>
                  </a:cubicBezTo>
                  <a:cubicBezTo>
                    <a:pt x="170" y="354"/>
                    <a:pt x="231" y="414"/>
                    <a:pt x="306" y="414"/>
                  </a:cubicBezTo>
                  <a:cubicBezTo>
                    <a:pt x="380" y="414"/>
                    <a:pt x="441" y="354"/>
                    <a:pt x="441" y="279"/>
                  </a:cubicBezTo>
                  <a:cubicBezTo>
                    <a:pt x="441" y="269"/>
                    <a:pt x="449" y="261"/>
                    <a:pt x="459" y="261"/>
                  </a:cubicBezTo>
                  <a:cubicBezTo>
                    <a:pt x="469" y="261"/>
                    <a:pt x="477" y="269"/>
                    <a:pt x="477" y="279"/>
                  </a:cubicBezTo>
                  <a:cubicBezTo>
                    <a:pt x="477" y="325"/>
                    <a:pt x="459" y="368"/>
                    <a:pt x="427" y="400"/>
                  </a:cubicBezTo>
                  <a:cubicBezTo>
                    <a:pt x="395" y="433"/>
                    <a:pt x="351" y="450"/>
                    <a:pt x="30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18" name="Freeform 63"/>
            <p:cNvSpPr/>
            <p:nvPr/>
          </p:nvSpPr>
          <p:spPr bwMode="auto">
            <a:xfrm>
              <a:off x="1193" y="2088"/>
              <a:ext cx="53" cy="72"/>
            </a:xfrm>
            <a:custGeom>
              <a:avLst/>
              <a:gdLst>
                <a:gd name="T0" fmla="*/ 113 w 131"/>
                <a:gd name="T1" fmla="*/ 176 h 176"/>
                <a:gd name="T2" fmla="*/ 18 w 131"/>
                <a:gd name="T3" fmla="*/ 176 h 176"/>
                <a:gd name="T4" fmla="*/ 0 w 131"/>
                <a:gd name="T5" fmla="*/ 158 h 176"/>
                <a:gd name="T6" fmla="*/ 0 w 131"/>
                <a:gd name="T7" fmla="*/ 18 h 176"/>
                <a:gd name="T8" fmla="*/ 18 w 131"/>
                <a:gd name="T9" fmla="*/ 0 h 176"/>
                <a:gd name="T10" fmla="*/ 36 w 131"/>
                <a:gd name="T11" fmla="*/ 18 h 176"/>
                <a:gd name="T12" fmla="*/ 36 w 131"/>
                <a:gd name="T13" fmla="*/ 140 h 176"/>
                <a:gd name="T14" fmla="*/ 113 w 131"/>
                <a:gd name="T15" fmla="*/ 140 h 176"/>
                <a:gd name="T16" fmla="*/ 131 w 131"/>
                <a:gd name="T17" fmla="*/ 158 h 176"/>
                <a:gd name="T18" fmla="*/ 113 w 131"/>
                <a:gd name="T1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1" h="176">
                  <a:moveTo>
                    <a:pt x="113" y="176"/>
                  </a:moveTo>
                  <a:cubicBezTo>
                    <a:pt x="18" y="176"/>
                    <a:pt x="18" y="176"/>
                    <a:pt x="18" y="176"/>
                  </a:cubicBezTo>
                  <a:cubicBezTo>
                    <a:pt x="8" y="176"/>
                    <a:pt x="0" y="168"/>
                    <a:pt x="0" y="15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23" y="140"/>
                    <a:pt x="131" y="148"/>
                    <a:pt x="131" y="158"/>
                  </a:cubicBezTo>
                  <a:cubicBezTo>
                    <a:pt x="131" y="168"/>
                    <a:pt x="123" y="176"/>
                    <a:pt x="113" y="1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grpSp>
        <p:nvGrpSpPr>
          <p:cNvPr id="19" name="Group 66"/>
          <p:cNvGrpSpPr>
            <a:grpSpLocks noChangeAspect="1"/>
          </p:cNvGrpSpPr>
          <p:nvPr/>
        </p:nvGrpSpPr>
        <p:grpSpPr bwMode="auto">
          <a:xfrm>
            <a:off x="6418151" y="4542797"/>
            <a:ext cx="256116" cy="277284"/>
            <a:chOff x="2111" y="2322"/>
            <a:chExt cx="121" cy="131"/>
          </a:xfrm>
          <a:solidFill>
            <a:schemeClr val="bg1"/>
          </a:solidFill>
        </p:grpSpPr>
        <p:sp>
          <p:nvSpPr>
            <p:cNvPr id="20" name="Freeform 67"/>
            <p:cNvSpPr/>
            <p:nvPr/>
          </p:nvSpPr>
          <p:spPr bwMode="auto">
            <a:xfrm>
              <a:off x="2159" y="2350"/>
              <a:ext cx="40" cy="37"/>
            </a:xfrm>
            <a:custGeom>
              <a:avLst/>
              <a:gdLst>
                <a:gd name="T0" fmla="*/ 89 w 213"/>
                <a:gd name="T1" fmla="*/ 19 h 198"/>
                <a:gd name="T2" fmla="*/ 196 w 213"/>
                <a:gd name="T3" fmla="*/ 143 h 198"/>
                <a:gd name="T4" fmla="*/ 208 w 213"/>
                <a:gd name="T5" fmla="*/ 189 h 198"/>
                <a:gd name="T6" fmla="*/ 206 w 213"/>
                <a:gd name="T7" fmla="*/ 191 h 198"/>
                <a:gd name="T8" fmla="*/ 158 w 213"/>
                <a:gd name="T9" fmla="*/ 186 h 198"/>
                <a:gd name="T10" fmla="*/ 22 w 213"/>
                <a:gd name="T11" fmla="*/ 92 h 198"/>
                <a:gd name="T12" fmla="*/ 13 w 213"/>
                <a:gd name="T13" fmla="*/ 44 h 198"/>
                <a:gd name="T14" fmla="*/ 40 w 213"/>
                <a:gd name="T15" fmla="*/ 15 h 198"/>
                <a:gd name="T16" fmla="*/ 89 w 213"/>
                <a:gd name="T17" fmla="*/ 1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3" h="198">
                  <a:moveTo>
                    <a:pt x="89" y="19"/>
                  </a:moveTo>
                  <a:cubicBezTo>
                    <a:pt x="196" y="143"/>
                    <a:pt x="196" y="143"/>
                    <a:pt x="196" y="143"/>
                  </a:cubicBezTo>
                  <a:cubicBezTo>
                    <a:pt x="210" y="160"/>
                    <a:pt x="213" y="183"/>
                    <a:pt x="208" y="189"/>
                  </a:cubicBezTo>
                  <a:cubicBezTo>
                    <a:pt x="206" y="191"/>
                    <a:pt x="206" y="191"/>
                    <a:pt x="206" y="191"/>
                  </a:cubicBezTo>
                  <a:cubicBezTo>
                    <a:pt x="200" y="197"/>
                    <a:pt x="176" y="198"/>
                    <a:pt x="158" y="186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4" y="80"/>
                    <a:pt x="0" y="58"/>
                    <a:pt x="13" y="44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53" y="0"/>
                    <a:pt x="74" y="2"/>
                    <a:pt x="89" y="1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1" name="Freeform 68"/>
            <p:cNvSpPr>
              <a:spLocks noEditPoints="1"/>
            </p:cNvSpPr>
            <p:nvPr/>
          </p:nvSpPr>
          <p:spPr bwMode="auto">
            <a:xfrm>
              <a:off x="2129" y="2322"/>
              <a:ext cx="71" cy="90"/>
            </a:xfrm>
            <a:custGeom>
              <a:avLst/>
              <a:gdLst>
                <a:gd name="T0" fmla="*/ 142 w 381"/>
                <a:gd name="T1" fmla="*/ 449 h 481"/>
                <a:gd name="T2" fmla="*/ 348 w 381"/>
                <a:gd name="T3" fmla="*/ 236 h 481"/>
                <a:gd name="T4" fmla="*/ 374 w 381"/>
                <a:gd name="T5" fmla="*/ 235 h 481"/>
                <a:gd name="T6" fmla="*/ 374 w 381"/>
                <a:gd name="T7" fmla="*/ 260 h 481"/>
                <a:gd name="T8" fmla="*/ 168 w 381"/>
                <a:gd name="T9" fmla="*/ 474 h 481"/>
                <a:gd name="T10" fmla="*/ 142 w 381"/>
                <a:gd name="T11" fmla="*/ 474 h 481"/>
                <a:gd name="T12" fmla="*/ 142 w 381"/>
                <a:gd name="T13" fmla="*/ 449 h 481"/>
                <a:gd name="T14" fmla="*/ 122 w 381"/>
                <a:gd name="T15" fmla="*/ 245 h 481"/>
                <a:gd name="T16" fmla="*/ 0 w 381"/>
                <a:gd name="T17" fmla="*/ 123 h 481"/>
                <a:gd name="T18" fmla="*/ 20 w 381"/>
                <a:gd name="T19" fmla="*/ 56 h 481"/>
                <a:gd name="T20" fmla="*/ 45 w 381"/>
                <a:gd name="T21" fmla="*/ 51 h 481"/>
                <a:gd name="T22" fmla="*/ 50 w 381"/>
                <a:gd name="T23" fmla="*/ 76 h 481"/>
                <a:gd name="T24" fmla="*/ 36 w 381"/>
                <a:gd name="T25" fmla="*/ 123 h 481"/>
                <a:gd name="T26" fmla="*/ 122 w 381"/>
                <a:gd name="T27" fmla="*/ 209 h 481"/>
                <a:gd name="T28" fmla="*/ 209 w 381"/>
                <a:gd name="T29" fmla="*/ 123 h 481"/>
                <a:gd name="T30" fmla="*/ 133 w 381"/>
                <a:gd name="T31" fmla="*/ 37 h 481"/>
                <a:gd name="T32" fmla="*/ 117 w 381"/>
                <a:gd name="T33" fmla="*/ 17 h 481"/>
                <a:gd name="T34" fmla="*/ 137 w 381"/>
                <a:gd name="T35" fmla="*/ 2 h 481"/>
                <a:gd name="T36" fmla="*/ 245 w 381"/>
                <a:gd name="T37" fmla="*/ 123 h 481"/>
                <a:gd name="T38" fmla="*/ 122 w 381"/>
                <a:gd name="T39" fmla="*/ 245 h 481"/>
                <a:gd name="T40" fmla="*/ 67 w 381"/>
                <a:gd name="T41" fmla="*/ 52 h 481"/>
                <a:gd name="T42" fmla="*/ 52 w 381"/>
                <a:gd name="T43" fmla="*/ 44 h 481"/>
                <a:gd name="T44" fmla="*/ 58 w 381"/>
                <a:gd name="T45" fmla="*/ 19 h 481"/>
                <a:gd name="T46" fmla="*/ 81 w 381"/>
                <a:gd name="T47" fmla="*/ 8 h 481"/>
                <a:gd name="T48" fmla="*/ 104 w 381"/>
                <a:gd name="T49" fmla="*/ 19 h 481"/>
                <a:gd name="T50" fmla="*/ 93 w 381"/>
                <a:gd name="T51" fmla="*/ 42 h 481"/>
                <a:gd name="T52" fmla="*/ 77 w 381"/>
                <a:gd name="T53" fmla="*/ 50 h 481"/>
                <a:gd name="T54" fmla="*/ 67 w 381"/>
                <a:gd name="T55" fmla="*/ 52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1" h="481">
                  <a:moveTo>
                    <a:pt x="142" y="449"/>
                  </a:moveTo>
                  <a:cubicBezTo>
                    <a:pt x="348" y="236"/>
                    <a:pt x="348" y="236"/>
                    <a:pt x="348" y="236"/>
                  </a:cubicBezTo>
                  <a:cubicBezTo>
                    <a:pt x="355" y="228"/>
                    <a:pt x="366" y="228"/>
                    <a:pt x="374" y="235"/>
                  </a:cubicBezTo>
                  <a:cubicBezTo>
                    <a:pt x="381" y="242"/>
                    <a:pt x="381" y="253"/>
                    <a:pt x="374" y="260"/>
                  </a:cubicBezTo>
                  <a:cubicBezTo>
                    <a:pt x="168" y="474"/>
                    <a:pt x="168" y="474"/>
                    <a:pt x="168" y="474"/>
                  </a:cubicBezTo>
                  <a:cubicBezTo>
                    <a:pt x="161" y="481"/>
                    <a:pt x="150" y="481"/>
                    <a:pt x="142" y="474"/>
                  </a:cubicBezTo>
                  <a:cubicBezTo>
                    <a:pt x="135" y="467"/>
                    <a:pt x="135" y="456"/>
                    <a:pt x="142" y="449"/>
                  </a:cubicBezTo>
                  <a:close/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99"/>
                    <a:pt x="7" y="76"/>
                    <a:pt x="20" y="56"/>
                  </a:cubicBezTo>
                  <a:cubicBezTo>
                    <a:pt x="26" y="48"/>
                    <a:pt x="37" y="45"/>
                    <a:pt x="45" y="51"/>
                  </a:cubicBezTo>
                  <a:cubicBezTo>
                    <a:pt x="53" y="56"/>
                    <a:pt x="56" y="67"/>
                    <a:pt x="50" y="76"/>
                  </a:cubicBezTo>
                  <a:cubicBezTo>
                    <a:pt x="41" y="90"/>
                    <a:pt x="36" y="106"/>
                    <a:pt x="36" y="123"/>
                  </a:cubicBezTo>
                  <a:cubicBezTo>
                    <a:pt x="36" y="171"/>
                    <a:pt x="75" y="209"/>
                    <a:pt x="122" y="209"/>
                  </a:cubicBezTo>
                  <a:cubicBezTo>
                    <a:pt x="170" y="209"/>
                    <a:pt x="209" y="171"/>
                    <a:pt x="209" y="123"/>
                  </a:cubicBezTo>
                  <a:cubicBezTo>
                    <a:pt x="209" y="79"/>
                    <a:pt x="176" y="42"/>
                    <a:pt x="133" y="37"/>
                  </a:cubicBezTo>
                  <a:cubicBezTo>
                    <a:pt x="123" y="36"/>
                    <a:pt x="116" y="27"/>
                    <a:pt x="117" y="17"/>
                  </a:cubicBezTo>
                  <a:cubicBezTo>
                    <a:pt x="118" y="7"/>
                    <a:pt x="127" y="0"/>
                    <a:pt x="137" y="2"/>
                  </a:cubicBezTo>
                  <a:cubicBezTo>
                    <a:pt x="198" y="9"/>
                    <a:pt x="245" y="61"/>
                    <a:pt x="245" y="123"/>
                  </a:cubicBezTo>
                  <a:cubicBezTo>
                    <a:pt x="245" y="190"/>
                    <a:pt x="190" y="245"/>
                    <a:pt x="122" y="245"/>
                  </a:cubicBezTo>
                  <a:close/>
                  <a:moveTo>
                    <a:pt x="67" y="52"/>
                  </a:moveTo>
                  <a:cubicBezTo>
                    <a:pt x="61" y="52"/>
                    <a:pt x="55" y="50"/>
                    <a:pt x="52" y="44"/>
                  </a:cubicBezTo>
                  <a:cubicBezTo>
                    <a:pt x="47" y="36"/>
                    <a:pt x="49" y="25"/>
                    <a:pt x="58" y="19"/>
                  </a:cubicBezTo>
                  <a:cubicBezTo>
                    <a:pt x="65" y="15"/>
                    <a:pt x="73" y="11"/>
                    <a:pt x="81" y="8"/>
                  </a:cubicBezTo>
                  <a:cubicBezTo>
                    <a:pt x="91" y="5"/>
                    <a:pt x="101" y="9"/>
                    <a:pt x="104" y="19"/>
                  </a:cubicBezTo>
                  <a:cubicBezTo>
                    <a:pt x="107" y="28"/>
                    <a:pt x="103" y="38"/>
                    <a:pt x="93" y="42"/>
                  </a:cubicBezTo>
                  <a:cubicBezTo>
                    <a:pt x="87" y="44"/>
                    <a:pt x="82" y="47"/>
                    <a:pt x="77" y="50"/>
                  </a:cubicBezTo>
                  <a:cubicBezTo>
                    <a:pt x="74" y="52"/>
                    <a:pt x="71" y="52"/>
                    <a:pt x="67" y="5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  <p:sp>
          <p:nvSpPr>
            <p:cNvPr id="22" name="Freeform 69"/>
            <p:cNvSpPr>
              <a:spLocks noEditPoints="1"/>
            </p:cNvSpPr>
            <p:nvPr/>
          </p:nvSpPr>
          <p:spPr bwMode="auto">
            <a:xfrm>
              <a:off x="2111" y="2406"/>
              <a:ext cx="121" cy="47"/>
            </a:xfrm>
            <a:custGeom>
              <a:avLst/>
              <a:gdLst>
                <a:gd name="T0" fmla="*/ 597 w 648"/>
                <a:gd name="T1" fmla="*/ 249 h 249"/>
                <a:gd name="T2" fmla="*/ 50 w 648"/>
                <a:gd name="T3" fmla="*/ 249 h 249"/>
                <a:gd name="T4" fmla="*/ 0 w 648"/>
                <a:gd name="T5" fmla="*/ 198 h 249"/>
                <a:gd name="T6" fmla="*/ 0 w 648"/>
                <a:gd name="T7" fmla="*/ 50 h 249"/>
                <a:gd name="T8" fmla="*/ 50 w 648"/>
                <a:gd name="T9" fmla="*/ 0 h 249"/>
                <a:gd name="T10" fmla="*/ 597 w 648"/>
                <a:gd name="T11" fmla="*/ 0 h 249"/>
                <a:gd name="T12" fmla="*/ 648 w 648"/>
                <a:gd name="T13" fmla="*/ 50 h 249"/>
                <a:gd name="T14" fmla="*/ 648 w 648"/>
                <a:gd name="T15" fmla="*/ 198 h 249"/>
                <a:gd name="T16" fmla="*/ 597 w 648"/>
                <a:gd name="T17" fmla="*/ 249 h 249"/>
                <a:gd name="T18" fmla="*/ 50 w 648"/>
                <a:gd name="T19" fmla="*/ 35 h 249"/>
                <a:gd name="T20" fmla="*/ 36 w 648"/>
                <a:gd name="T21" fmla="*/ 50 h 249"/>
                <a:gd name="T22" fmla="*/ 36 w 648"/>
                <a:gd name="T23" fmla="*/ 198 h 249"/>
                <a:gd name="T24" fmla="*/ 50 w 648"/>
                <a:gd name="T25" fmla="*/ 213 h 249"/>
                <a:gd name="T26" fmla="*/ 597 w 648"/>
                <a:gd name="T27" fmla="*/ 213 h 249"/>
                <a:gd name="T28" fmla="*/ 612 w 648"/>
                <a:gd name="T29" fmla="*/ 198 h 249"/>
                <a:gd name="T30" fmla="*/ 612 w 648"/>
                <a:gd name="T31" fmla="*/ 50 h 249"/>
                <a:gd name="T32" fmla="*/ 597 w 648"/>
                <a:gd name="T33" fmla="*/ 35 h 249"/>
                <a:gd name="T34" fmla="*/ 50 w 648"/>
                <a:gd name="T35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8" h="249">
                  <a:moveTo>
                    <a:pt x="597" y="249"/>
                  </a:moveTo>
                  <a:cubicBezTo>
                    <a:pt x="50" y="249"/>
                    <a:pt x="50" y="249"/>
                    <a:pt x="50" y="249"/>
                  </a:cubicBezTo>
                  <a:cubicBezTo>
                    <a:pt x="22" y="249"/>
                    <a:pt x="0" y="226"/>
                    <a:pt x="0" y="19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625" y="0"/>
                    <a:pt x="648" y="22"/>
                    <a:pt x="648" y="50"/>
                  </a:cubicBezTo>
                  <a:cubicBezTo>
                    <a:pt x="648" y="198"/>
                    <a:pt x="648" y="198"/>
                    <a:pt x="648" y="198"/>
                  </a:cubicBezTo>
                  <a:cubicBezTo>
                    <a:pt x="648" y="226"/>
                    <a:pt x="625" y="249"/>
                    <a:pt x="597" y="249"/>
                  </a:cubicBezTo>
                  <a:close/>
                  <a:moveTo>
                    <a:pt x="50" y="35"/>
                  </a:moveTo>
                  <a:cubicBezTo>
                    <a:pt x="42" y="35"/>
                    <a:pt x="36" y="42"/>
                    <a:pt x="36" y="50"/>
                  </a:cubicBezTo>
                  <a:cubicBezTo>
                    <a:pt x="36" y="198"/>
                    <a:pt x="36" y="198"/>
                    <a:pt x="36" y="198"/>
                  </a:cubicBezTo>
                  <a:cubicBezTo>
                    <a:pt x="36" y="206"/>
                    <a:pt x="42" y="213"/>
                    <a:pt x="50" y="213"/>
                  </a:cubicBezTo>
                  <a:cubicBezTo>
                    <a:pt x="597" y="213"/>
                    <a:pt x="597" y="213"/>
                    <a:pt x="597" y="213"/>
                  </a:cubicBezTo>
                  <a:cubicBezTo>
                    <a:pt x="605" y="213"/>
                    <a:pt x="612" y="206"/>
                    <a:pt x="612" y="198"/>
                  </a:cubicBezTo>
                  <a:cubicBezTo>
                    <a:pt x="612" y="50"/>
                    <a:pt x="612" y="50"/>
                    <a:pt x="612" y="50"/>
                  </a:cubicBezTo>
                  <a:cubicBezTo>
                    <a:pt x="612" y="42"/>
                    <a:pt x="605" y="35"/>
                    <a:pt x="597" y="35"/>
                  </a:cubicBezTo>
                  <a:lnTo>
                    <a:pt x="5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212834"/>
                </a:solidFill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971" y="1397210"/>
            <a:ext cx="3336043" cy="1127763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3469024" y="3707404"/>
            <a:ext cx="58319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华中科技大学 </a:t>
            </a:r>
            <a:r>
              <a:rPr lang="en-US" altLang="zh-CN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2022 ROS</a:t>
            </a:r>
            <a:r>
              <a:rPr lang="zh-CN" altLang="en-US" sz="2000" spc="300">
                <a:solidFill>
                  <a:srgbClr val="34578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创新实践教学 </a:t>
            </a:r>
            <a:endParaRPr lang="zh-CN" altLang="en-US" sz="2000" spc="300">
              <a:solidFill>
                <a:srgbClr val="345780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pic>
        <p:nvPicPr>
          <p:cNvPr id="25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022" y="1415800"/>
            <a:ext cx="3604032" cy="1013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概述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3750" y="1710690"/>
            <a:ext cx="1099947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RSA</a:t>
            </a:r>
            <a:r>
              <a:rPr lang="zh-CN" altLang="en-US" sz="2800" b="1"/>
              <a:t>加密：</a:t>
            </a:r>
            <a:endParaRPr lang="zh-CN" altLang="en-US" sz="2800" b="1"/>
          </a:p>
          <a:p>
            <a:r>
              <a:rPr lang="zh-CN" altLang="en-US" sz="2800"/>
              <a:t>RSA加密是一种非对称加密。可以在不直接传递密钥的情况下，完成解密。这能够确保信息的安全性，避免了直接传递密钥所造成的被破解的风险。</a:t>
            </a:r>
            <a:endParaRPr lang="zh-CN" altLang="en-US" sz="2800"/>
          </a:p>
          <a:p>
            <a:r>
              <a:rPr lang="zh-CN" altLang="en-US" sz="2800"/>
              <a:t>本章针对实验六中的中间人攻击篡改传输信息的安全隐患，提出了使用ARP加密进行传输过程中信息的保护。本章中将使用 pycryptodome（Crypto） 库进行秘钥生成与加解密操作。传递密钥所造成的被破解的风险。</a:t>
            </a:r>
            <a:endParaRPr lang="zh-CN" altLang="en-US" sz="2800"/>
          </a:p>
          <a:p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概述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IMG_25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1200" y="1304290"/>
            <a:ext cx="8444230" cy="44272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2059940" y="5902960"/>
            <a:ext cx="676148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cs typeface="Noto Sans CJK SC Regular" charset="0"/>
              </a:rPr>
              <a:t>非对称加密是通过两个密钥（公钥-私钥）来实现对数据的加密和解密的。公钥用于加密，私钥用于解密。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概述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820" y="1498600"/>
            <a:ext cx="8038465" cy="5359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/>
              <a:t>　　加密思路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79755" y="2539365"/>
            <a:ext cx="1103185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69875" indent="-269875"/>
            <a:r>
              <a:rPr lang="en-US" sz="2400" b="0">
                <a:latin typeface="+mj-ea"/>
                <a:ea typeface="+mj-ea"/>
                <a:cs typeface="+mj-ea"/>
              </a:rPr>
              <a:t>  (1) </a:t>
            </a:r>
            <a:r>
              <a:rPr lang="zh-CN" sz="2400" b="0">
                <a:latin typeface="+mj-ea"/>
                <a:ea typeface="+mj-ea"/>
                <a:cs typeface="+mj-ea"/>
              </a:rPr>
              <a:t>[小车端][generate_key.py]: 秘钥存放目录~/Key0检查是否存在秘钥，若不存在则生成，后将公钥发送给主机端。私钥位于~/Key0/private.pem,公钥位于~/.Key0/public.pem</a:t>
            </a:r>
            <a:r>
              <a:rPr lang="en-US" sz="2400" b="0">
                <a:latin typeface="+mj-ea"/>
                <a:ea typeface="+mj-ea"/>
                <a:cs typeface="+mj-ea"/>
              </a:rPr>
              <a:t>(2) </a:t>
            </a:r>
            <a:r>
              <a:rPr lang="zh-CN" sz="2400" b="0">
                <a:latin typeface="+mj-ea"/>
                <a:ea typeface="+mj-ea"/>
                <a:cs typeface="+mj-ea"/>
              </a:rPr>
              <a:t>[主机端][get_key.py]: 将接收到的公钥写入~/Key1/public.pem文件内</a:t>
            </a:r>
            <a:r>
              <a:rPr lang="en-US" sz="2400" b="0">
                <a:latin typeface="+mj-ea"/>
                <a:ea typeface="+mj-ea"/>
                <a:cs typeface="+mj-ea"/>
              </a:rPr>
              <a:t>(3) </a:t>
            </a:r>
            <a:r>
              <a:rPr lang="zh-CN" sz="2400" b="0">
                <a:latin typeface="+mj-ea"/>
                <a:ea typeface="+mj-ea"/>
                <a:cs typeface="+mj-ea"/>
              </a:rPr>
              <a:t>[主机端][secure_teleop.py]: 将公钥载入内存，读取键盘控制信息，将运动指令抓换为字符串后进行加密，并发送密文。</a:t>
            </a:r>
            <a:r>
              <a:rPr lang="en-US" sz="2400" b="0">
                <a:latin typeface="+mj-ea"/>
                <a:ea typeface="+mj-ea"/>
                <a:cs typeface="+mj-ea"/>
              </a:rPr>
              <a:t>(4) </a:t>
            </a:r>
            <a:r>
              <a:rPr lang="zh-CN" sz="2400" b="0">
                <a:latin typeface="+mj-ea"/>
                <a:ea typeface="+mj-ea"/>
                <a:cs typeface="+mj-ea"/>
              </a:rPr>
              <a:t>[小车端][move.py]: 将私钥载入内存，接收密文后进行解密，并将运动信息发送出去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/>
              <a:t>	</a:t>
            </a:r>
            <a:r>
              <a:rPr lang="zh-CN" altLang="en-US" sz="2400"/>
              <a:t>小车端工作空间(workspace)配置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79755" y="2539365"/>
            <a:ext cx="110318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69875" indent="-269875"/>
            <a:r>
              <a:rPr lang="en-US" sz="2400" b="0">
                <a:latin typeface="+mj-ea"/>
                <a:ea typeface="+mj-ea"/>
                <a:cs typeface="+mj-ea"/>
              </a:rPr>
              <a:t> 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2410" y="1601470"/>
            <a:ext cx="11379200" cy="48926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/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在主目录下创建工作空间</a:t>
            </a:r>
            <a:r>
              <a:rPr lang="en-US" sz="2400" b="0">
                <a:latin typeface="Times New Roman" panose="02020603050405020304" charset="0"/>
                <a:cs typeface="Times New Roman" panose="02020603050405020304" charset="0"/>
              </a:rPr>
              <a:t>workspace: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mkdir -p ~/catkin_ws/src</a:t>
            </a:r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进入src文件夹: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cd ~/catkin_ws/src</a:t>
            </a:r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初始化工作空间</a:t>
            </a:r>
            <a:r>
              <a:rPr lang="en-US" sz="2400" b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catkin_init_workspace</a:t>
            </a:r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克隆源代码：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git clone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hlinkClick r:id="rId1"/>
              </a:rPr>
              <a:t>https://gitee.com/IcathianRain/secure_teleop_robot.git</a:t>
            </a:r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编译代码</a:t>
            </a:r>
            <a:r>
              <a:rPr lang="en-US" sz="2400" b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cd ..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catkin_make</a:t>
            </a:r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设置环境变量(每次开启一个终端均要设置)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source devel/setup.bash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/>
              <a:t>	</a:t>
            </a:r>
            <a:r>
              <a:rPr lang="zh-CN" altLang="en-US" sz="2400"/>
              <a:t>小车端工作空间(workspace)配置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79755" y="2539365"/>
            <a:ext cx="110318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69875" indent="-269875"/>
            <a:r>
              <a:rPr lang="en-US" sz="2400" b="0">
                <a:latin typeface="+mj-ea"/>
                <a:ea typeface="+mj-ea"/>
                <a:cs typeface="+mj-ea"/>
              </a:rPr>
              <a:t> 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395" y="1945640"/>
            <a:ext cx="4518025" cy="35344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709930" y="5893435"/>
            <a:ext cx="36830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 algn="ctr"/>
            <a:r>
              <a:rPr lang="zh-CN" sz="2000" b="0">
                <a:cs typeface="Noto Sans CJK SC Regular" charset="0"/>
              </a:rPr>
              <a:t>图3-3 工程文件目录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5568950" y="2288540"/>
            <a:ext cx="623379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400" b="1">
                <a:cs typeface="Noto Sans CJK SC Regular" charset="0"/>
              </a:rPr>
              <a:t>launch 文件夹：启动小车端加密服务</a:t>
            </a:r>
            <a:r>
              <a:rPr lang="zh-CN" sz="2400" b="0">
                <a:cs typeface="Noto Sans CJK SC Regular" charset="0"/>
              </a:rPr>
              <a:t></a:t>
            </a:r>
            <a:r>
              <a:rPr lang="en-US" altLang="zh-CN" sz="2400" b="0">
                <a:cs typeface="Noto Sans CJK SC Regular" charset="0"/>
              </a:rPr>
              <a:t>	</a:t>
            </a:r>
            <a:r>
              <a:rPr lang="zh-CN" sz="2400" b="0">
                <a:cs typeface="Noto Sans CJK SC Regular" charset="0"/>
              </a:rPr>
              <a:t>secure_teleop_robot.launch 启动文件</a:t>
            </a:r>
            <a:r>
              <a:rPr lang="zh-CN" sz="2400" b="1">
                <a:cs typeface="Noto Sans CJK SC Regular" charset="0"/>
              </a:rPr>
              <a:t>scripts 文件夹：存放python脚本</a:t>
            </a:r>
            <a:r>
              <a:rPr lang="zh-CN" sz="2400" b="0">
                <a:cs typeface="Noto Sans CJK SC Regular" charset="0"/>
              </a:rPr>
              <a:t></a:t>
            </a:r>
            <a:r>
              <a:rPr lang="en-US" altLang="zh-CN" sz="2400" b="0">
                <a:cs typeface="Noto Sans CJK SC Regular" charset="0"/>
              </a:rPr>
              <a:t>	</a:t>
            </a:r>
            <a:r>
              <a:rPr lang="zh-CN" sz="2400" b="0">
                <a:cs typeface="Noto Sans CJK SC Regular" charset="0"/>
              </a:rPr>
              <a:t>generate_key.py 生成秘钥并传输</a:t>
            </a:r>
            <a:r>
              <a:rPr lang="en-US" altLang="zh-CN" sz="2400" b="0">
                <a:cs typeface="Noto Sans CJK SC Regular" charset="0"/>
              </a:rPr>
              <a:t>	</a:t>
            </a:r>
            <a:r>
              <a:rPr lang="zh-CN" sz="2400" b="0">
                <a:cs typeface="Noto Sans CJK SC Regular" charset="0"/>
              </a:rPr>
              <a:t>move.py 接收密文并解密，控制运动</a:t>
            </a:r>
            <a:r>
              <a:rPr lang="zh-CN" sz="2400" b="1">
                <a:cs typeface="Noto Sans CJK SC Regular" charset="0"/>
              </a:rPr>
              <a:t>srv 文件夹 service 传输信息</a:t>
            </a:r>
            <a:r>
              <a:rPr lang="zh-CN" sz="2400" b="0">
                <a:cs typeface="Noto Sans CJK SC Regular" charset="0"/>
              </a:rPr>
              <a:t></a:t>
            </a:r>
            <a:r>
              <a:rPr lang="en-US" altLang="zh-CN" sz="2400" b="0">
                <a:cs typeface="Noto Sans CJK SC Regular" charset="0"/>
              </a:rPr>
              <a:t>	</a:t>
            </a:r>
            <a:r>
              <a:rPr lang="zh-CN" sz="2400" b="0">
                <a:cs typeface="Noto Sans CJK SC Regular" charset="0"/>
              </a:rPr>
              <a:t>key.srv 存放交换秘钥的类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/>
              <a:t>	</a:t>
            </a:r>
            <a:r>
              <a:rPr lang="zh-CN" altLang="en-US" sz="2400"/>
              <a:t>主机端工作空间(workspace)配置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5500" y="1692910"/>
            <a:ext cx="10182225" cy="48926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/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在主目录下创建工作空间</a:t>
            </a:r>
            <a:r>
              <a:rPr lang="en-US" sz="2400" b="0">
                <a:latin typeface="Times New Roman" panose="02020603050405020304" charset="0"/>
                <a:cs typeface="Times New Roman" panose="02020603050405020304" charset="0"/>
              </a:rPr>
              <a:t>workspace: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mkdir -p ~/catkin_ws/src</a:t>
            </a:r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进入src文件夹: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cd ~/catkin_ws/src</a:t>
            </a:r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初始化工作空间</a:t>
            </a:r>
            <a:r>
              <a:rPr lang="en-US" sz="2400" b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catkin_init_workspace</a:t>
            </a:r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克隆源代码：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git clone https://gitee.com/IcathianRain/secure_teleop_remote.git</a:t>
            </a:r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编译代码</a:t>
            </a:r>
            <a:r>
              <a:rPr lang="en-US" sz="2400" b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cd ..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catkin_make</a:t>
            </a:r>
            <a:r>
              <a:rPr lang="zh-CN" sz="2400" b="0">
                <a:latin typeface="Times New Roman" panose="02020603050405020304" charset="0"/>
                <a:cs typeface="Times New Roman" panose="02020603050405020304" charset="0"/>
              </a:rPr>
              <a:t>设置环境变量(每次开启一个终端均要设置)</a:t>
            </a:r>
            <a:r>
              <a:rPr lang="en-US" sz="2400" b="0">
                <a:solidFill>
                  <a:srgbClr val="3399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$ </a:t>
            </a: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source devel/setup.bash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/>
              <a:t>	</a:t>
            </a:r>
            <a:r>
              <a:rPr lang="zh-CN" altLang="en-US" sz="2400"/>
              <a:t>主机端工作空间(workspace)配置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79755" y="2539365"/>
            <a:ext cx="110318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69875" indent="-269875"/>
            <a:r>
              <a:rPr lang="en-US" sz="2400" b="0">
                <a:latin typeface="+mj-ea"/>
                <a:ea typeface="+mj-ea"/>
                <a:cs typeface="+mj-ea"/>
              </a:rPr>
              <a:t> 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9930" y="5893435"/>
            <a:ext cx="36830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 algn="ctr"/>
            <a:r>
              <a:rPr lang="zh-CN" sz="2000" b="0">
                <a:cs typeface="Noto Sans CJK SC Regular" charset="0"/>
              </a:rPr>
              <a:t>图3-</a:t>
            </a:r>
            <a:r>
              <a:rPr lang="en-US" altLang="zh-CN" sz="2000" b="0">
                <a:cs typeface="Noto Sans CJK SC Regular" charset="0"/>
              </a:rPr>
              <a:t>4</a:t>
            </a:r>
            <a:r>
              <a:rPr lang="zh-CN" sz="2000" b="0">
                <a:cs typeface="Noto Sans CJK SC Regular" charset="0"/>
              </a:rPr>
              <a:t> 工程文件目录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5403215" y="2539365"/>
            <a:ext cx="657923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400" b="1">
                <a:cs typeface="Noto Sans CJK SC Regular" charset="0"/>
              </a:rPr>
              <a:t>launch 文件夹：启动小车端加密服务</a:t>
            </a:r>
            <a:endParaRPr lang="zh-CN" sz="2400" b="1">
              <a:cs typeface="Noto Sans CJK SC Regular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2400" b="1">
                <a:cs typeface="Noto Sans CJK SC Regular" charset="0"/>
              </a:rPr>
              <a:t>	</a:t>
            </a:r>
            <a:r>
              <a:rPr lang="zh-CN" sz="2400">
                <a:cs typeface="Noto Sans CJK SC Regular" charset="0"/>
              </a:rPr>
              <a:t>secure_teleop_robot.launch 启动文件</a:t>
            </a:r>
            <a:endParaRPr lang="zh-CN" sz="2400">
              <a:cs typeface="Noto Sans CJK SC Regular" charset="0"/>
            </a:endParaRPr>
          </a:p>
          <a:p>
            <a:pPr indent="0"/>
            <a:r>
              <a:rPr lang="zh-CN" sz="2400" b="1">
                <a:cs typeface="Noto Sans CJK SC Regular" charset="0"/>
              </a:rPr>
              <a:t>scripts 文件夹：存放python脚本</a:t>
            </a:r>
            <a:endParaRPr lang="zh-CN" sz="2400" b="1">
              <a:cs typeface="Noto Sans CJK SC Regular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2400" b="1">
                <a:cs typeface="Noto Sans CJK SC Regular" charset="0"/>
              </a:rPr>
              <a:t>	</a:t>
            </a:r>
            <a:r>
              <a:rPr lang="zh-CN" sz="2400">
                <a:cs typeface="Noto Sans CJK SC Regular" charset="0"/>
              </a:rPr>
              <a:t>generate_key.py 生成秘钥并传输</a:t>
            </a:r>
            <a:endParaRPr lang="zh-CN" sz="2400">
              <a:cs typeface="Noto Sans CJK SC Regular" charset="0"/>
            </a:endParaRPr>
          </a:p>
          <a:p>
            <a:pPr algn="l">
              <a:buClrTx/>
              <a:buSzTx/>
              <a:buFontTx/>
            </a:pPr>
            <a:r>
              <a:rPr lang="zh-CN" sz="2400">
                <a:cs typeface="Noto Sans CJK SC Regular" charset="0"/>
              </a:rPr>
              <a:t>	move.py 接收密文并解密，控制运动</a:t>
            </a:r>
            <a:endParaRPr lang="zh-CN" sz="2400" b="1">
              <a:cs typeface="Noto Sans CJK SC Regular" charset="0"/>
            </a:endParaRPr>
          </a:p>
          <a:p>
            <a:pPr indent="0"/>
            <a:r>
              <a:rPr lang="zh-CN" sz="2400" b="1">
                <a:cs typeface="Noto Sans CJK SC Regular" charset="0"/>
              </a:rPr>
              <a:t>srv 文件夹 service 传输信息</a:t>
            </a:r>
            <a:endParaRPr lang="zh-CN" sz="2400" b="1">
              <a:cs typeface="Noto Sans CJK SC Regular" charset="0"/>
            </a:endParaRPr>
          </a:p>
          <a:p>
            <a:pPr indent="0"/>
            <a:r>
              <a:rPr lang="en-US" altLang="zh-CN" sz="2400" b="1">
                <a:cs typeface="Noto Sans CJK SC Regular" charset="0"/>
              </a:rPr>
              <a:t>	</a:t>
            </a:r>
            <a:r>
              <a:rPr lang="zh-CN" sz="2400">
                <a:cs typeface="Noto Sans CJK SC Regular" charset="0"/>
              </a:rPr>
              <a:t>key.srv 存放交换秘钥的类</a:t>
            </a:r>
            <a:endParaRPr lang="zh-CN" sz="2400">
              <a:cs typeface="Noto Sans CJK SC Regular" charset="0"/>
            </a:endParaRPr>
          </a:p>
        </p:txBody>
      </p:sp>
      <p:pic>
        <p:nvPicPr>
          <p:cNvPr id="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55" y="2134235"/>
            <a:ext cx="4553585" cy="3310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箭头: 五边形 29"/>
          <p:cNvSpPr/>
          <p:nvPr/>
        </p:nvSpPr>
        <p:spPr>
          <a:xfrm>
            <a:off x="0" y="339264"/>
            <a:ext cx="1017231" cy="793664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五边形 30"/>
          <p:cNvSpPr/>
          <p:nvPr/>
        </p:nvSpPr>
        <p:spPr>
          <a:xfrm flipH="1">
            <a:off x="1313895" y="339264"/>
            <a:ext cx="10878105" cy="793664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/>
              <a:t>	</a:t>
            </a:r>
            <a:r>
              <a:rPr lang="zh-CN" altLang="en-US" sz="2400"/>
              <a:t>代码解析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928235" y="3045460"/>
            <a:ext cx="28276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69875" indent="-269875"/>
            <a:r>
              <a:rPr lang="zh-CN" altLang="en-US" sz="2800" b="0">
                <a:latin typeface="+mj-ea"/>
                <a:ea typeface="+mj-ea"/>
                <a:cs typeface="+mj-ea"/>
              </a:rPr>
              <a:t>详见</a:t>
            </a:r>
            <a:r>
              <a:rPr lang="en-US" altLang="zh-CN" sz="2800" b="0">
                <a:latin typeface="+mj-ea"/>
                <a:ea typeface="+mj-ea"/>
                <a:cs typeface="+mj-ea"/>
              </a:rPr>
              <a:t>word</a:t>
            </a:r>
            <a:r>
              <a:rPr lang="zh-CN" altLang="en-US" sz="2800" b="0">
                <a:latin typeface="+mj-ea"/>
                <a:ea typeface="+mj-ea"/>
                <a:cs typeface="+mj-ea"/>
              </a:rPr>
              <a:t>文档</a:t>
            </a:r>
            <a:r>
              <a:rPr lang="en-US" sz="2800" b="0">
                <a:latin typeface="+mj-ea"/>
                <a:ea typeface="+mj-ea"/>
                <a:cs typeface="+mj-ea"/>
              </a:rPr>
              <a:t> </a:t>
            </a:r>
            <a:endParaRPr lang="zh-CN" altLang="en-US" sz="2800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PLACING_PICTURE_USER_VIEWPORT" val="{&quot;height&quot;:4109,&quot;width&quot;:7837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1521</Words>
  <Application>WPS 演示</Application>
  <PresentationFormat>宽屏</PresentationFormat>
  <Paragraphs>112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方正准圆简体</vt:lpstr>
      <vt:lpstr>方正宋刻本秀楷简体</vt:lpstr>
      <vt:lpstr>Times New Roman</vt:lpstr>
      <vt:lpstr>Noto Sans CJK SC Regular</vt:lpstr>
      <vt:lpstr>Segoe Print</vt:lpstr>
      <vt:lpstr>Bitstream Vera Sans Mono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cosφ√</cp:lastModifiedBy>
  <cp:revision>172</cp:revision>
  <dcterms:created xsi:type="dcterms:W3CDTF">2019-06-19T02:08:00Z</dcterms:created>
  <dcterms:modified xsi:type="dcterms:W3CDTF">2022-03-27T01:59:03Z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C9AFB95376FC481FABDB227DECB561D3</vt:lpwstr>
  </property>
</Properties>
</file>