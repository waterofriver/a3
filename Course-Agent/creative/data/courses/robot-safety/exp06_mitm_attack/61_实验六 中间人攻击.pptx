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20"/>
  </p:notesMasterIdLst>
  <p:sldIdLst>
    <p:sldId id="256" r:id="rId2"/>
    <p:sldId id="257" r:id="rId3"/>
    <p:sldId id="259" r:id="rId4"/>
    <p:sldId id="308" r:id="rId5"/>
    <p:sldId id="309" r:id="rId6"/>
    <p:sldId id="310" r:id="rId7"/>
    <p:sldId id="311" r:id="rId8"/>
    <p:sldId id="312" r:id="rId9"/>
    <p:sldId id="313" r:id="rId10"/>
    <p:sldId id="315" r:id="rId11"/>
    <p:sldId id="260" r:id="rId12"/>
    <p:sldId id="316" r:id="rId13"/>
    <p:sldId id="302" r:id="rId14"/>
    <p:sldId id="317" r:id="rId15"/>
    <p:sldId id="318" r:id="rId16"/>
    <p:sldId id="319" r:id="rId17"/>
    <p:sldId id="320" r:id="rId18"/>
    <p:sldId id="27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页" id="{38910652-1D9F-45BF-BD71-1777E84EDD6F}">
          <p14:sldIdLst>
            <p14:sldId id="256"/>
          </p14:sldIdLst>
        </p14:section>
        <p14:section name="概述" id="{7DF12B08-F0B0-462C-A97E-B87E83D9806D}">
          <p14:sldIdLst>
            <p14:sldId id="257"/>
          </p14:sldIdLst>
        </p14:section>
        <p14:section name="1 键盘控制程序通信机制" id="{50BD4C9C-BD31-4051-A6FE-DD72385D00F1}">
          <p14:sldIdLst>
            <p14:sldId id="259"/>
            <p14:sldId id="308"/>
            <p14:sldId id="309"/>
            <p14:sldId id="310"/>
            <p14:sldId id="311"/>
            <p14:sldId id="312"/>
          </p14:sldIdLst>
        </p14:section>
        <p14:section name="2 攻击准备" id="{76D2575B-D32D-4047-BAFD-9445C89CBC82}">
          <p14:sldIdLst>
            <p14:sldId id="313"/>
            <p14:sldId id="315"/>
            <p14:sldId id="260"/>
            <p14:sldId id="316"/>
            <p14:sldId id="302"/>
            <p14:sldId id="317"/>
          </p14:sldIdLst>
        </p14:section>
        <p14:section name="3 正式开始攻击" id="{877CB191-8D39-46C7-809D-B54F7005958D}">
          <p14:sldIdLst>
            <p14:sldId id="318"/>
            <p14:sldId id="319"/>
            <p14:sldId id="320"/>
          </p14:sldIdLst>
        </p14:section>
        <p14:section name="结束" id="{0EF7C619-5AED-4E9D-8482-D6278461C313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979"/>
    <a:srgbClr val="FFA7A7"/>
    <a:srgbClr val="0A0B0C"/>
    <a:srgbClr val="C7D5ED"/>
    <a:srgbClr val="2AB150"/>
    <a:srgbClr val="516485"/>
    <a:srgbClr val="D446B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9" autoAdjust="0"/>
    <p:restoredTop sz="80846" autoAdjust="0"/>
  </p:normalViewPr>
  <p:slideViewPr>
    <p:cSldViewPr snapToGrid="0">
      <p:cViewPr varScale="1">
        <p:scale>
          <a:sx n="28" d="100"/>
          <a:sy n="28" d="100"/>
        </p:scale>
        <p:origin x="3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AF68E-1953-43AD-987D-C1E8F6D8E288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6322D-176A-4642-922F-674CC4CE5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380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中心思想是了解攻击对象，可以从通信程序和真实通信报文两个方向分析。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6322D-176A-4642-922F-674CC4CE52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119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6322D-176A-4642-922F-674CC4CE52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476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6322D-176A-4642-922F-674CC4CE52A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090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设置过滤条件</a:t>
            </a:r>
            <a:r>
              <a:rPr lang="en-US" altLang="zh-CN"/>
              <a:t>data</a:t>
            </a:r>
            <a:r>
              <a:rPr lang="zh-CN" altLang="en-US"/>
              <a:t>，过滤出带数据段的报文。可见数据部分都</a:t>
            </a:r>
            <a:r>
              <a:rPr lang="en-US" altLang="zh-CN"/>
              <a:t>52</a:t>
            </a:r>
            <a:r>
              <a:rPr lang="zh-CN" altLang="en-US"/>
              <a:t>字节，和</a:t>
            </a:r>
            <a:r>
              <a:rPr lang="en-US" altLang="zh-CN"/>
              <a:t>48</a:t>
            </a:r>
            <a:r>
              <a:rPr lang="zh-CN" altLang="en-US"/>
              <a:t>字节差</a:t>
            </a:r>
            <a:r>
              <a:rPr lang="en-US" altLang="zh-CN"/>
              <a:t>4</a:t>
            </a:r>
            <a:r>
              <a:rPr lang="zh-CN" altLang="en-US"/>
              <a:t>个字节。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6322D-176A-4642-922F-674CC4CE52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968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继续往下看，线速度</a:t>
            </a:r>
            <a:r>
              <a:rPr lang="en-US" altLang="zh-CN"/>
              <a:t>0.01</a:t>
            </a:r>
            <a:r>
              <a:rPr lang="zh-CN" altLang="en-US"/>
              <a:t>时，数据段第</a:t>
            </a:r>
            <a:r>
              <a:rPr lang="en-US" altLang="zh-CN"/>
              <a:t>5</a:t>
            </a:r>
            <a:r>
              <a:rPr lang="zh-CN" altLang="en-US"/>
              <a:t>到</a:t>
            </a:r>
            <a:r>
              <a:rPr lang="en-US" altLang="zh-CN"/>
              <a:t>12</a:t>
            </a:r>
            <a:r>
              <a:rPr lang="zh-CN" altLang="en-US"/>
              <a:t>个字节发生变化，恰好是</a:t>
            </a:r>
            <a:r>
              <a:rPr lang="en-US" altLang="zh-CN"/>
              <a:t>8</a:t>
            </a:r>
            <a:r>
              <a:rPr lang="zh-CN" altLang="en-US"/>
              <a:t>个字节。</a:t>
            </a:r>
            <a:endParaRPr lang="en-US" altLang="zh-CN"/>
          </a:p>
          <a:p>
            <a:r>
              <a:rPr lang="zh-CN" altLang="en-US"/>
              <a:t>这说明线速度就对应着这</a:t>
            </a:r>
            <a:r>
              <a:rPr lang="en-US" altLang="zh-CN"/>
              <a:t>8</a:t>
            </a:r>
            <a:r>
              <a:rPr lang="zh-CN" altLang="en-US"/>
              <a:t>个字节。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6322D-176A-4642-922F-674CC4CE52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685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Burger</a:t>
            </a:r>
            <a:r>
              <a:rPr lang="zh-CN" altLang="en-US"/>
              <a:t>型号只有</a:t>
            </a:r>
            <a:r>
              <a:rPr lang="en-US" altLang="zh-CN"/>
              <a:t>linearX</a:t>
            </a:r>
            <a:r>
              <a:rPr lang="zh-CN" altLang="en-US"/>
              <a:t>和</a:t>
            </a:r>
            <a:r>
              <a:rPr lang="en-US" altLang="zh-CN"/>
              <a:t>angularZ</a:t>
            </a:r>
            <a:r>
              <a:rPr lang="zh-CN" altLang="en-US"/>
              <a:t>可供修改，其他参数不被接受。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6322D-176A-4642-922F-674CC4CE52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651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中心思想是了解攻击对象，可以从通信程序和真实通信报文两个方向分析。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6322D-176A-4642-922F-674CC4CE52A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29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中心思想是了解攻击对象，可以从通信程序和真实通信报文两个方向分析。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6322D-176A-4642-922F-674CC4CE52A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945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492B1-0C5A-4196-BD5A-E25E482A5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178BF0-0FB2-4157-94C8-60D23AE41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EC93F-B58D-4BAC-A643-9C65EE0A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30BD-EEEA-42AA-81A1-6BB0BE51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0CAB7-73A5-4C61-AFE5-E970E7E6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59A43-4A1F-4410-9B4D-3925D2F7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D32DFF-9387-4964-8523-216A65401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45149-9F4B-414E-A5A5-1BC20FD4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F9E98-605C-46A3-A2B0-DE11B019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20530-1173-46A9-B561-ABC53E04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7236E59-E5E2-4275-BBB2-274FF69106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91" y="6324390"/>
            <a:ext cx="1291046" cy="43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0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AC33F-BC76-4F76-B18F-1F3ABABE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44EF2A-4F7E-41E3-8B53-23EA70337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B4D17-2136-49F6-A86F-B3F890DA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7ADF9-6B16-4A91-984C-EAF74F30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CCE8A-56F3-4D85-B313-C156ACDD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14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E6CB2-0804-4E4F-BD32-414A4167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08AB1-545C-4CF5-8723-A62DE4BE5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D0195D-BE80-4E0A-AC0F-7900C5D92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E6A1DE-DAA3-4F0A-B858-DA7A5AFD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543A-6D2B-49AF-962F-AC42DF27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27804E-B37F-48DC-9CE6-1B7E8B29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97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B7A21-43EE-42C1-8A5D-F9D82CFC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D43ADA-D3FE-4728-BB57-5EFE47B68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141D56-9192-4359-B128-CF347250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C5CA01-9162-4DA5-B71C-E30B4C952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CE2240-4C37-494C-8DEF-0BE2F8893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4BF995-C68C-4154-A992-D7629699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D03D2D-FF72-4FF0-B5C8-ECF1064B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FBCA7C-644A-4373-AB14-5D22E44E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00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61089-0F77-431C-B275-14C0C58C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28DD5C-A5FC-4721-A7E5-A5D34A15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37CA22-806D-4280-B77E-CA2C4F46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A51879-0B46-431F-8C0F-3A38090F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21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8318D0-AAB2-42F9-9E26-56C1CB7C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817007-959B-4116-925A-43817F38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278F3-ACB2-4379-835C-4570EF7C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907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2BBDF-7CFE-4EFF-B704-790CF5F4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A4827-9BBA-4258-BA50-AC33F1F26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004658-627A-461F-B99F-27392E3E7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B33D8-A635-4736-A8FC-0E7FB1EF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34F964-AB89-451A-8895-00B77101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EAF20E-5B35-43C4-91D6-5DFDE3B8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5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B7D62-35B1-486A-BA4A-5BD62D87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B77D51-6E0B-4BDB-AB93-B4C68FACD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2CCFBA-FCB2-4EA4-931C-B0815E5AB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87AEB5-3A92-4059-AC54-3DDE28D7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975F10-5DA9-40FD-B833-1AEE3352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768966-0C69-4938-BD07-608E6904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74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C168C-70CF-489F-AA3C-EAB18682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D8EC20-E3C4-4040-918C-D140F43BE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81EFD-5990-4B49-BEB1-7827F321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DDFDE-08EE-4CC7-A8EA-1D5AE271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507A4D-BB8A-4750-B2A9-1DD61F62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1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3ECB69-D882-4535-B0D7-4E30F131C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C451D9-EE77-4FA7-AA27-96B7A3438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73AA9-B71F-4C03-85CA-A10ACAF6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2BCAF-A674-4F07-830F-51ABF482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3B0B8-9C89-411F-9CE1-B0E7ECE7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7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D0900C-D238-45F2-9A3F-9CC4338D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D3590-7911-4C76-82B9-2A273AA6F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6424D-17FE-46C6-82EA-9137849D6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253A8-2FA4-4E85-8F40-57D98F8E6A65}" type="datetimeFigureOut">
              <a:rPr lang="zh-CN" altLang="en-US" smtClean="0"/>
              <a:t>2021/7/28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866D1-D453-4383-9F00-E9035E63D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B7091-FA79-4441-B297-A73323AE3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41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ee.com/shandianchengzi/arp-course/blob/master/arp_cheat.py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7AB6328-93D6-44D0-B018-7AB05C8C86B7}"/>
              </a:ext>
            </a:extLst>
          </p:cNvPr>
          <p:cNvSpPr/>
          <p:nvPr/>
        </p:nvSpPr>
        <p:spPr>
          <a:xfrm>
            <a:off x="3469024" y="0"/>
            <a:ext cx="500791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3457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5F9966-9130-4CAA-9435-AA0B3D681875}"/>
              </a:ext>
            </a:extLst>
          </p:cNvPr>
          <p:cNvSpPr/>
          <p:nvPr/>
        </p:nvSpPr>
        <p:spPr>
          <a:xfrm>
            <a:off x="370702" y="998837"/>
            <a:ext cx="11450595" cy="48603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92F53D2A-DDCD-421F-923B-DCB0E62EE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985" y="2563944"/>
            <a:ext cx="9650027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54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实验六 中间人攻击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71B30E-AEA7-4AE3-9A6C-EA71AA5F066A}"/>
              </a:ext>
            </a:extLst>
          </p:cNvPr>
          <p:cNvCxnSpPr/>
          <p:nvPr/>
        </p:nvCxnSpPr>
        <p:spPr>
          <a:xfrm>
            <a:off x="5939450" y="4160852"/>
            <a:ext cx="372724" cy="0"/>
          </a:xfrm>
          <a:prstGeom prst="line">
            <a:avLst/>
          </a:prstGeom>
          <a:ln w="19050">
            <a:solidFill>
              <a:srgbClr val="3457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A6DFE96F-CF89-4918-9DF7-23306AB2179A}"/>
              </a:ext>
            </a:extLst>
          </p:cNvPr>
          <p:cNvSpPr/>
          <p:nvPr/>
        </p:nvSpPr>
        <p:spPr>
          <a:xfrm>
            <a:off x="3567367" y="447738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1" name="文本框 10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7CB3D532-35FA-4AC4-9C8B-F288F604F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710" y="4535085"/>
            <a:ext cx="2762533" cy="379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日期：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2021.07</a:t>
            </a:r>
            <a:endParaRPr lang="zh-CN" altLang="en-US" sz="1865">
              <a:solidFill>
                <a:srgbClr val="345780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A6A941-9377-42C6-BCDF-7B7941D7649F}"/>
              </a:ext>
            </a:extLst>
          </p:cNvPr>
          <p:cNvSpPr/>
          <p:nvPr/>
        </p:nvSpPr>
        <p:spPr>
          <a:xfrm>
            <a:off x="6312174" y="447331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3" name="文本框 12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A1BB899F-0A56-49A2-8835-5351EF5C8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516" y="4531016"/>
            <a:ext cx="3340272" cy="3793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内容：中间人攻击和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TCP</a:t>
            </a: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报文</a:t>
            </a:r>
          </a:p>
        </p:txBody>
      </p:sp>
      <p:grpSp>
        <p:nvGrpSpPr>
          <p:cNvPr id="14" name="Group 59">
            <a:extLst>
              <a:ext uri="{FF2B5EF4-FFF2-40B4-BE49-F238E27FC236}">
                <a16:creationId xmlns:a16="http://schemas.microsoft.com/office/drawing/2014/main" id="{06848B52-D03E-43E0-8605-71C66A6DDD5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52872" y="4551022"/>
            <a:ext cx="290891" cy="317537"/>
            <a:chOff x="1066" y="1985"/>
            <a:chExt cx="262" cy="286"/>
          </a:xfrm>
          <a:solidFill>
            <a:schemeClr val="bg1"/>
          </a:solidFill>
        </p:grpSpPr>
        <p:sp>
          <p:nvSpPr>
            <p:cNvPr id="15" name="Freeform 60">
              <a:extLst>
                <a:ext uri="{FF2B5EF4-FFF2-40B4-BE49-F238E27FC236}">
                  <a16:creationId xmlns:a16="http://schemas.microsoft.com/office/drawing/2014/main" id="{65AFB32E-06C3-45D3-9241-D2D91F6B4D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6" y="2005"/>
              <a:ext cx="262" cy="266"/>
            </a:xfrm>
            <a:custGeom>
              <a:avLst/>
              <a:gdLst>
                <a:gd name="T0" fmla="*/ 572 w 642"/>
                <a:gd name="T1" fmla="*/ 655 h 655"/>
                <a:gd name="T2" fmla="*/ 70 w 642"/>
                <a:gd name="T3" fmla="*/ 655 h 655"/>
                <a:gd name="T4" fmla="*/ 19 w 642"/>
                <a:gd name="T5" fmla="*/ 630 h 655"/>
                <a:gd name="T6" fmla="*/ 0 w 642"/>
                <a:gd name="T7" fmla="*/ 575 h 655"/>
                <a:gd name="T8" fmla="*/ 0 w 642"/>
                <a:gd name="T9" fmla="*/ 80 h 655"/>
                <a:gd name="T10" fmla="*/ 19 w 642"/>
                <a:gd name="T11" fmla="*/ 25 h 655"/>
                <a:gd name="T12" fmla="*/ 70 w 642"/>
                <a:gd name="T13" fmla="*/ 0 h 655"/>
                <a:gd name="T14" fmla="*/ 93 w 642"/>
                <a:gd name="T15" fmla="*/ 0 h 655"/>
                <a:gd name="T16" fmla="*/ 111 w 642"/>
                <a:gd name="T17" fmla="*/ 18 h 655"/>
                <a:gd name="T18" fmla="*/ 93 w 642"/>
                <a:gd name="T19" fmla="*/ 36 h 655"/>
                <a:gd name="T20" fmla="*/ 70 w 642"/>
                <a:gd name="T21" fmla="*/ 36 h 655"/>
                <a:gd name="T22" fmla="*/ 47 w 642"/>
                <a:gd name="T23" fmla="*/ 48 h 655"/>
                <a:gd name="T24" fmla="*/ 36 w 642"/>
                <a:gd name="T25" fmla="*/ 80 h 655"/>
                <a:gd name="T26" fmla="*/ 36 w 642"/>
                <a:gd name="T27" fmla="*/ 575 h 655"/>
                <a:gd name="T28" fmla="*/ 47 w 642"/>
                <a:gd name="T29" fmla="*/ 607 h 655"/>
                <a:gd name="T30" fmla="*/ 70 w 642"/>
                <a:gd name="T31" fmla="*/ 619 h 655"/>
                <a:gd name="T32" fmla="*/ 572 w 642"/>
                <a:gd name="T33" fmla="*/ 619 h 655"/>
                <a:gd name="T34" fmla="*/ 595 w 642"/>
                <a:gd name="T35" fmla="*/ 607 h 655"/>
                <a:gd name="T36" fmla="*/ 606 w 642"/>
                <a:gd name="T37" fmla="*/ 575 h 655"/>
                <a:gd name="T38" fmla="*/ 606 w 642"/>
                <a:gd name="T39" fmla="*/ 80 h 655"/>
                <a:gd name="T40" fmla="*/ 595 w 642"/>
                <a:gd name="T41" fmla="*/ 48 h 655"/>
                <a:gd name="T42" fmla="*/ 572 w 642"/>
                <a:gd name="T43" fmla="*/ 36 h 655"/>
                <a:gd name="T44" fmla="*/ 547 w 642"/>
                <a:gd name="T45" fmla="*/ 36 h 655"/>
                <a:gd name="T46" fmla="*/ 529 w 642"/>
                <a:gd name="T47" fmla="*/ 18 h 655"/>
                <a:gd name="T48" fmla="*/ 547 w 642"/>
                <a:gd name="T49" fmla="*/ 0 h 655"/>
                <a:gd name="T50" fmla="*/ 572 w 642"/>
                <a:gd name="T51" fmla="*/ 0 h 655"/>
                <a:gd name="T52" fmla="*/ 622 w 642"/>
                <a:gd name="T53" fmla="*/ 25 h 655"/>
                <a:gd name="T54" fmla="*/ 642 w 642"/>
                <a:gd name="T55" fmla="*/ 80 h 655"/>
                <a:gd name="T56" fmla="*/ 642 w 642"/>
                <a:gd name="T57" fmla="*/ 575 h 655"/>
                <a:gd name="T58" fmla="*/ 622 w 642"/>
                <a:gd name="T59" fmla="*/ 630 h 655"/>
                <a:gd name="T60" fmla="*/ 572 w 642"/>
                <a:gd name="T61" fmla="*/ 655 h 655"/>
                <a:gd name="T62" fmla="*/ 418 w 642"/>
                <a:gd name="T63" fmla="*/ 36 h 655"/>
                <a:gd name="T64" fmla="*/ 224 w 642"/>
                <a:gd name="T65" fmla="*/ 36 h 655"/>
                <a:gd name="T66" fmla="*/ 206 w 642"/>
                <a:gd name="T67" fmla="*/ 18 h 655"/>
                <a:gd name="T68" fmla="*/ 224 w 642"/>
                <a:gd name="T69" fmla="*/ 0 h 655"/>
                <a:gd name="T70" fmla="*/ 418 w 642"/>
                <a:gd name="T71" fmla="*/ 0 h 655"/>
                <a:gd name="T72" fmla="*/ 436 w 642"/>
                <a:gd name="T73" fmla="*/ 18 h 655"/>
                <a:gd name="T74" fmla="*/ 418 w 642"/>
                <a:gd name="T75" fmla="*/ 36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2" h="655">
                  <a:moveTo>
                    <a:pt x="572" y="655"/>
                  </a:moveTo>
                  <a:cubicBezTo>
                    <a:pt x="70" y="655"/>
                    <a:pt x="70" y="655"/>
                    <a:pt x="70" y="655"/>
                  </a:cubicBezTo>
                  <a:cubicBezTo>
                    <a:pt x="51" y="655"/>
                    <a:pt x="33" y="646"/>
                    <a:pt x="19" y="630"/>
                  </a:cubicBezTo>
                  <a:cubicBezTo>
                    <a:pt x="7" y="615"/>
                    <a:pt x="0" y="596"/>
                    <a:pt x="0" y="57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0"/>
                    <a:pt x="7" y="40"/>
                    <a:pt x="19" y="25"/>
                  </a:cubicBezTo>
                  <a:cubicBezTo>
                    <a:pt x="33" y="9"/>
                    <a:pt x="51" y="0"/>
                    <a:pt x="70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03" y="0"/>
                    <a:pt x="111" y="8"/>
                    <a:pt x="111" y="18"/>
                  </a:cubicBezTo>
                  <a:cubicBezTo>
                    <a:pt x="111" y="28"/>
                    <a:pt x="103" y="36"/>
                    <a:pt x="93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61" y="36"/>
                    <a:pt x="53" y="40"/>
                    <a:pt x="47" y="48"/>
                  </a:cubicBezTo>
                  <a:cubicBezTo>
                    <a:pt x="40" y="56"/>
                    <a:pt x="36" y="68"/>
                    <a:pt x="36" y="80"/>
                  </a:cubicBezTo>
                  <a:cubicBezTo>
                    <a:pt x="36" y="575"/>
                    <a:pt x="36" y="575"/>
                    <a:pt x="36" y="575"/>
                  </a:cubicBezTo>
                  <a:cubicBezTo>
                    <a:pt x="36" y="587"/>
                    <a:pt x="40" y="599"/>
                    <a:pt x="47" y="607"/>
                  </a:cubicBezTo>
                  <a:cubicBezTo>
                    <a:pt x="53" y="615"/>
                    <a:pt x="61" y="619"/>
                    <a:pt x="70" y="619"/>
                  </a:cubicBezTo>
                  <a:cubicBezTo>
                    <a:pt x="572" y="619"/>
                    <a:pt x="572" y="619"/>
                    <a:pt x="572" y="619"/>
                  </a:cubicBezTo>
                  <a:cubicBezTo>
                    <a:pt x="580" y="619"/>
                    <a:pt x="588" y="615"/>
                    <a:pt x="595" y="607"/>
                  </a:cubicBezTo>
                  <a:cubicBezTo>
                    <a:pt x="602" y="599"/>
                    <a:pt x="606" y="587"/>
                    <a:pt x="606" y="575"/>
                  </a:cubicBezTo>
                  <a:cubicBezTo>
                    <a:pt x="606" y="80"/>
                    <a:pt x="606" y="80"/>
                    <a:pt x="606" y="80"/>
                  </a:cubicBezTo>
                  <a:cubicBezTo>
                    <a:pt x="606" y="68"/>
                    <a:pt x="602" y="56"/>
                    <a:pt x="595" y="48"/>
                  </a:cubicBezTo>
                  <a:cubicBezTo>
                    <a:pt x="588" y="40"/>
                    <a:pt x="580" y="36"/>
                    <a:pt x="572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37" y="36"/>
                    <a:pt x="529" y="28"/>
                    <a:pt x="529" y="18"/>
                  </a:cubicBezTo>
                  <a:cubicBezTo>
                    <a:pt x="529" y="8"/>
                    <a:pt x="537" y="0"/>
                    <a:pt x="547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1" y="0"/>
                    <a:pt x="609" y="9"/>
                    <a:pt x="622" y="25"/>
                  </a:cubicBezTo>
                  <a:cubicBezTo>
                    <a:pt x="635" y="40"/>
                    <a:pt x="642" y="60"/>
                    <a:pt x="642" y="80"/>
                  </a:cubicBezTo>
                  <a:cubicBezTo>
                    <a:pt x="642" y="575"/>
                    <a:pt x="642" y="575"/>
                    <a:pt x="642" y="575"/>
                  </a:cubicBezTo>
                  <a:cubicBezTo>
                    <a:pt x="642" y="596"/>
                    <a:pt x="635" y="615"/>
                    <a:pt x="622" y="630"/>
                  </a:cubicBezTo>
                  <a:cubicBezTo>
                    <a:pt x="609" y="646"/>
                    <a:pt x="591" y="655"/>
                    <a:pt x="572" y="655"/>
                  </a:cubicBezTo>
                  <a:close/>
                  <a:moveTo>
                    <a:pt x="418" y="36"/>
                  </a:moveTo>
                  <a:cubicBezTo>
                    <a:pt x="224" y="36"/>
                    <a:pt x="224" y="36"/>
                    <a:pt x="224" y="36"/>
                  </a:cubicBezTo>
                  <a:cubicBezTo>
                    <a:pt x="214" y="36"/>
                    <a:pt x="206" y="28"/>
                    <a:pt x="206" y="18"/>
                  </a:cubicBezTo>
                  <a:cubicBezTo>
                    <a:pt x="206" y="8"/>
                    <a:pt x="214" y="0"/>
                    <a:pt x="224" y="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428" y="0"/>
                    <a:pt x="436" y="8"/>
                    <a:pt x="436" y="18"/>
                  </a:cubicBezTo>
                  <a:cubicBezTo>
                    <a:pt x="436" y="28"/>
                    <a:pt x="428" y="36"/>
                    <a:pt x="4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6" name="Freeform 61">
              <a:extLst>
                <a:ext uri="{FF2B5EF4-FFF2-40B4-BE49-F238E27FC236}">
                  <a16:creationId xmlns:a16="http://schemas.microsoft.com/office/drawing/2014/main" id="{42E249E5-CB8F-49AB-ACAC-32DC1584A0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" y="1985"/>
              <a:ext cx="146" cy="64"/>
            </a:xfrm>
            <a:custGeom>
              <a:avLst/>
              <a:gdLst>
                <a:gd name="T0" fmla="*/ 18 w 357"/>
                <a:gd name="T1" fmla="*/ 0 h 157"/>
                <a:gd name="T2" fmla="*/ 36 w 357"/>
                <a:gd name="T3" fmla="*/ 18 h 157"/>
                <a:gd name="T4" fmla="*/ 36 w 357"/>
                <a:gd name="T5" fmla="*/ 139 h 157"/>
                <a:gd name="T6" fmla="*/ 18 w 357"/>
                <a:gd name="T7" fmla="*/ 157 h 157"/>
                <a:gd name="T8" fmla="*/ 0 w 357"/>
                <a:gd name="T9" fmla="*/ 139 h 157"/>
                <a:gd name="T10" fmla="*/ 0 w 357"/>
                <a:gd name="T11" fmla="*/ 18 h 157"/>
                <a:gd name="T12" fmla="*/ 18 w 357"/>
                <a:gd name="T13" fmla="*/ 0 h 157"/>
                <a:gd name="T14" fmla="*/ 339 w 357"/>
                <a:gd name="T15" fmla="*/ 0 h 157"/>
                <a:gd name="T16" fmla="*/ 357 w 357"/>
                <a:gd name="T17" fmla="*/ 18 h 157"/>
                <a:gd name="T18" fmla="*/ 357 w 357"/>
                <a:gd name="T19" fmla="*/ 139 h 157"/>
                <a:gd name="T20" fmla="*/ 339 w 357"/>
                <a:gd name="T21" fmla="*/ 157 h 157"/>
                <a:gd name="T22" fmla="*/ 321 w 357"/>
                <a:gd name="T23" fmla="*/ 139 h 157"/>
                <a:gd name="T24" fmla="*/ 321 w 357"/>
                <a:gd name="T25" fmla="*/ 18 h 157"/>
                <a:gd name="T26" fmla="*/ 339 w 357"/>
                <a:gd name="T2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157">
                  <a:moveTo>
                    <a:pt x="18" y="0"/>
                  </a:moveTo>
                  <a:cubicBezTo>
                    <a:pt x="28" y="0"/>
                    <a:pt x="36" y="8"/>
                    <a:pt x="36" y="18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6" y="149"/>
                    <a:pt x="28" y="157"/>
                    <a:pt x="18" y="157"/>
                  </a:cubicBezTo>
                  <a:cubicBezTo>
                    <a:pt x="8" y="157"/>
                    <a:pt x="0" y="149"/>
                    <a:pt x="0" y="1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339" y="0"/>
                  </a:moveTo>
                  <a:cubicBezTo>
                    <a:pt x="349" y="0"/>
                    <a:pt x="357" y="8"/>
                    <a:pt x="357" y="1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7" y="149"/>
                    <a:pt x="349" y="157"/>
                    <a:pt x="339" y="157"/>
                  </a:cubicBezTo>
                  <a:cubicBezTo>
                    <a:pt x="329" y="157"/>
                    <a:pt x="321" y="149"/>
                    <a:pt x="321" y="139"/>
                  </a:cubicBezTo>
                  <a:cubicBezTo>
                    <a:pt x="321" y="18"/>
                    <a:pt x="321" y="18"/>
                    <a:pt x="321" y="18"/>
                  </a:cubicBezTo>
                  <a:cubicBezTo>
                    <a:pt x="321" y="8"/>
                    <a:pt x="329" y="0"/>
                    <a:pt x="3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7" name="Freeform 62">
              <a:extLst>
                <a:ext uri="{FF2B5EF4-FFF2-40B4-BE49-F238E27FC236}">
                  <a16:creationId xmlns:a16="http://schemas.microsoft.com/office/drawing/2014/main" id="{45829222-856C-4259-9584-C856FD8F1A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4" y="2044"/>
              <a:ext cx="246" cy="183"/>
            </a:xfrm>
            <a:custGeom>
              <a:avLst/>
              <a:gdLst>
                <a:gd name="T0" fmla="*/ 0 w 603"/>
                <a:gd name="T1" fmla="*/ 18 h 450"/>
                <a:gd name="T2" fmla="*/ 18 w 603"/>
                <a:gd name="T3" fmla="*/ 0 h 450"/>
                <a:gd name="T4" fmla="*/ 585 w 603"/>
                <a:gd name="T5" fmla="*/ 0 h 450"/>
                <a:gd name="T6" fmla="*/ 603 w 603"/>
                <a:gd name="T7" fmla="*/ 18 h 450"/>
                <a:gd name="T8" fmla="*/ 585 w 603"/>
                <a:gd name="T9" fmla="*/ 36 h 450"/>
                <a:gd name="T10" fmla="*/ 18 w 603"/>
                <a:gd name="T11" fmla="*/ 36 h 450"/>
                <a:gd name="T12" fmla="*/ 0 w 603"/>
                <a:gd name="T13" fmla="*/ 18 h 450"/>
                <a:gd name="T14" fmla="*/ 306 w 603"/>
                <a:gd name="T15" fmla="*/ 450 h 450"/>
                <a:gd name="T16" fmla="*/ 184 w 603"/>
                <a:gd name="T17" fmla="*/ 400 h 450"/>
                <a:gd name="T18" fmla="*/ 134 w 603"/>
                <a:gd name="T19" fmla="*/ 279 h 450"/>
                <a:gd name="T20" fmla="*/ 184 w 603"/>
                <a:gd name="T21" fmla="*/ 158 h 450"/>
                <a:gd name="T22" fmla="*/ 306 w 603"/>
                <a:gd name="T23" fmla="*/ 107 h 450"/>
                <a:gd name="T24" fmla="*/ 324 w 603"/>
                <a:gd name="T25" fmla="*/ 125 h 450"/>
                <a:gd name="T26" fmla="*/ 306 w 603"/>
                <a:gd name="T27" fmla="*/ 143 h 450"/>
                <a:gd name="T28" fmla="*/ 170 w 603"/>
                <a:gd name="T29" fmla="*/ 279 h 450"/>
                <a:gd name="T30" fmla="*/ 306 w 603"/>
                <a:gd name="T31" fmla="*/ 414 h 450"/>
                <a:gd name="T32" fmla="*/ 441 w 603"/>
                <a:gd name="T33" fmla="*/ 279 h 450"/>
                <a:gd name="T34" fmla="*/ 459 w 603"/>
                <a:gd name="T35" fmla="*/ 261 h 450"/>
                <a:gd name="T36" fmla="*/ 477 w 603"/>
                <a:gd name="T37" fmla="*/ 279 h 450"/>
                <a:gd name="T38" fmla="*/ 427 w 603"/>
                <a:gd name="T39" fmla="*/ 400 h 450"/>
                <a:gd name="T40" fmla="*/ 306 w 603"/>
                <a:gd name="T41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3" h="450">
                  <a:moveTo>
                    <a:pt x="0" y="18"/>
                  </a:moveTo>
                  <a:cubicBezTo>
                    <a:pt x="0" y="8"/>
                    <a:pt x="8" y="0"/>
                    <a:pt x="18" y="0"/>
                  </a:cubicBezTo>
                  <a:cubicBezTo>
                    <a:pt x="585" y="0"/>
                    <a:pt x="585" y="0"/>
                    <a:pt x="585" y="0"/>
                  </a:cubicBezTo>
                  <a:cubicBezTo>
                    <a:pt x="595" y="0"/>
                    <a:pt x="603" y="8"/>
                    <a:pt x="603" y="18"/>
                  </a:cubicBezTo>
                  <a:cubicBezTo>
                    <a:pt x="603" y="28"/>
                    <a:pt x="595" y="36"/>
                    <a:pt x="585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lose/>
                  <a:moveTo>
                    <a:pt x="306" y="450"/>
                  </a:moveTo>
                  <a:cubicBezTo>
                    <a:pt x="260" y="450"/>
                    <a:pt x="217" y="433"/>
                    <a:pt x="184" y="400"/>
                  </a:cubicBezTo>
                  <a:cubicBezTo>
                    <a:pt x="152" y="368"/>
                    <a:pt x="134" y="325"/>
                    <a:pt x="134" y="279"/>
                  </a:cubicBezTo>
                  <a:cubicBezTo>
                    <a:pt x="134" y="233"/>
                    <a:pt x="152" y="190"/>
                    <a:pt x="184" y="158"/>
                  </a:cubicBezTo>
                  <a:cubicBezTo>
                    <a:pt x="217" y="125"/>
                    <a:pt x="260" y="107"/>
                    <a:pt x="306" y="107"/>
                  </a:cubicBezTo>
                  <a:cubicBezTo>
                    <a:pt x="316" y="107"/>
                    <a:pt x="324" y="115"/>
                    <a:pt x="324" y="125"/>
                  </a:cubicBezTo>
                  <a:cubicBezTo>
                    <a:pt x="324" y="135"/>
                    <a:pt x="316" y="143"/>
                    <a:pt x="306" y="143"/>
                  </a:cubicBezTo>
                  <a:cubicBezTo>
                    <a:pt x="231" y="143"/>
                    <a:pt x="170" y="204"/>
                    <a:pt x="170" y="279"/>
                  </a:cubicBezTo>
                  <a:cubicBezTo>
                    <a:pt x="170" y="354"/>
                    <a:pt x="231" y="414"/>
                    <a:pt x="306" y="414"/>
                  </a:cubicBezTo>
                  <a:cubicBezTo>
                    <a:pt x="380" y="414"/>
                    <a:pt x="441" y="354"/>
                    <a:pt x="441" y="279"/>
                  </a:cubicBezTo>
                  <a:cubicBezTo>
                    <a:pt x="441" y="269"/>
                    <a:pt x="449" y="261"/>
                    <a:pt x="459" y="261"/>
                  </a:cubicBezTo>
                  <a:cubicBezTo>
                    <a:pt x="469" y="261"/>
                    <a:pt x="477" y="269"/>
                    <a:pt x="477" y="279"/>
                  </a:cubicBezTo>
                  <a:cubicBezTo>
                    <a:pt x="477" y="325"/>
                    <a:pt x="459" y="368"/>
                    <a:pt x="427" y="400"/>
                  </a:cubicBezTo>
                  <a:cubicBezTo>
                    <a:pt x="395" y="433"/>
                    <a:pt x="351" y="450"/>
                    <a:pt x="30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8" name="Freeform 63">
              <a:extLst>
                <a:ext uri="{FF2B5EF4-FFF2-40B4-BE49-F238E27FC236}">
                  <a16:creationId xmlns:a16="http://schemas.microsoft.com/office/drawing/2014/main" id="{6571DE4D-C05A-45D1-8431-0F042F30CA2C}"/>
                </a:ext>
              </a:extLst>
            </p:cNvPr>
            <p:cNvSpPr/>
            <p:nvPr/>
          </p:nvSpPr>
          <p:spPr bwMode="auto">
            <a:xfrm>
              <a:off x="1193" y="2088"/>
              <a:ext cx="53" cy="72"/>
            </a:xfrm>
            <a:custGeom>
              <a:avLst/>
              <a:gdLst>
                <a:gd name="T0" fmla="*/ 113 w 131"/>
                <a:gd name="T1" fmla="*/ 176 h 176"/>
                <a:gd name="T2" fmla="*/ 18 w 131"/>
                <a:gd name="T3" fmla="*/ 176 h 176"/>
                <a:gd name="T4" fmla="*/ 0 w 131"/>
                <a:gd name="T5" fmla="*/ 158 h 176"/>
                <a:gd name="T6" fmla="*/ 0 w 131"/>
                <a:gd name="T7" fmla="*/ 18 h 176"/>
                <a:gd name="T8" fmla="*/ 18 w 131"/>
                <a:gd name="T9" fmla="*/ 0 h 176"/>
                <a:gd name="T10" fmla="*/ 36 w 131"/>
                <a:gd name="T11" fmla="*/ 18 h 176"/>
                <a:gd name="T12" fmla="*/ 36 w 131"/>
                <a:gd name="T13" fmla="*/ 140 h 176"/>
                <a:gd name="T14" fmla="*/ 113 w 131"/>
                <a:gd name="T15" fmla="*/ 140 h 176"/>
                <a:gd name="T16" fmla="*/ 131 w 131"/>
                <a:gd name="T17" fmla="*/ 158 h 176"/>
                <a:gd name="T18" fmla="*/ 113 w 131"/>
                <a:gd name="T1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176">
                  <a:moveTo>
                    <a:pt x="113" y="176"/>
                  </a:moveTo>
                  <a:cubicBezTo>
                    <a:pt x="18" y="176"/>
                    <a:pt x="18" y="176"/>
                    <a:pt x="18" y="176"/>
                  </a:cubicBezTo>
                  <a:cubicBezTo>
                    <a:pt x="8" y="176"/>
                    <a:pt x="0" y="168"/>
                    <a:pt x="0" y="15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23" y="140"/>
                    <a:pt x="131" y="148"/>
                    <a:pt x="131" y="158"/>
                  </a:cubicBezTo>
                  <a:cubicBezTo>
                    <a:pt x="131" y="168"/>
                    <a:pt x="123" y="176"/>
                    <a:pt x="113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grpSp>
        <p:nvGrpSpPr>
          <p:cNvPr id="19" name="Group 66">
            <a:extLst>
              <a:ext uri="{FF2B5EF4-FFF2-40B4-BE49-F238E27FC236}">
                <a16:creationId xmlns:a16="http://schemas.microsoft.com/office/drawing/2014/main" id="{8DB7D7DD-8C2E-4A99-91AF-824436473C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8151" y="4542797"/>
            <a:ext cx="256116" cy="277284"/>
            <a:chOff x="2111" y="2322"/>
            <a:chExt cx="121" cy="131"/>
          </a:xfrm>
          <a:solidFill>
            <a:schemeClr val="bg1"/>
          </a:solidFill>
        </p:grpSpPr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B81DA5CE-3648-48AA-BC46-E7EEFE7F991E}"/>
                </a:ext>
              </a:extLst>
            </p:cNvPr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70B9B73D-CC92-47F4-B10B-7BEF81CCB6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BB95EC14-8991-42D2-BEE7-A1D609F92B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24827FE4-A38E-4098-90F1-DEDD3D57A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868" y="1274768"/>
            <a:ext cx="3336043" cy="112776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F3F82DFB-DABC-4C09-A048-B2D7309D498E}"/>
              </a:ext>
            </a:extLst>
          </p:cNvPr>
          <p:cNvSpPr/>
          <p:nvPr/>
        </p:nvSpPr>
        <p:spPr>
          <a:xfrm>
            <a:off x="3469024" y="3707404"/>
            <a:ext cx="583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华中科技大学 </a:t>
            </a:r>
            <a:r>
              <a:rPr lang="en-US" altLang="zh-CN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2021 ROS</a:t>
            </a:r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创新实践教学 </a:t>
            </a:r>
          </a:p>
        </p:txBody>
      </p:sp>
    </p:spTree>
    <p:extLst>
      <p:ext uri="{BB962C8B-B14F-4D97-AF65-F5344CB8AC3E}">
        <p14:creationId xmlns:p14="http://schemas.microsoft.com/office/powerpoint/2010/main" val="134374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A972E024-6202-4FB3-B06C-155CE4F7AE80}"/>
              </a:ext>
            </a:extLst>
          </p:cNvPr>
          <p:cNvSpPr/>
          <p:nvPr/>
        </p:nvSpPr>
        <p:spPr>
          <a:xfrm flipH="1">
            <a:off x="1677296" y="3499802"/>
            <a:ext cx="2413581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欺骗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E5951F0E-974D-4BA3-877D-F120227A06AC}"/>
              </a:ext>
            </a:extLst>
          </p:cNvPr>
          <p:cNvSpPr/>
          <p:nvPr/>
        </p:nvSpPr>
        <p:spPr>
          <a:xfrm flipH="1">
            <a:off x="1325925" y="1675308"/>
            <a:ext cx="2413582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通信机制</a:t>
            </a:r>
          </a:p>
        </p:txBody>
      </p:sp>
      <p:sp>
        <p:nvSpPr>
          <p:cNvPr id="5" name=" 160">
            <a:extLst>
              <a:ext uri="{FF2B5EF4-FFF2-40B4-BE49-F238E27FC236}">
                <a16:creationId xmlns:a16="http://schemas.microsoft.com/office/drawing/2014/main" id="{548E59DA-08E8-4157-B990-989FC360A838}"/>
              </a:ext>
            </a:extLst>
          </p:cNvPr>
          <p:cNvSpPr/>
          <p:nvPr/>
        </p:nvSpPr>
        <p:spPr>
          <a:xfrm rot="10800000" flipH="1">
            <a:off x="2299552" y="2657362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箭头: 五边形 12">
            <a:extLst>
              <a:ext uri="{FF2B5EF4-FFF2-40B4-BE49-F238E27FC236}">
                <a16:creationId xmlns:a16="http://schemas.microsoft.com/office/drawing/2014/main" id="{56F161E6-65DE-4F69-9A0B-17B7B1168F8F}"/>
              </a:ext>
            </a:extLst>
          </p:cNvPr>
          <p:cNvSpPr/>
          <p:nvPr/>
        </p:nvSpPr>
        <p:spPr>
          <a:xfrm>
            <a:off x="1121742" y="1675308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99DC91C8-FC34-48C3-8F2F-326DF1FCE2F9}"/>
              </a:ext>
            </a:extLst>
          </p:cNvPr>
          <p:cNvSpPr/>
          <p:nvPr/>
        </p:nvSpPr>
        <p:spPr>
          <a:xfrm>
            <a:off x="1499746" y="3499802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箭头: 五边形 23">
            <a:extLst>
              <a:ext uri="{FF2B5EF4-FFF2-40B4-BE49-F238E27FC236}">
                <a16:creationId xmlns:a16="http://schemas.microsoft.com/office/drawing/2014/main" id="{6E63A3A9-EC19-4021-82BB-B3CA9981BF0E}"/>
              </a:ext>
            </a:extLst>
          </p:cNvPr>
          <p:cNvSpPr/>
          <p:nvPr/>
        </p:nvSpPr>
        <p:spPr>
          <a:xfrm flipH="1">
            <a:off x="5126347" y="3497279"/>
            <a:ext cx="2245413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篡改数据</a:t>
            </a: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319F14D5-D909-4117-8E8F-88C063371240}"/>
              </a:ext>
            </a:extLst>
          </p:cNvPr>
          <p:cNvSpPr/>
          <p:nvPr/>
        </p:nvSpPr>
        <p:spPr>
          <a:xfrm>
            <a:off x="4948800" y="3497279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 160">
            <a:extLst>
              <a:ext uri="{FF2B5EF4-FFF2-40B4-BE49-F238E27FC236}">
                <a16:creationId xmlns:a16="http://schemas.microsoft.com/office/drawing/2014/main" id="{F85EBE64-3361-4FB0-907A-C172A01672AE}"/>
              </a:ext>
            </a:extLst>
          </p:cNvPr>
          <p:cNvSpPr/>
          <p:nvPr/>
        </p:nvSpPr>
        <p:spPr>
          <a:xfrm rot="10800000" flipH="1">
            <a:off x="9396292" y="4537255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" name="箭头: 五边形 29">
            <a:extLst>
              <a:ext uri="{FF2B5EF4-FFF2-40B4-BE49-F238E27FC236}">
                <a16:creationId xmlns:a16="http://schemas.microsoft.com/office/drawing/2014/main" id="{192A7DFA-75C9-4D95-92AC-B02AB902629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箭头: 五边形 30">
            <a:extLst>
              <a:ext uri="{FF2B5EF4-FFF2-40B4-BE49-F238E27FC236}">
                <a16:creationId xmlns:a16="http://schemas.microsoft.com/office/drawing/2014/main" id="{25A45A79-F2E6-428E-8FFA-1F5F36C3FAE3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8DD5AE71-E97D-402C-99CD-1A4D7584839D}"/>
              </a:ext>
            </a:extLst>
          </p:cNvPr>
          <p:cNvSpPr/>
          <p:nvPr/>
        </p:nvSpPr>
        <p:spPr>
          <a:xfrm flipH="1">
            <a:off x="9283361" y="5332031"/>
            <a:ext cx="2330461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攻击结果</a:t>
            </a:r>
          </a:p>
        </p:txBody>
      </p:sp>
      <p:sp>
        <p:nvSpPr>
          <p:cNvPr id="15" name="箭头: 五边形 14">
            <a:extLst>
              <a:ext uri="{FF2B5EF4-FFF2-40B4-BE49-F238E27FC236}">
                <a16:creationId xmlns:a16="http://schemas.microsoft.com/office/drawing/2014/main" id="{927DE2B0-D30E-4E86-B291-EF371FB7C43E}"/>
              </a:ext>
            </a:extLst>
          </p:cNvPr>
          <p:cNvSpPr/>
          <p:nvPr/>
        </p:nvSpPr>
        <p:spPr>
          <a:xfrm>
            <a:off x="9105812" y="5332031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</a:p>
        </p:txBody>
      </p:sp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F25534E8-5990-47F3-B8E3-DA19C28F2BEB}"/>
              </a:ext>
            </a:extLst>
          </p:cNvPr>
          <p:cNvSpPr/>
          <p:nvPr/>
        </p:nvSpPr>
        <p:spPr>
          <a:xfrm flipH="1">
            <a:off x="8101123" y="3499802"/>
            <a:ext cx="3022506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熟悉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2D7E7F0E-F399-4ECA-A338-80F7D51C75F9}"/>
              </a:ext>
            </a:extLst>
          </p:cNvPr>
          <p:cNvSpPr/>
          <p:nvPr/>
        </p:nvSpPr>
        <p:spPr>
          <a:xfrm>
            <a:off x="7923576" y="3499802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882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3" grpId="0" animBg="1"/>
      <p:bldP spid="14" grpId="0" animBg="1"/>
      <p:bldP spid="24" grpId="0" animBg="1"/>
      <p:bldP spid="25" grpId="0" animBg="1"/>
      <p:bldP spid="28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562970"/>
            <a:ext cx="12192000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两个分析方向，一个中心思想。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了解键盘控制程序通信机制</a:t>
            </a:r>
          </a:p>
        </p:txBody>
      </p:sp>
      <p:sp>
        <p:nvSpPr>
          <p:cNvPr id="3" name="星形: 七角 2">
            <a:extLst>
              <a:ext uri="{FF2B5EF4-FFF2-40B4-BE49-F238E27FC236}">
                <a16:creationId xmlns:a16="http://schemas.microsoft.com/office/drawing/2014/main" id="{183D7ADE-B21A-40F4-ADBF-81719109C722}"/>
              </a:ext>
            </a:extLst>
          </p:cNvPr>
          <p:cNvSpPr/>
          <p:nvPr/>
        </p:nvSpPr>
        <p:spPr>
          <a:xfrm>
            <a:off x="1140643" y="3126865"/>
            <a:ext cx="2667786" cy="2168165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了解攻击对象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9ACD4B9-AB54-4651-A5CF-B14617FD5D67}"/>
              </a:ext>
            </a:extLst>
          </p:cNvPr>
          <p:cNvCxnSpPr/>
          <p:nvPr/>
        </p:nvCxnSpPr>
        <p:spPr>
          <a:xfrm>
            <a:off x="3403076" y="4100660"/>
            <a:ext cx="2300140" cy="1194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9B151C4-9D46-41EA-831B-739938B1E21D}"/>
              </a:ext>
            </a:extLst>
          </p:cNvPr>
          <p:cNvCxnSpPr/>
          <p:nvPr/>
        </p:nvCxnSpPr>
        <p:spPr>
          <a:xfrm flipV="1">
            <a:off x="3393649" y="3346515"/>
            <a:ext cx="2366128" cy="725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284EEC90-D17A-4CD7-B483-FBC6111C7DC6}"/>
              </a:ext>
            </a:extLst>
          </p:cNvPr>
          <p:cNvSpPr/>
          <p:nvPr/>
        </p:nvSpPr>
        <p:spPr>
          <a:xfrm>
            <a:off x="5759777" y="2648932"/>
            <a:ext cx="5835192" cy="11689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通信程序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9221DC7-037F-471D-9E51-0C042DDF5223}"/>
              </a:ext>
            </a:extLst>
          </p:cNvPr>
          <p:cNvSpPr/>
          <p:nvPr/>
        </p:nvSpPr>
        <p:spPr>
          <a:xfrm>
            <a:off x="5759777" y="4710568"/>
            <a:ext cx="5835192" cy="11689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真实通信报文</a:t>
            </a:r>
          </a:p>
        </p:txBody>
      </p:sp>
    </p:spTree>
    <p:extLst>
      <p:ext uri="{BB962C8B-B14F-4D97-AF65-F5344CB8AC3E}">
        <p14:creationId xmlns:p14="http://schemas.microsoft.com/office/powerpoint/2010/main" val="89861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562970"/>
            <a:ext cx="12192000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分析程序，推测报文的数据构造。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了解键盘控制程序通信机制</a:t>
            </a:r>
          </a:p>
        </p:txBody>
      </p:sp>
      <p:sp>
        <p:nvSpPr>
          <p:cNvPr id="3" name="星形: 七角 2">
            <a:extLst>
              <a:ext uri="{FF2B5EF4-FFF2-40B4-BE49-F238E27FC236}">
                <a16:creationId xmlns:a16="http://schemas.microsoft.com/office/drawing/2014/main" id="{183D7ADE-B21A-40F4-ADBF-81719109C722}"/>
              </a:ext>
            </a:extLst>
          </p:cNvPr>
          <p:cNvSpPr/>
          <p:nvPr/>
        </p:nvSpPr>
        <p:spPr>
          <a:xfrm>
            <a:off x="1729423" y="2464519"/>
            <a:ext cx="2356700" cy="973795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路径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9B151C4-9D46-41EA-831B-739938B1E21D}"/>
              </a:ext>
            </a:extLst>
          </p:cNvPr>
          <p:cNvCxnSpPr>
            <a:cxnSpLocks/>
            <a:stCxn id="15" idx="2"/>
            <a:endCxn id="3" idx="1"/>
          </p:cNvCxnSpPr>
          <p:nvPr/>
        </p:nvCxnSpPr>
        <p:spPr>
          <a:xfrm flipH="1" flipV="1">
            <a:off x="4086129" y="3090773"/>
            <a:ext cx="1673648" cy="142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284EEC90-D17A-4CD7-B483-FBC6111C7DC6}"/>
              </a:ext>
            </a:extLst>
          </p:cNvPr>
          <p:cNvSpPr/>
          <p:nvPr/>
        </p:nvSpPr>
        <p:spPr>
          <a:xfrm>
            <a:off x="5759777" y="2648932"/>
            <a:ext cx="5835192" cy="11689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通信程序</a:t>
            </a:r>
            <a:r>
              <a:rPr lang="en-US" altLang="zh-CN" sz="2400"/>
              <a:t>turtlebot3_teleop</a:t>
            </a:r>
            <a:endParaRPr lang="zh-CN" altLang="en-US" sz="240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9221DC7-037F-471D-9E51-0C042DDF5223}"/>
              </a:ext>
            </a:extLst>
          </p:cNvPr>
          <p:cNvSpPr/>
          <p:nvPr/>
        </p:nvSpPr>
        <p:spPr>
          <a:xfrm>
            <a:off x="5759777" y="4710568"/>
            <a:ext cx="5835192" cy="11689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推测报文的数据构造</a:t>
            </a:r>
          </a:p>
        </p:txBody>
      </p:sp>
      <p:sp>
        <p:nvSpPr>
          <p:cNvPr id="17" name="星形: 七角 16">
            <a:extLst>
              <a:ext uri="{FF2B5EF4-FFF2-40B4-BE49-F238E27FC236}">
                <a16:creationId xmlns:a16="http://schemas.microsoft.com/office/drawing/2014/main" id="{FE624DE4-0AAB-404D-993E-352C068AD193}"/>
              </a:ext>
            </a:extLst>
          </p:cNvPr>
          <p:cNvSpPr/>
          <p:nvPr/>
        </p:nvSpPr>
        <p:spPr>
          <a:xfrm>
            <a:off x="1729423" y="3691116"/>
            <a:ext cx="2356700" cy="973795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内容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9FCAD7F-17BF-438A-9503-5E40001CDB1A}"/>
              </a:ext>
            </a:extLst>
          </p:cNvPr>
          <p:cNvCxnSpPr>
            <a:cxnSpLocks/>
            <a:endCxn id="17" idx="6"/>
          </p:cNvCxnSpPr>
          <p:nvPr/>
        </p:nvCxnSpPr>
        <p:spPr>
          <a:xfrm>
            <a:off x="2907773" y="3324528"/>
            <a:ext cx="0" cy="36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星形: 七角 21">
            <a:extLst>
              <a:ext uri="{FF2B5EF4-FFF2-40B4-BE49-F238E27FC236}">
                <a16:creationId xmlns:a16="http://schemas.microsoft.com/office/drawing/2014/main" id="{AA53B3E4-CB66-4F7A-AE0C-9EC0B2509848}"/>
              </a:ext>
            </a:extLst>
          </p:cNvPr>
          <p:cNvSpPr/>
          <p:nvPr/>
        </p:nvSpPr>
        <p:spPr>
          <a:xfrm>
            <a:off x="496556" y="5098653"/>
            <a:ext cx="2356700" cy="973795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launch</a:t>
            </a:r>
            <a:endParaRPr lang="zh-CN" altLang="en-US" sz="2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星形: 七角 22">
            <a:extLst>
              <a:ext uri="{FF2B5EF4-FFF2-40B4-BE49-F238E27FC236}">
                <a16:creationId xmlns:a16="http://schemas.microsoft.com/office/drawing/2014/main" id="{EC5D73E7-CD94-4E3F-BDFF-8E941F5F40BC}"/>
              </a:ext>
            </a:extLst>
          </p:cNvPr>
          <p:cNvSpPr/>
          <p:nvPr/>
        </p:nvSpPr>
        <p:spPr>
          <a:xfrm>
            <a:off x="2961154" y="5098653"/>
            <a:ext cx="2356700" cy="973795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nodes</a:t>
            </a:r>
            <a:endParaRPr lang="zh-CN" altLang="en-US" sz="2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6317411-44F4-4D61-BE08-D7507C6D2FAA}"/>
              </a:ext>
            </a:extLst>
          </p:cNvPr>
          <p:cNvCxnSpPr>
            <a:cxnSpLocks/>
          </p:cNvCxnSpPr>
          <p:nvPr/>
        </p:nvCxnSpPr>
        <p:spPr>
          <a:xfrm flipH="1">
            <a:off x="2053963" y="4544859"/>
            <a:ext cx="853813" cy="750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95C6645-1A24-4DC1-875B-B06A30B1F568}"/>
              </a:ext>
            </a:extLst>
          </p:cNvPr>
          <p:cNvCxnSpPr>
            <a:cxnSpLocks/>
          </p:cNvCxnSpPr>
          <p:nvPr/>
        </p:nvCxnSpPr>
        <p:spPr>
          <a:xfrm>
            <a:off x="2906634" y="4544859"/>
            <a:ext cx="891915" cy="750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6A09B60-F274-4AF1-A988-362FEB4A5850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8677373" y="3817856"/>
            <a:ext cx="0" cy="89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78DAA2EC-0109-40B8-89F7-1741BB67D869}"/>
              </a:ext>
            </a:extLst>
          </p:cNvPr>
          <p:cNvSpPr txBox="1"/>
          <p:nvPr/>
        </p:nvSpPr>
        <p:spPr>
          <a:xfrm>
            <a:off x="3929281" y="2336514"/>
            <a:ext cx="1987339" cy="581057"/>
          </a:xfrm>
          <a:prstGeom prst="rect">
            <a:avLst/>
          </a:prstGeom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rospack find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611AE9E-76CC-4E7B-AAA7-8904A839A126}"/>
              </a:ext>
            </a:extLst>
          </p:cNvPr>
          <p:cNvSpPr txBox="1"/>
          <p:nvPr/>
        </p:nvSpPr>
        <p:spPr>
          <a:xfrm>
            <a:off x="8885881" y="3963802"/>
            <a:ext cx="2126351" cy="581057"/>
          </a:xfrm>
          <a:prstGeom prst="rect">
            <a:avLst/>
          </a:prstGeom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rosmsg show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01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36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562970"/>
            <a:ext cx="12192000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数据共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了解键盘控制程序通信机制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6F39824-EDE9-421C-B8B2-3AA9E467384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5736" y="2830313"/>
            <a:ext cx="8238036" cy="2752290"/>
          </a:xfrm>
          <a:prstGeom prst="rect">
            <a:avLst/>
          </a:prstGeom>
        </p:spPr>
      </p:pic>
      <p:sp>
        <p:nvSpPr>
          <p:cNvPr id="24" name="星形: 七角 23">
            <a:extLst>
              <a:ext uri="{FF2B5EF4-FFF2-40B4-BE49-F238E27FC236}">
                <a16:creationId xmlns:a16="http://schemas.microsoft.com/office/drawing/2014/main" id="{93A510E5-E0B6-4294-891E-9B2E0D35C766}"/>
              </a:ext>
            </a:extLst>
          </p:cNvPr>
          <p:cNvSpPr/>
          <p:nvPr/>
        </p:nvSpPr>
        <p:spPr>
          <a:xfrm>
            <a:off x="5272503" y="3569663"/>
            <a:ext cx="2863347" cy="973795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6×8</a:t>
            </a:r>
            <a:r>
              <a:rPr lang="zh-CN" alt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3278158-4169-4458-BCA1-C98AE3EF245E}"/>
              </a:ext>
            </a:extLst>
          </p:cNvPr>
          <p:cNvCxnSpPr>
            <a:cxnSpLocks/>
            <a:endCxn id="24" idx="4"/>
          </p:cNvCxnSpPr>
          <p:nvPr/>
        </p:nvCxnSpPr>
        <p:spPr>
          <a:xfrm flipV="1">
            <a:off x="3877519" y="4195917"/>
            <a:ext cx="1394977" cy="190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3F7E99E-0863-4E7D-85FA-BD275513E476}"/>
              </a:ext>
            </a:extLst>
          </p:cNvPr>
          <p:cNvSpPr/>
          <p:nvPr/>
        </p:nvSpPr>
        <p:spPr>
          <a:xfrm>
            <a:off x="5759777" y="4710568"/>
            <a:ext cx="5835192" cy="11689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推测报文的数据构造</a:t>
            </a:r>
          </a:p>
        </p:txBody>
      </p:sp>
    </p:spTree>
    <p:extLst>
      <p:ext uri="{BB962C8B-B14F-4D97-AF65-F5344CB8AC3E}">
        <p14:creationId xmlns:p14="http://schemas.microsoft.com/office/powerpoint/2010/main" val="143697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7FF6B4A-F0C1-4C60-AE29-57C7B31D226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572" y="1190803"/>
            <a:ext cx="10198637" cy="5615113"/>
          </a:xfrm>
          <a:prstGeom prst="rect">
            <a:avLst/>
          </a:prstGeom>
        </p:spPr>
      </p:pic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了解键盘控制程序通信机制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9221DC7-037F-471D-9E51-0C042DDF5223}"/>
              </a:ext>
            </a:extLst>
          </p:cNvPr>
          <p:cNvSpPr/>
          <p:nvPr/>
        </p:nvSpPr>
        <p:spPr>
          <a:xfrm>
            <a:off x="5759777" y="4710568"/>
            <a:ext cx="5835192" cy="11689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真实通信报文</a:t>
            </a:r>
          </a:p>
        </p:txBody>
      </p:sp>
      <p:sp>
        <p:nvSpPr>
          <p:cNvPr id="11" name="星形: 七角 10">
            <a:extLst>
              <a:ext uri="{FF2B5EF4-FFF2-40B4-BE49-F238E27FC236}">
                <a16:creationId xmlns:a16="http://schemas.microsoft.com/office/drawing/2014/main" id="{079A8C92-684A-4BCC-B6D4-FDA5270E143F}"/>
              </a:ext>
            </a:extLst>
          </p:cNvPr>
          <p:cNvSpPr/>
          <p:nvPr/>
        </p:nvSpPr>
        <p:spPr>
          <a:xfrm>
            <a:off x="5272503" y="3569663"/>
            <a:ext cx="3605279" cy="973795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4+6×8</a:t>
            </a:r>
            <a:r>
              <a:rPr lang="zh-CN" alt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2EAF052-330F-4CCF-912C-7EE3C7546B67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1724628" y="4195917"/>
            <a:ext cx="3547866" cy="89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4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39D6146-2372-4E44-9FF2-6A8BEA4F948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5964" y="1221878"/>
            <a:ext cx="10371407" cy="5479864"/>
          </a:xfrm>
          <a:prstGeom prst="rect">
            <a:avLst/>
          </a:prstGeom>
        </p:spPr>
      </p:pic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了解键盘控制程序通信机制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9221DC7-037F-471D-9E51-0C042DDF5223}"/>
              </a:ext>
            </a:extLst>
          </p:cNvPr>
          <p:cNvSpPr/>
          <p:nvPr/>
        </p:nvSpPr>
        <p:spPr>
          <a:xfrm>
            <a:off x="5759777" y="4710568"/>
            <a:ext cx="5835192" cy="11689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真实通信报文</a:t>
            </a:r>
          </a:p>
        </p:txBody>
      </p:sp>
      <p:sp>
        <p:nvSpPr>
          <p:cNvPr id="11" name="星形: 七角 10">
            <a:extLst>
              <a:ext uri="{FF2B5EF4-FFF2-40B4-BE49-F238E27FC236}">
                <a16:creationId xmlns:a16="http://schemas.microsoft.com/office/drawing/2014/main" id="{079A8C92-684A-4BCC-B6D4-FDA5270E143F}"/>
              </a:ext>
            </a:extLst>
          </p:cNvPr>
          <p:cNvSpPr/>
          <p:nvPr/>
        </p:nvSpPr>
        <p:spPr>
          <a:xfrm>
            <a:off x="4803495" y="2455205"/>
            <a:ext cx="5835192" cy="973795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</a:t>
            </a:r>
            <a:r>
              <a:rPr lang="en-US" altLang="zh-CN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zh-CN" alt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到</a:t>
            </a:r>
            <a:r>
              <a:rPr lang="en-US" altLang="zh-CN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r>
              <a:rPr lang="zh-CN" alt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个字节变化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2EAF052-330F-4CCF-912C-7EE3C7546B67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4525701" y="3429005"/>
            <a:ext cx="1896945" cy="2670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3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562970"/>
            <a:ext cx="12192000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分析结果：完全确定数据段的构造。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了解键盘控制程序通信机制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DAA5A7-491B-4F09-BAC2-EFD338FF61EF}"/>
              </a:ext>
            </a:extLst>
          </p:cNvPr>
          <p:cNvSpPr/>
          <p:nvPr/>
        </p:nvSpPr>
        <p:spPr>
          <a:xfrm>
            <a:off x="1313896" y="2951545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TCP</a:t>
            </a:r>
            <a:r>
              <a:rPr lang="zh-CN" altLang="en-US"/>
              <a:t>报文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8A346A-F4A1-4BA6-A5F3-18574E19B4C6}"/>
              </a:ext>
            </a:extLst>
          </p:cNvPr>
          <p:cNvSpPr/>
          <p:nvPr/>
        </p:nvSpPr>
        <p:spPr>
          <a:xfrm>
            <a:off x="1313896" y="3622877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总长</a:t>
            </a:r>
            <a:r>
              <a:rPr lang="en-US" altLang="zh-CN"/>
              <a:t>118</a:t>
            </a: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B13BD7-C9E8-4DAA-99F8-7EA186BD8798}"/>
              </a:ext>
            </a:extLst>
          </p:cNvPr>
          <p:cNvSpPr/>
          <p:nvPr/>
        </p:nvSpPr>
        <p:spPr>
          <a:xfrm>
            <a:off x="1313895" y="4294209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数据段</a:t>
            </a:r>
            <a:r>
              <a:rPr lang="en-US" altLang="zh-CN"/>
              <a:t>52</a:t>
            </a:r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1FEB79-7274-413B-9DC2-A8C61C543A11}"/>
              </a:ext>
            </a:extLst>
          </p:cNvPr>
          <p:cNvSpPr/>
          <p:nvPr/>
        </p:nvSpPr>
        <p:spPr>
          <a:xfrm>
            <a:off x="3503439" y="3611302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未知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B8CEA2-66AA-453A-A9B1-25FD87A80475}"/>
              </a:ext>
            </a:extLst>
          </p:cNvPr>
          <p:cNvSpPr/>
          <p:nvPr/>
        </p:nvSpPr>
        <p:spPr>
          <a:xfrm>
            <a:off x="3503439" y="4282634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线速度</a:t>
            </a:r>
            <a:r>
              <a:rPr lang="en-US" altLang="zh-CN"/>
              <a:t>24</a:t>
            </a: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B0085E-FF00-4887-89D4-356707BAFBB5}"/>
              </a:ext>
            </a:extLst>
          </p:cNvPr>
          <p:cNvSpPr/>
          <p:nvPr/>
        </p:nvSpPr>
        <p:spPr>
          <a:xfrm>
            <a:off x="3503439" y="4953966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角速度</a:t>
            </a:r>
            <a:r>
              <a:rPr lang="en-US" altLang="zh-CN"/>
              <a:t>24</a:t>
            </a:r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D689F96-6B62-48EE-BF34-D6A53519918C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2818604" y="3946968"/>
            <a:ext cx="684835" cy="682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C1446CB-2B0B-4410-AF15-0218BD3453D2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2818604" y="4618300"/>
            <a:ext cx="684835" cy="11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138E956-E503-4508-A88A-D7B76D1BE1BA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2818604" y="4629875"/>
            <a:ext cx="684835" cy="659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12DF520-A928-4E02-8EFB-80467591E54D}"/>
              </a:ext>
            </a:extLst>
          </p:cNvPr>
          <p:cNvSpPr/>
          <p:nvPr/>
        </p:nvSpPr>
        <p:spPr>
          <a:xfrm>
            <a:off x="6294868" y="2395960"/>
            <a:ext cx="1504709" cy="671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linearX</a:t>
            </a:r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38C992A-50F2-4459-B59E-7637A41035D2}"/>
              </a:ext>
            </a:extLst>
          </p:cNvPr>
          <p:cNvSpPr/>
          <p:nvPr/>
        </p:nvSpPr>
        <p:spPr>
          <a:xfrm>
            <a:off x="6294868" y="3067292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linearY</a:t>
            </a:r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887F26-A567-4D37-9115-AE6E0C39F8C4}"/>
              </a:ext>
            </a:extLst>
          </p:cNvPr>
          <p:cNvSpPr/>
          <p:nvPr/>
        </p:nvSpPr>
        <p:spPr>
          <a:xfrm>
            <a:off x="6294868" y="3738624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linearZ</a:t>
            </a:r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B8A7844-552C-48E5-8750-329C9665798B}"/>
              </a:ext>
            </a:extLst>
          </p:cNvPr>
          <p:cNvCxnSpPr>
            <a:cxnSpLocks/>
            <a:stCxn id="19" idx="3"/>
            <a:endCxn id="29" idx="1"/>
          </p:cNvCxnSpPr>
          <p:nvPr/>
        </p:nvCxnSpPr>
        <p:spPr>
          <a:xfrm flipV="1">
            <a:off x="5008148" y="2731626"/>
            <a:ext cx="1286720" cy="1886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FEFB48D-3025-40D0-9166-6F4A919FAF16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 flipV="1">
            <a:off x="5008148" y="3402958"/>
            <a:ext cx="1286720" cy="1215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6ADD991-0391-4D0F-9267-308EC98CE27F}"/>
              </a:ext>
            </a:extLst>
          </p:cNvPr>
          <p:cNvCxnSpPr>
            <a:cxnSpLocks/>
            <a:stCxn id="19" idx="3"/>
            <a:endCxn id="31" idx="1"/>
          </p:cNvCxnSpPr>
          <p:nvPr/>
        </p:nvCxnSpPr>
        <p:spPr>
          <a:xfrm flipV="1">
            <a:off x="5008148" y="4074290"/>
            <a:ext cx="1286720" cy="544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6097C620-83BA-4012-85AA-FCFB322A049A}"/>
              </a:ext>
            </a:extLst>
          </p:cNvPr>
          <p:cNvSpPr/>
          <p:nvPr/>
        </p:nvSpPr>
        <p:spPr>
          <a:xfrm>
            <a:off x="6294868" y="4618300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0" i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angular</a:t>
            </a:r>
            <a:r>
              <a:rPr lang="en-US" altLang="zh-CN"/>
              <a:t>X</a:t>
            </a:r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B5817BA-89A6-464E-B26E-0D6A40DA504C}"/>
              </a:ext>
            </a:extLst>
          </p:cNvPr>
          <p:cNvSpPr/>
          <p:nvPr/>
        </p:nvSpPr>
        <p:spPr>
          <a:xfrm>
            <a:off x="6294868" y="5289632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0" i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angular</a:t>
            </a:r>
            <a:r>
              <a:rPr lang="en-US" altLang="zh-CN"/>
              <a:t>Y</a:t>
            </a:r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B84D9BA-0936-4903-82BC-880A55650818}"/>
              </a:ext>
            </a:extLst>
          </p:cNvPr>
          <p:cNvSpPr/>
          <p:nvPr/>
        </p:nvSpPr>
        <p:spPr>
          <a:xfrm>
            <a:off x="6294868" y="5960964"/>
            <a:ext cx="1504709" cy="671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angularZ</a:t>
            </a:r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B3EE727-46AD-4509-82B7-F300F75C3803}"/>
              </a:ext>
            </a:extLst>
          </p:cNvPr>
          <p:cNvCxnSpPr>
            <a:cxnSpLocks/>
            <a:stCxn id="20" idx="3"/>
            <a:endCxn id="38" idx="1"/>
          </p:cNvCxnSpPr>
          <p:nvPr/>
        </p:nvCxnSpPr>
        <p:spPr>
          <a:xfrm flipV="1">
            <a:off x="5008148" y="4953966"/>
            <a:ext cx="1286720" cy="335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AFDA482-4D17-48EA-A880-5C7D525DDB72}"/>
              </a:ext>
            </a:extLst>
          </p:cNvPr>
          <p:cNvCxnSpPr>
            <a:cxnSpLocks/>
            <a:stCxn id="20" idx="3"/>
            <a:endCxn id="39" idx="1"/>
          </p:cNvCxnSpPr>
          <p:nvPr/>
        </p:nvCxnSpPr>
        <p:spPr>
          <a:xfrm>
            <a:off x="5008148" y="5289632"/>
            <a:ext cx="1286720" cy="335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AD30CD3-D8F6-4D6F-ADAA-B2F049B63BAF}"/>
              </a:ext>
            </a:extLst>
          </p:cNvPr>
          <p:cNvCxnSpPr>
            <a:cxnSpLocks/>
            <a:stCxn id="20" idx="3"/>
            <a:endCxn id="40" idx="1"/>
          </p:cNvCxnSpPr>
          <p:nvPr/>
        </p:nvCxnSpPr>
        <p:spPr>
          <a:xfrm>
            <a:off x="5008148" y="5289632"/>
            <a:ext cx="1286720" cy="1006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1F09C0F-8307-4E0C-99A0-DDA9A7B7BF91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7799577" y="2731626"/>
            <a:ext cx="6413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54E45E6-F3B5-4ADE-A3A9-A7EF8D715AFF}"/>
              </a:ext>
            </a:extLst>
          </p:cNvPr>
          <p:cNvCxnSpPr>
            <a:cxnSpLocks/>
          </p:cNvCxnSpPr>
          <p:nvPr/>
        </p:nvCxnSpPr>
        <p:spPr>
          <a:xfrm>
            <a:off x="7799577" y="6296630"/>
            <a:ext cx="6413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57199E11-11A2-4BC7-A7D2-24A23403DFAF}"/>
              </a:ext>
            </a:extLst>
          </p:cNvPr>
          <p:cNvSpPr/>
          <p:nvPr/>
        </p:nvSpPr>
        <p:spPr>
          <a:xfrm>
            <a:off x="8456524" y="2414678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float64</a:t>
            </a:r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4B06D85-DA35-4AFC-BDF8-164CEB23DB50}"/>
              </a:ext>
            </a:extLst>
          </p:cNvPr>
          <p:cNvSpPr/>
          <p:nvPr/>
        </p:nvSpPr>
        <p:spPr>
          <a:xfrm>
            <a:off x="8456524" y="5960964"/>
            <a:ext cx="1504709" cy="6713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float64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45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562970"/>
            <a:ext cx="12192000" cy="4459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攻击过程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、主机发现（可选）；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ARP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欺骗；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3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、关闭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转发；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4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、数据篡改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攻击结果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小车控制反向，前进变后退，左拐变右拐。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攻击工具：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scapy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时刻打开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观察异动。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攻击准备</a:t>
            </a:r>
          </a:p>
        </p:txBody>
      </p:sp>
    </p:spTree>
    <p:extLst>
      <p:ext uri="{BB962C8B-B14F-4D97-AF65-F5344CB8AC3E}">
        <p14:creationId xmlns:p14="http://schemas.microsoft.com/office/powerpoint/2010/main" val="34170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562970"/>
            <a:ext cx="12192000" cy="4133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远程得知同局域网下的被攻击和小车的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地址：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、获取存活主机：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nmap -sP 192.168.1.0/24【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将当前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地址最后一位改为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，再加子网掩码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、获取可疑主机详细信息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(mac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地址、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端口、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端口、操作系统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nmap -sT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-sU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-O[IP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、判断虚拟机和主机：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如果对方用虚拟机进行控制，后续攻击时需要填写对方虚拟机的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地址。虚拟机和主机的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地址是一致的，借此可判断是否是该主机对应的虚拟机。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sz="8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攻击准备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主机发现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081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攻击准备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欺骗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B0DD0-3760-4A8F-8B51-69257219F6A9}"/>
              </a:ext>
            </a:extLst>
          </p:cNvPr>
          <p:cNvSpPr txBox="1"/>
          <p:nvPr/>
        </p:nvSpPr>
        <p:spPr>
          <a:xfrm>
            <a:off x="14872" y="1474334"/>
            <a:ext cx="12183122" cy="357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主要指令：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sudo arpspoof –t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小车 被攻击机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欺骗小车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sudo arpspoof –t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被攻击机 小车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欺骗被攻击机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scapy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脚本：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构造虚假的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回应报文并反复发送。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详见：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https://gitee.com/shandianchengzi/arp-course/blob/master/arp_cheat.py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sz="8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78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攻击准备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B0DD0-3760-4A8F-8B51-69257219F6A9}"/>
              </a:ext>
            </a:extLst>
          </p:cNvPr>
          <p:cNvSpPr txBox="1"/>
          <p:nvPr/>
        </p:nvSpPr>
        <p:spPr>
          <a:xfrm>
            <a:off x="14872" y="1474334"/>
            <a:ext cx="12183122" cy="357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转发：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/proc/sys/net/ipv4/ip_forward 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sudo sysctl net.ipv4.ip_forward=1</a:t>
            </a: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转发：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0 &gt; /proc/sys/net/ipv4/ip_forward</a:t>
            </a: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sudo sysctl net.ipv4.ip_forward=0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sz="8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603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攻击准备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数据篡改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B0DD0-3760-4A8F-8B51-69257219F6A9}"/>
              </a:ext>
            </a:extLst>
          </p:cNvPr>
          <p:cNvSpPr txBox="1"/>
          <p:nvPr/>
        </p:nvSpPr>
        <p:spPr>
          <a:xfrm>
            <a:off x="8878" y="1638399"/>
            <a:ext cx="12183122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分两步走，第一步是无条件转发所有报文，第二步是添加某一类报文的篡改。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5EDE688-2355-4D9D-BB32-85F775A88290}"/>
              </a:ext>
            </a:extLst>
          </p:cNvPr>
          <p:cNvSpPr/>
          <p:nvPr/>
        </p:nvSpPr>
        <p:spPr>
          <a:xfrm>
            <a:off x="327366" y="3894074"/>
            <a:ext cx="1379729" cy="79649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第一步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AFF8C6C-83A3-41B2-95A1-BCB2B71866AC}"/>
              </a:ext>
            </a:extLst>
          </p:cNvPr>
          <p:cNvSpPr/>
          <p:nvPr/>
        </p:nvSpPr>
        <p:spPr>
          <a:xfrm>
            <a:off x="1803094" y="3894074"/>
            <a:ext cx="2618342" cy="79649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转发嗅探的报文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03DF263-C178-485C-9A30-386999278201}"/>
              </a:ext>
            </a:extLst>
          </p:cNvPr>
          <p:cNvSpPr/>
          <p:nvPr/>
        </p:nvSpPr>
        <p:spPr>
          <a:xfrm>
            <a:off x="4000190" y="2527733"/>
            <a:ext cx="2906618" cy="10580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zh-CN" altLang="en-US"/>
              <a:t>→</a:t>
            </a:r>
            <a:r>
              <a:rPr lang="en-US" altLang="zh-CN"/>
              <a:t>B (</a:t>
            </a:r>
            <a:r>
              <a:rPr lang="zh-CN" altLang="en-US"/>
              <a:t>实际</a:t>
            </a:r>
            <a:r>
              <a:rPr lang="en-US" altLang="zh-CN"/>
              <a:t>A</a:t>
            </a:r>
            <a:r>
              <a:rPr lang="zh-CN" altLang="en-US"/>
              <a:t> → </a:t>
            </a:r>
            <a:r>
              <a:rPr lang="en-US" altLang="zh-CN"/>
              <a:t>C)</a:t>
            </a: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73617CC-15B7-4D17-8A53-3D31BFD8990C}"/>
              </a:ext>
            </a:extLst>
          </p:cNvPr>
          <p:cNvSpPr/>
          <p:nvPr/>
        </p:nvSpPr>
        <p:spPr>
          <a:xfrm>
            <a:off x="4000190" y="4952163"/>
            <a:ext cx="2906618" cy="10580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r>
              <a:rPr lang="zh-CN" altLang="en-US"/>
              <a:t> → </a:t>
            </a:r>
            <a:r>
              <a:rPr lang="en-US" altLang="zh-CN"/>
              <a:t>A (</a:t>
            </a:r>
            <a:r>
              <a:rPr lang="zh-CN" altLang="en-US"/>
              <a:t>实际</a:t>
            </a:r>
            <a:r>
              <a:rPr lang="en-US" altLang="zh-CN"/>
              <a:t>B</a:t>
            </a:r>
            <a:r>
              <a:rPr lang="zh-CN" altLang="en-US"/>
              <a:t> → </a:t>
            </a:r>
            <a:r>
              <a:rPr lang="en-US" altLang="zh-CN"/>
              <a:t>C)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86D1F6-325F-48AC-B788-9F5DFF799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808" y="3418528"/>
            <a:ext cx="5159431" cy="1740092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7FA40BC-E118-43A0-A315-9853B5275F56}"/>
              </a:ext>
            </a:extLst>
          </p:cNvPr>
          <p:cNvCxnSpPr>
            <a:stCxn id="2" idx="6"/>
            <a:endCxn id="7" idx="2"/>
          </p:cNvCxnSpPr>
          <p:nvPr/>
        </p:nvCxnSpPr>
        <p:spPr>
          <a:xfrm>
            <a:off x="1707095" y="4292322"/>
            <a:ext cx="959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5E02261-5930-4E89-8AB5-980C000F9EB7}"/>
              </a:ext>
            </a:extLst>
          </p:cNvPr>
          <p:cNvCxnSpPr>
            <a:stCxn id="7" idx="5"/>
            <a:endCxn id="11" idx="1"/>
          </p:cNvCxnSpPr>
          <p:nvPr/>
        </p:nvCxnSpPr>
        <p:spPr>
          <a:xfrm>
            <a:off x="4037989" y="4573925"/>
            <a:ext cx="387865" cy="533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E51BFEF-568C-4703-A08D-9BA9276E6503}"/>
              </a:ext>
            </a:extLst>
          </p:cNvPr>
          <p:cNvCxnSpPr>
            <a:stCxn id="7" idx="7"/>
            <a:endCxn id="10" idx="3"/>
          </p:cNvCxnSpPr>
          <p:nvPr/>
        </p:nvCxnSpPr>
        <p:spPr>
          <a:xfrm flipV="1">
            <a:off x="4037989" y="3430846"/>
            <a:ext cx="387865" cy="579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93CBB68-D193-4407-B3C4-4AD4BFDCB99D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6481144" y="3430846"/>
            <a:ext cx="463462" cy="463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3E2D041-2CFD-4E63-B98D-4E0D21E53866}"/>
              </a:ext>
            </a:extLst>
          </p:cNvPr>
          <p:cNvCxnSpPr>
            <a:stCxn id="11" idx="7"/>
          </p:cNvCxnSpPr>
          <p:nvPr/>
        </p:nvCxnSpPr>
        <p:spPr>
          <a:xfrm flipV="1">
            <a:off x="6481144" y="4784868"/>
            <a:ext cx="463463" cy="322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71A5723A-32BD-424F-8E71-5BB160FE7B69}"/>
              </a:ext>
            </a:extLst>
          </p:cNvPr>
          <p:cNvSpPr/>
          <p:nvPr/>
        </p:nvSpPr>
        <p:spPr>
          <a:xfrm>
            <a:off x="6944606" y="3429000"/>
            <a:ext cx="5041743" cy="863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8D0C36-18EE-48E0-9788-591757074926}"/>
              </a:ext>
            </a:extLst>
          </p:cNvPr>
          <p:cNvSpPr/>
          <p:nvPr/>
        </p:nvSpPr>
        <p:spPr>
          <a:xfrm>
            <a:off x="6944608" y="4309143"/>
            <a:ext cx="5041744" cy="863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4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攻击准备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数据篡改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B0DD0-3760-4A8F-8B51-69257219F6A9}"/>
              </a:ext>
            </a:extLst>
          </p:cNvPr>
          <p:cNvSpPr txBox="1"/>
          <p:nvPr/>
        </p:nvSpPr>
        <p:spPr>
          <a:xfrm>
            <a:off x="8878" y="1638399"/>
            <a:ext cx="12183122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第二步，篡改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的数据段，对符号位取反。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29743DB-FD6E-4CEA-9903-69DED1A53D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9316" y="2346594"/>
            <a:ext cx="9077897" cy="417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3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正式开始攻击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B0DD0-3760-4A8F-8B51-69257219F6A9}"/>
              </a:ext>
            </a:extLst>
          </p:cNvPr>
          <p:cNvSpPr txBox="1"/>
          <p:nvPr/>
        </p:nvSpPr>
        <p:spPr>
          <a:xfrm>
            <a:off x="8878" y="1638399"/>
            <a:ext cx="12183122" cy="2797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第一步，建立远程连接。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第二步，关掉攻击机的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转发，并运行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欺骗和数据篡改程序。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第三步，验证攻击效果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· 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抓包，查看过滤的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· 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用被攻击机控制小车，观察小车的行为。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596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正式开始攻击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第二步的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欺骗程序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2F3DB1-514C-4BED-938F-E59C82B803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48025" y="1616536"/>
            <a:ext cx="569595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2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正式开始攻击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第三步的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C16A3C-3FED-4AB2-A695-C0CE04B016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09407" y="1867534"/>
            <a:ext cx="9637713" cy="40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7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F0181567-F7D0-4343-B7C1-211F743C570C}"/>
              </a:ext>
            </a:extLst>
          </p:cNvPr>
          <p:cNvSpPr/>
          <p:nvPr/>
        </p:nvSpPr>
        <p:spPr>
          <a:xfrm>
            <a:off x="2541588" y="0"/>
            <a:ext cx="6907213" cy="5676900"/>
          </a:xfrm>
          <a:prstGeom prst="triangle">
            <a:avLst/>
          </a:prstGeom>
          <a:noFill/>
          <a:ln>
            <a:solidFill>
              <a:schemeClr val="accent1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A816B2B-96F0-4A05-A735-0D991F8E5595}"/>
              </a:ext>
            </a:extLst>
          </p:cNvPr>
          <p:cNvSpPr/>
          <p:nvPr/>
        </p:nvSpPr>
        <p:spPr>
          <a:xfrm rot="10800000">
            <a:off x="3059113" y="1319213"/>
            <a:ext cx="6008688" cy="4416425"/>
          </a:xfrm>
          <a:prstGeom prst="triangle">
            <a:avLst/>
          </a:prstGeom>
          <a:noFill/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等腰三角形 10">
            <a:extLst>
              <a:ext uri="{FF2B5EF4-FFF2-40B4-BE49-F238E27FC236}">
                <a16:creationId xmlns:a16="http://schemas.microsoft.com/office/drawing/2014/main" id="{3B034A26-43F6-4F69-9BE0-2D399A996E2A}"/>
              </a:ext>
            </a:extLst>
          </p:cNvPr>
          <p:cNvSpPr/>
          <p:nvPr/>
        </p:nvSpPr>
        <p:spPr>
          <a:xfrm rot="7016274">
            <a:off x="1935163" y="454025"/>
            <a:ext cx="3770313" cy="6859588"/>
          </a:xfrm>
          <a:custGeom>
            <a:avLst/>
            <a:gdLst>
              <a:gd name="connsiteX0" fmla="*/ 0 w 7540399"/>
              <a:gd name="connsiteY0" fmla="*/ 6859430 h 6859430"/>
              <a:gd name="connsiteX1" fmla="*/ 3770200 w 7540399"/>
              <a:gd name="connsiteY1" fmla="*/ 0 h 6859430"/>
              <a:gd name="connsiteX2" fmla="*/ 7540399 w 7540399"/>
              <a:gd name="connsiteY2" fmla="*/ 6859430 h 6859430"/>
              <a:gd name="connsiteX3" fmla="*/ 0 w 7540399"/>
              <a:gd name="connsiteY3" fmla="*/ 6859430 h 6859430"/>
              <a:gd name="connsiteX0-1" fmla="*/ 0 w 3770200"/>
              <a:gd name="connsiteY0-2" fmla="*/ 6859430 h 6859430"/>
              <a:gd name="connsiteX1-3" fmla="*/ 3770200 w 3770200"/>
              <a:gd name="connsiteY1-4" fmla="*/ 0 h 6859430"/>
              <a:gd name="connsiteX2-5" fmla="*/ 0 w 3770200"/>
              <a:gd name="connsiteY2-6" fmla="*/ 6859430 h 68594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770200" h="6859430">
                <a:moveTo>
                  <a:pt x="0" y="6859430"/>
                </a:moveTo>
                <a:lnTo>
                  <a:pt x="3770200" y="0"/>
                </a:lnTo>
                <a:lnTo>
                  <a:pt x="0" y="6859430"/>
                </a:lnTo>
                <a:close/>
              </a:path>
            </a:pathLst>
          </a:custGeom>
          <a:solidFill>
            <a:schemeClr val="accent1"/>
          </a:solidFill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任意多边形 2">
            <a:extLst>
              <a:ext uri="{FF2B5EF4-FFF2-40B4-BE49-F238E27FC236}">
                <a16:creationId xmlns:a16="http://schemas.microsoft.com/office/drawing/2014/main" id="{B3DB9AA0-A04A-46A5-9CE6-6652CFE84DB2}"/>
              </a:ext>
            </a:extLst>
          </p:cNvPr>
          <p:cNvSpPr/>
          <p:nvPr/>
        </p:nvSpPr>
        <p:spPr>
          <a:xfrm rot="11211390">
            <a:off x="5659438" y="3959225"/>
            <a:ext cx="922338" cy="866775"/>
          </a:xfrm>
          <a:custGeom>
            <a:avLst/>
            <a:gdLst>
              <a:gd name="connsiteX0" fmla="*/ 0 w 2002971"/>
              <a:gd name="connsiteY0" fmla="*/ 1335314 h 1944914"/>
              <a:gd name="connsiteX1" fmla="*/ 783771 w 2002971"/>
              <a:gd name="connsiteY1" fmla="*/ 0 h 1944914"/>
              <a:gd name="connsiteX2" fmla="*/ 2002971 w 2002971"/>
              <a:gd name="connsiteY2" fmla="*/ 1944914 h 1944914"/>
              <a:gd name="connsiteX0-1" fmla="*/ 0 w 1416184"/>
              <a:gd name="connsiteY0-2" fmla="*/ 1335314 h 1335314"/>
              <a:gd name="connsiteX1-3" fmla="*/ 783771 w 1416184"/>
              <a:gd name="connsiteY1-4" fmla="*/ 0 h 1335314"/>
              <a:gd name="connsiteX2-5" fmla="*/ 1416184 w 1416184"/>
              <a:gd name="connsiteY2-6" fmla="*/ 970990 h 13353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416184" h="1335314">
                <a:moveTo>
                  <a:pt x="0" y="1335314"/>
                </a:moveTo>
                <a:lnTo>
                  <a:pt x="783771" y="0"/>
                </a:lnTo>
                <a:lnTo>
                  <a:pt x="1416184" y="970990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20">
            <a:extLst>
              <a:ext uri="{FF2B5EF4-FFF2-40B4-BE49-F238E27FC236}">
                <a16:creationId xmlns:a16="http://schemas.microsoft.com/office/drawing/2014/main" id="{BE6523AF-051A-4B4A-8B17-B5BBFFAEAC0E}"/>
              </a:ext>
            </a:extLst>
          </p:cNvPr>
          <p:cNvSpPr/>
          <p:nvPr/>
        </p:nvSpPr>
        <p:spPr>
          <a:xfrm rot="11211631">
            <a:off x="4587875" y="2082800"/>
            <a:ext cx="2930525" cy="1257300"/>
          </a:xfrm>
          <a:custGeom>
            <a:avLst/>
            <a:gdLst>
              <a:gd name="connsiteX0" fmla="*/ 4209143 w 5297714"/>
              <a:gd name="connsiteY0" fmla="*/ 0 h 1770743"/>
              <a:gd name="connsiteX1" fmla="*/ 5297714 w 5297714"/>
              <a:gd name="connsiteY1" fmla="*/ 1770743 h 1770743"/>
              <a:gd name="connsiteX2" fmla="*/ 0 w 5297714"/>
              <a:gd name="connsiteY2" fmla="*/ 1306286 h 1770743"/>
              <a:gd name="connsiteX3" fmla="*/ 769257 w 5297714"/>
              <a:gd name="connsiteY3" fmla="*/ 29029 h 1770743"/>
              <a:gd name="connsiteX0-1" fmla="*/ 4209143 w 5297714"/>
              <a:gd name="connsiteY0-2" fmla="*/ 0 h 1770743"/>
              <a:gd name="connsiteX1-3" fmla="*/ 5297714 w 5297714"/>
              <a:gd name="connsiteY1-4" fmla="*/ 1770743 h 1770743"/>
              <a:gd name="connsiteX2-5" fmla="*/ 0 w 5297714"/>
              <a:gd name="connsiteY2-6" fmla="*/ 1306286 h 1770743"/>
              <a:gd name="connsiteX3-7" fmla="*/ 562856 w 5297714"/>
              <a:gd name="connsiteY3-8" fmla="*/ 395863 h 1770743"/>
              <a:gd name="connsiteX0-9" fmla="*/ 3872553 w 5297714"/>
              <a:gd name="connsiteY0-10" fmla="*/ 0 h 2274831"/>
              <a:gd name="connsiteX1-11" fmla="*/ 5297714 w 5297714"/>
              <a:gd name="connsiteY1-12" fmla="*/ 2274831 h 2274831"/>
              <a:gd name="connsiteX2-13" fmla="*/ 0 w 5297714"/>
              <a:gd name="connsiteY2-14" fmla="*/ 1810374 h 2274831"/>
              <a:gd name="connsiteX3-15" fmla="*/ 562856 w 5297714"/>
              <a:gd name="connsiteY3-16" fmla="*/ 899951 h 22748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297714" h="2274831">
                <a:moveTo>
                  <a:pt x="3872553" y="0"/>
                </a:moveTo>
                <a:lnTo>
                  <a:pt x="5297714" y="2274831"/>
                </a:lnTo>
                <a:lnTo>
                  <a:pt x="0" y="1810374"/>
                </a:lnTo>
                <a:lnTo>
                  <a:pt x="562856" y="899951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F5EBEF3-F14D-45B5-AC9A-0AE10D94F43B}"/>
              </a:ext>
            </a:extLst>
          </p:cNvPr>
          <p:cNvSpPr txBox="1"/>
          <p:nvPr/>
        </p:nvSpPr>
        <p:spPr>
          <a:xfrm>
            <a:off x="2292350" y="3133725"/>
            <a:ext cx="789305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6000" b="1" kern="1200" cap="none" spc="300" normalizeH="0" baseline="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1552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1">
            <a:lumMod val="20000"/>
            <a:lumOff val="80000"/>
          </a:schemeClr>
        </a:solidFill>
      </a:spPr>
      <a:bodyPr wrap="square" rtlCol="0">
        <a:spAutoFit/>
      </a:bodyPr>
      <a:lstStyle>
        <a:defPPr indent="457200" algn="l">
          <a:lnSpc>
            <a:spcPct val="150000"/>
          </a:lnSpc>
          <a:defRPr sz="240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2616</TotalTime>
  <Words>899</Words>
  <Application>Microsoft Office PowerPoint</Application>
  <PresentationFormat>宽屏</PresentationFormat>
  <Paragraphs>134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方正宋刻本秀楷简体</vt:lpstr>
      <vt:lpstr>方正准圆简体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申 珊靛</dc:creator>
  <cp:lastModifiedBy>申 珊靛</cp:lastModifiedBy>
  <cp:revision>964</cp:revision>
  <dcterms:created xsi:type="dcterms:W3CDTF">2021-03-12T12:02:50Z</dcterms:created>
  <dcterms:modified xsi:type="dcterms:W3CDTF">2021-07-28T16:45:47Z</dcterms:modified>
</cp:coreProperties>
</file>