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59" r:id="rId4"/>
    <p:sldId id="260" r:id="rId5"/>
    <p:sldId id="281" r:id="rId6"/>
    <p:sldId id="261" r:id="rId7"/>
    <p:sldId id="289" r:id="rId8"/>
    <p:sldId id="282" r:id="rId9"/>
    <p:sldId id="284" r:id="rId10"/>
    <p:sldId id="285" r:id="rId11"/>
    <p:sldId id="262" r:id="rId12"/>
    <p:sldId id="286" r:id="rId13"/>
    <p:sldId id="287" r:id="rId14"/>
    <p:sldId id="276"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首页" id="{38910652-1D9F-45BF-BD71-1777E84EDD6F}">
          <p14:sldIdLst>
            <p14:sldId id="256"/>
          </p14:sldIdLst>
        </p14:section>
        <p14:section name="概述" id="{7DF12B08-F0B0-462C-A97E-B87E83D9806D}">
          <p14:sldIdLst>
            <p14:sldId id="257"/>
          </p14:sldIdLst>
        </p14:section>
        <p14:section name="1 SLAM是什么" id="{50BD4C9C-BD31-4051-A6FE-DD72385D00F1}">
          <p14:sldIdLst>
            <p14:sldId id="259"/>
          </p14:sldIdLst>
        </p14:section>
        <p14:section name="2 连接小车" id="{76D2575B-D32D-4047-BAFD-9445C89CBC82}">
          <p14:sldIdLst>
            <p14:sldId id="260"/>
            <p14:sldId id="281"/>
          </p14:sldIdLst>
        </p14:section>
        <p14:section name="3 SLAM建图并保存" id="{4FDEEF89-12FD-4644-9C14-87F915311AC3}">
          <p14:sldIdLst>
            <p14:sldId id="261"/>
            <p14:sldId id="289"/>
            <p14:sldId id="282"/>
            <p14:sldId id="284"/>
            <p14:sldId id="285"/>
          </p14:sldIdLst>
        </p14:section>
        <p14:section name="4 导航功能" id="{45933C4A-D6F9-4D7D-971E-3B55624CAFD5}">
          <p14:sldIdLst>
            <p14:sldId id="262"/>
            <p14:sldId id="286"/>
            <p14:sldId id="287"/>
          </p14:sldIdLst>
        </p14:section>
        <p14:section name="3 远程控制" id="{0EF7C619-5AED-4E9D-8482-D6278461C313}">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B150"/>
    <a:srgbClr val="516485"/>
    <a:srgbClr val="D446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67" d="100"/>
          <a:sy n="67" d="100"/>
        </p:scale>
        <p:origin x="76"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492B1-0C5A-4196-BD5A-E25E482A51C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0178BF0-0FB2-4157-94C8-60D23AE411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DFEC93F-B58D-4BAC-A643-9C65EE0ACD07}"/>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ECF730BD-EEEA-42AA-81A1-6BB0BE5173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D0CAB7-73A5-4C61-AFE5-E970E7E65DAB}"/>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7902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D59A43-4A1F-4410-9B4D-3925D2F7637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D32DFF-9387-4964-8523-216A65401FE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B45149-9F4B-414E-A5A5-1BC20FD432D1}"/>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9BEF9E98-605C-46A3-A2B0-DE11B01959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A20530-1173-46A9-B561-ABC53E046CED}"/>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pic>
        <p:nvPicPr>
          <p:cNvPr id="11" name="图片 10">
            <a:extLst>
              <a:ext uri="{FF2B5EF4-FFF2-40B4-BE49-F238E27FC236}">
                <a16:creationId xmlns:a16="http://schemas.microsoft.com/office/drawing/2014/main" id="{E7236E59-E5E2-4275-BBB2-274FF69106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96549" y="5904887"/>
            <a:ext cx="2414451" cy="816588"/>
          </a:xfrm>
          <a:prstGeom prst="rect">
            <a:avLst/>
          </a:prstGeom>
        </p:spPr>
      </p:pic>
    </p:spTree>
    <p:extLst>
      <p:ext uri="{BB962C8B-B14F-4D97-AF65-F5344CB8AC3E}">
        <p14:creationId xmlns:p14="http://schemas.microsoft.com/office/powerpoint/2010/main" val="256490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AC33F-BC76-4F76-B18F-1F3ABABEAE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544EF2A-4F7E-41E3-8B53-23EA703378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79B4D17-2136-49F6-A86F-B3F890DA92EC}"/>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1877ADF9-6B16-4A91-984C-EAF74F3042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ECCE8A-56F3-4D85-B313-C156ACDD046D}"/>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2330140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E6CB2-0804-4E4F-BD32-414A416749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908AB1-545C-4CF5-8723-A62DE4BE57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6D0195D-BE80-4E0A-AC0F-7900C5D9225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7E6A1DE-DAA3-4F0A-B858-DA7A5AFDCD7C}"/>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6" name="页脚占位符 5">
            <a:extLst>
              <a:ext uri="{FF2B5EF4-FFF2-40B4-BE49-F238E27FC236}">
                <a16:creationId xmlns:a16="http://schemas.microsoft.com/office/drawing/2014/main" id="{DB9C543A-6D2B-49AF-962F-AC42DF27A4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27804E-B37F-48DC-9CE6-1B7E8B29652A}"/>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794971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B7A21-43EE-42C1-8A5D-F9D82CFCF1B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3D43ADA-D3FE-4728-BB57-5EFE47B68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141D56-9192-4359-B128-CF347250223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DC5CA01-9162-4DA5-B71C-E30B4C952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7CE2240-4C37-494C-8DEF-0BE2F8893F9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74BF995-C68C-4154-A992-D76296991722}"/>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8" name="页脚占位符 7">
            <a:extLst>
              <a:ext uri="{FF2B5EF4-FFF2-40B4-BE49-F238E27FC236}">
                <a16:creationId xmlns:a16="http://schemas.microsoft.com/office/drawing/2014/main" id="{75D03D2D-FF72-4FF0-B5C8-ECF1064BE38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5FBCA7C-644A-4373-AB14-5D22E44EC7E4}"/>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4167003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61089-0F77-431C-B275-14C0C58CEB0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728DD5C-A5FC-4721-A7E5-A5D34A150902}"/>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4" name="页脚占位符 3">
            <a:extLst>
              <a:ext uri="{FF2B5EF4-FFF2-40B4-BE49-F238E27FC236}">
                <a16:creationId xmlns:a16="http://schemas.microsoft.com/office/drawing/2014/main" id="{4237CA22-806D-4280-B77E-CA2C4F46791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BA51879-0B46-431F-8C0F-3A38090FB7BE}"/>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08213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8318D0-AAB2-42F9-9E26-56C1CB7C0E19}"/>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3" name="页脚占位符 2">
            <a:extLst>
              <a:ext uri="{FF2B5EF4-FFF2-40B4-BE49-F238E27FC236}">
                <a16:creationId xmlns:a16="http://schemas.microsoft.com/office/drawing/2014/main" id="{90817007-959B-4116-925A-43817F38B5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58278F3-ACB2-4379-835C-4570EF7C9990}"/>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861907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A2BBDF-7CFE-4EFF-B704-790CF5F46E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58A4827-9BBA-4258-BA50-AC33F1F26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004658-627A-461F-B99F-27392E3E7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6AB33D8-A635-4736-A8FC-0E7FB1EFE68A}"/>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6" name="页脚占位符 5">
            <a:extLst>
              <a:ext uri="{FF2B5EF4-FFF2-40B4-BE49-F238E27FC236}">
                <a16:creationId xmlns:a16="http://schemas.microsoft.com/office/drawing/2014/main" id="{EA34F964-AB89-451A-8895-00B77101F4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EAF20E-5B35-43C4-91D6-5DFDE3B81759}"/>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392150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B7D62-35B1-486A-BA4A-5BD62D8785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2B77D51-6E0B-4BDB-AB93-B4C68FACD1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02CCFBA-FCB2-4EA4-931C-B0815E5AB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87AEB5-3A92-4059-AC54-3DDE28D72E3D}"/>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6" name="页脚占位符 5">
            <a:extLst>
              <a:ext uri="{FF2B5EF4-FFF2-40B4-BE49-F238E27FC236}">
                <a16:creationId xmlns:a16="http://schemas.microsoft.com/office/drawing/2014/main" id="{0A975F10-5DA9-40FD-B833-1AEE3352B1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C768966-0C69-4938-BD07-608E6904925F}"/>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50745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C168C-70CF-489F-AA3C-EAB1868297B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5D8EC20-E3C4-4040-918C-D140F43BE85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4281EFD-5990-4B49-BEB1-7827F321D159}"/>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DADDDFDE-08EE-4CC7-A8EA-1D5AE271EC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507A4D-BB8A-4750-B2A9-1DD61F626D94}"/>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231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F3ECB69-D882-4535-B0D7-4E30F131C78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C451D9-EE77-4FA7-AA27-96B7A3438F2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D73AA9-B71F-4C03-85CA-A10ACAF6D9EE}"/>
              </a:ext>
            </a:extLst>
          </p:cNvPr>
          <p:cNvSpPr>
            <a:spLocks noGrp="1"/>
          </p:cNvSpPr>
          <p:nvPr>
            <p:ph type="dt" sz="half" idx="10"/>
          </p:nvPr>
        </p:nvSpPr>
        <p:spPr/>
        <p:txBody>
          <a:body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69B2BCAF-A674-4F07-830F-51ABF48250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3B0B8-9C89-411F-9CE1-B0E7ECE77D07}"/>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314573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DD0900C-D238-45F2-9A3F-9CC4338DCC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9D3590-7911-4C76-82B9-2A273AA6F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36424D-17FE-46C6-82EA-9137849D6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C253A8-2FA4-4E85-8F40-57D98F8E6A65}" type="datetimeFigureOut">
              <a:rPr lang="zh-CN" altLang="en-US" smtClean="0"/>
              <a:t>2025/4/4</a:t>
            </a:fld>
            <a:endParaRPr lang="zh-CN" altLang="en-US"/>
          </a:p>
        </p:txBody>
      </p:sp>
      <p:sp>
        <p:nvSpPr>
          <p:cNvPr id="5" name="页脚占位符 4">
            <a:extLst>
              <a:ext uri="{FF2B5EF4-FFF2-40B4-BE49-F238E27FC236}">
                <a16:creationId xmlns:a16="http://schemas.microsoft.com/office/drawing/2014/main" id="{BCD866D1-D453-4383-9F00-E9035E63D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9BB7091-FA79-4441-B297-A73323AE32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29724169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7AB6328-93D6-44D0-B018-7AB05C8C86B7}"/>
              </a:ext>
            </a:extLst>
          </p:cNvPr>
          <p:cNvSpPr/>
          <p:nvPr/>
        </p:nvSpPr>
        <p:spPr>
          <a:xfrm>
            <a:off x="3469024" y="0"/>
            <a:ext cx="5007917" cy="6858000"/>
          </a:xfrm>
          <a:prstGeom prst="rect">
            <a:avLst/>
          </a:prstGeom>
          <a:solidFill>
            <a:schemeClr val="accent5">
              <a:lumMod val="60000"/>
              <a:lumOff val="40000"/>
            </a:schemeClr>
          </a:solidFill>
          <a:ln>
            <a:solidFill>
              <a:srgbClr val="3457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矩形 6">
            <a:extLst>
              <a:ext uri="{FF2B5EF4-FFF2-40B4-BE49-F238E27FC236}">
                <a16:creationId xmlns:a16="http://schemas.microsoft.com/office/drawing/2014/main" id="{8E5F9966-9130-4CAA-9435-AA0B3D681875}"/>
              </a:ext>
            </a:extLst>
          </p:cNvPr>
          <p:cNvSpPr/>
          <p:nvPr/>
        </p:nvSpPr>
        <p:spPr>
          <a:xfrm>
            <a:off x="370702" y="998837"/>
            <a:ext cx="11450595" cy="4860325"/>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92F53D2A-DDCD-421F-923B-DCB0E62EEC59}"/>
              </a:ext>
            </a:extLst>
          </p:cNvPr>
          <p:cNvSpPr txBox="1">
            <a:spLocks noChangeArrowheads="1"/>
          </p:cNvSpPr>
          <p:nvPr/>
        </p:nvSpPr>
        <p:spPr bwMode="auto">
          <a:xfrm>
            <a:off x="1270985" y="2563944"/>
            <a:ext cx="9650027"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800" fontAlgn="base">
              <a:spcBef>
                <a:spcPct val="0"/>
              </a:spcBef>
              <a:spcAft>
                <a:spcPct val="0"/>
              </a:spcAft>
              <a:tabLst>
                <a:tab pos="2865755" algn="l"/>
              </a:tabLst>
            </a:pPr>
            <a:r>
              <a:rPr lang="zh-CN" altLang="en-US" sz="4800" b="1">
                <a:solidFill>
                  <a:schemeClr val="accent5">
                    <a:lumMod val="75000"/>
                  </a:schemeClr>
                </a:solidFill>
                <a:latin typeface="+mn-ea"/>
                <a:ea typeface="+mn-ea"/>
                <a:sym typeface="Calibri" panose="020F0502020204030204" pitchFamily="34" charset="0"/>
              </a:rPr>
              <a:t>实验三 </a:t>
            </a:r>
            <a:r>
              <a:rPr lang="en-US" altLang="zh-CN" sz="4800" b="1">
                <a:solidFill>
                  <a:schemeClr val="accent5">
                    <a:lumMod val="75000"/>
                  </a:schemeClr>
                </a:solidFill>
                <a:latin typeface="+mn-ea"/>
                <a:ea typeface="+mn-ea"/>
                <a:sym typeface="Calibri" panose="020F0502020204030204" pitchFamily="34" charset="0"/>
              </a:rPr>
              <a:t>SLAM</a:t>
            </a:r>
            <a:r>
              <a:rPr lang="zh-CN" altLang="en-US" sz="4800" b="1">
                <a:solidFill>
                  <a:schemeClr val="accent5">
                    <a:lumMod val="75000"/>
                  </a:schemeClr>
                </a:solidFill>
                <a:latin typeface="+mn-ea"/>
                <a:ea typeface="+mn-ea"/>
                <a:sym typeface="Calibri" panose="020F0502020204030204" pitchFamily="34" charset="0"/>
              </a:rPr>
              <a:t>地图构建和导航</a:t>
            </a:r>
          </a:p>
        </p:txBody>
      </p:sp>
      <p:cxnSp>
        <p:nvCxnSpPr>
          <p:cNvPr id="9" name="直接连接符 8">
            <a:extLst>
              <a:ext uri="{FF2B5EF4-FFF2-40B4-BE49-F238E27FC236}">
                <a16:creationId xmlns:a16="http://schemas.microsoft.com/office/drawing/2014/main" id="{5B71B30E-AEA7-4AE3-9A6C-EA71AA5F066A}"/>
              </a:ext>
            </a:extLst>
          </p:cNvPr>
          <p:cNvCxnSpPr/>
          <p:nvPr/>
        </p:nvCxnSpPr>
        <p:spPr>
          <a:xfrm>
            <a:off x="5939450" y="4160852"/>
            <a:ext cx="372724" cy="0"/>
          </a:xfrm>
          <a:prstGeom prst="line">
            <a:avLst/>
          </a:prstGeom>
          <a:ln w="19050">
            <a:solidFill>
              <a:srgbClr val="345780"/>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A6DFE96F-CF89-4918-9DF7-23306AB2179A}"/>
              </a:ext>
            </a:extLst>
          </p:cNvPr>
          <p:cNvSpPr/>
          <p:nvPr/>
        </p:nvSpPr>
        <p:spPr>
          <a:xfrm>
            <a:off x="3567367" y="447738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1" name="文本框 1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7CB3D532-35FA-4AC4-9C8B-F288F604F556}"/>
              </a:ext>
            </a:extLst>
          </p:cNvPr>
          <p:cNvSpPr txBox="1">
            <a:spLocks noChangeArrowheads="1"/>
          </p:cNvSpPr>
          <p:nvPr/>
        </p:nvSpPr>
        <p:spPr bwMode="auto">
          <a:xfrm>
            <a:off x="4017710" y="4535085"/>
            <a:ext cx="2762533" cy="37965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2021.03</a:t>
            </a:r>
            <a:endPar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12" name="椭圆 11">
            <a:extLst>
              <a:ext uri="{FF2B5EF4-FFF2-40B4-BE49-F238E27FC236}">
                <a16:creationId xmlns:a16="http://schemas.microsoft.com/office/drawing/2014/main" id="{7CA6A941-9377-42C6-BCDF-7B7941D7649F}"/>
              </a:ext>
            </a:extLst>
          </p:cNvPr>
          <p:cNvSpPr/>
          <p:nvPr/>
        </p:nvSpPr>
        <p:spPr>
          <a:xfrm>
            <a:off x="6312174" y="447331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3" name="文本框 1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A1BB899F-0A56-49A2-8835-5351EF5C80A7}"/>
              </a:ext>
            </a:extLst>
          </p:cNvPr>
          <p:cNvSpPr txBox="1">
            <a:spLocks noChangeArrowheads="1"/>
          </p:cNvSpPr>
          <p:nvPr/>
        </p:nvSpPr>
        <p:spPr bwMode="auto">
          <a:xfrm>
            <a:off x="6762516" y="4531016"/>
            <a:ext cx="3340272" cy="37933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内容：</a:t>
            </a:r>
            <a:r>
              <a:rPr lang="en-US" altLang="zh-CN"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SLAM</a:t>
            </a: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地图与导航功能</a:t>
            </a:r>
          </a:p>
        </p:txBody>
      </p:sp>
      <p:grpSp>
        <p:nvGrpSpPr>
          <p:cNvPr id="14" name="Group 59">
            <a:extLst>
              <a:ext uri="{FF2B5EF4-FFF2-40B4-BE49-F238E27FC236}">
                <a16:creationId xmlns:a16="http://schemas.microsoft.com/office/drawing/2014/main" id="{06848B52-D03E-43E0-8605-71C66A6DDD5E}"/>
              </a:ext>
            </a:extLst>
          </p:cNvPr>
          <p:cNvGrpSpPr>
            <a:grpSpLocks noChangeAspect="1"/>
          </p:cNvGrpSpPr>
          <p:nvPr/>
        </p:nvGrpSpPr>
        <p:grpSpPr bwMode="auto">
          <a:xfrm>
            <a:off x="3652872" y="4551022"/>
            <a:ext cx="290891" cy="317537"/>
            <a:chOff x="1066" y="1985"/>
            <a:chExt cx="262" cy="286"/>
          </a:xfrm>
          <a:solidFill>
            <a:schemeClr val="bg1"/>
          </a:solidFill>
        </p:grpSpPr>
        <p:sp>
          <p:nvSpPr>
            <p:cNvPr id="15" name="Freeform 60">
              <a:extLst>
                <a:ext uri="{FF2B5EF4-FFF2-40B4-BE49-F238E27FC236}">
                  <a16:creationId xmlns:a16="http://schemas.microsoft.com/office/drawing/2014/main" id="{65AFB32E-06C3-45D3-9241-D2D91F6B4D89}"/>
                </a:ext>
              </a:extLst>
            </p:cNvPr>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6" name="Freeform 61">
              <a:extLst>
                <a:ext uri="{FF2B5EF4-FFF2-40B4-BE49-F238E27FC236}">
                  <a16:creationId xmlns:a16="http://schemas.microsoft.com/office/drawing/2014/main" id="{42E249E5-CB8F-49AB-ACAC-32DC1584A0E8}"/>
                </a:ext>
              </a:extLst>
            </p:cNvPr>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7" name="Freeform 62">
              <a:extLst>
                <a:ext uri="{FF2B5EF4-FFF2-40B4-BE49-F238E27FC236}">
                  <a16:creationId xmlns:a16="http://schemas.microsoft.com/office/drawing/2014/main" id="{45829222-856C-4259-9584-C856FD8F1A20}"/>
                </a:ext>
              </a:extLst>
            </p:cNvPr>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8" name="Freeform 63">
              <a:extLst>
                <a:ext uri="{FF2B5EF4-FFF2-40B4-BE49-F238E27FC236}">
                  <a16:creationId xmlns:a16="http://schemas.microsoft.com/office/drawing/2014/main" id="{6571DE4D-C05A-45D1-8431-0F042F30CA2C}"/>
                </a:ext>
              </a:extLst>
            </p:cNvPr>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grpSp>
      <p:grpSp>
        <p:nvGrpSpPr>
          <p:cNvPr id="19" name="Group 66">
            <a:extLst>
              <a:ext uri="{FF2B5EF4-FFF2-40B4-BE49-F238E27FC236}">
                <a16:creationId xmlns:a16="http://schemas.microsoft.com/office/drawing/2014/main" id="{8DB7D7DD-8C2E-4A99-91AF-824436473C7D}"/>
              </a:ext>
            </a:extLst>
          </p:cNvPr>
          <p:cNvGrpSpPr>
            <a:grpSpLocks noChangeAspect="1"/>
          </p:cNvGrpSpPr>
          <p:nvPr/>
        </p:nvGrpSpPr>
        <p:grpSpPr bwMode="auto">
          <a:xfrm>
            <a:off x="6418151" y="4542797"/>
            <a:ext cx="256116" cy="277284"/>
            <a:chOff x="2111" y="2322"/>
            <a:chExt cx="121" cy="131"/>
          </a:xfrm>
          <a:solidFill>
            <a:schemeClr val="bg1"/>
          </a:solidFill>
        </p:grpSpPr>
        <p:sp>
          <p:nvSpPr>
            <p:cNvPr id="20" name="Freeform 67">
              <a:extLst>
                <a:ext uri="{FF2B5EF4-FFF2-40B4-BE49-F238E27FC236}">
                  <a16:creationId xmlns:a16="http://schemas.microsoft.com/office/drawing/2014/main" id="{B81DA5CE-3648-48AA-BC46-E7EEFE7F991E}"/>
                </a:ext>
              </a:extLst>
            </p:cNvPr>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1" name="Freeform 68">
              <a:extLst>
                <a:ext uri="{FF2B5EF4-FFF2-40B4-BE49-F238E27FC236}">
                  <a16:creationId xmlns:a16="http://schemas.microsoft.com/office/drawing/2014/main" id="{70B9B73D-CC92-47F4-B10B-7BEF81CCB61B}"/>
                </a:ext>
              </a:extLst>
            </p:cNvPr>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2" name="Freeform 69">
              <a:extLst>
                <a:ext uri="{FF2B5EF4-FFF2-40B4-BE49-F238E27FC236}">
                  <a16:creationId xmlns:a16="http://schemas.microsoft.com/office/drawing/2014/main" id="{BB95EC14-8991-42D2-BEE7-A1D609F92B0F}"/>
                </a:ext>
              </a:extLst>
            </p:cNvPr>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grpSp>
      <p:pic>
        <p:nvPicPr>
          <p:cNvPr id="23" name="图片 22">
            <a:extLst>
              <a:ext uri="{FF2B5EF4-FFF2-40B4-BE49-F238E27FC236}">
                <a16:creationId xmlns:a16="http://schemas.microsoft.com/office/drawing/2014/main" id="{24827FE4-A38E-4098-90F1-DEDD3D57A1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5276" y="1359285"/>
            <a:ext cx="3336043" cy="1127763"/>
          </a:xfrm>
          <a:prstGeom prst="rect">
            <a:avLst/>
          </a:prstGeom>
        </p:spPr>
      </p:pic>
      <p:sp>
        <p:nvSpPr>
          <p:cNvPr id="24" name="矩形 23">
            <a:extLst>
              <a:ext uri="{FF2B5EF4-FFF2-40B4-BE49-F238E27FC236}">
                <a16:creationId xmlns:a16="http://schemas.microsoft.com/office/drawing/2014/main" id="{F3F82DFB-DABC-4C09-A048-B2D7309D498E}"/>
              </a:ext>
            </a:extLst>
          </p:cNvPr>
          <p:cNvSpPr/>
          <p:nvPr/>
        </p:nvSpPr>
        <p:spPr>
          <a:xfrm>
            <a:off x="3469024" y="3707404"/>
            <a:ext cx="5831970" cy="400110"/>
          </a:xfrm>
          <a:prstGeom prst="rect">
            <a:avLst/>
          </a:prstGeom>
          <a:noFill/>
        </p:spPr>
        <p:txBody>
          <a:bodyPr wrap="square" rtlCol="0">
            <a:spAutoFit/>
          </a:bodyPr>
          <a:lstStyle/>
          <a:p>
            <a:r>
              <a:rPr lang="zh-CN" altLang="en-US" sz="2000" spc="300">
                <a:solidFill>
                  <a:srgbClr val="345780"/>
                </a:solidFill>
                <a:latin typeface="方正宋刻本秀楷简体" panose="02000000000000000000" pitchFamily="2" charset="-122"/>
                <a:ea typeface="方正宋刻本秀楷简体" panose="02000000000000000000" pitchFamily="2" charset="-122"/>
              </a:rPr>
              <a:t>华中科技大学 </a:t>
            </a:r>
            <a:r>
              <a:rPr lang="en-US" altLang="zh-CN" sz="2000" spc="300">
                <a:solidFill>
                  <a:srgbClr val="345780"/>
                </a:solidFill>
                <a:latin typeface="方正宋刻本秀楷简体" panose="02000000000000000000" pitchFamily="2" charset="-122"/>
                <a:ea typeface="方正宋刻本秀楷简体" panose="02000000000000000000" pitchFamily="2" charset="-122"/>
              </a:rPr>
              <a:t>2021 ROS</a:t>
            </a:r>
            <a:r>
              <a:rPr lang="zh-CN" altLang="en-US" sz="2000" spc="300">
                <a:solidFill>
                  <a:srgbClr val="345780"/>
                </a:solidFill>
                <a:latin typeface="方正宋刻本秀楷简体" panose="02000000000000000000" pitchFamily="2" charset="-122"/>
                <a:ea typeface="方正宋刻本秀楷简体" panose="02000000000000000000" pitchFamily="2" charset="-122"/>
              </a:rPr>
              <a:t>创新实践教学 </a:t>
            </a:r>
          </a:p>
        </p:txBody>
      </p:sp>
      <p:pic>
        <p:nvPicPr>
          <p:cNvPr id="25" name="图片 3">
            <a:extLst>
              <a:ext uri="{FF2B5EF4-FFF2-40B4-BE49-F238E27FC236}">
                <a16:creationId xmlns:a16="http://schemas.microsoft.com/office/drawing/2014/main" id="{6C90F425-E8AF-4CAB-8990-18A5BBA9C4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9450" y="1458532"/>
            <a:ext cx="3537044" cy="994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3740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箭头: 五边形 18">
            <a:extLst>
              <a:ext uri="{FF2B5EF4-FFF2-40B4-BE49-F238E27FC236}">
                <a16:creationId xmlns:a16="http://schemas.microsoft.com/office/drawing/2014/main" id="{A972E024-6202-4FB3-B06C-155CE4F7AE80}"/>
              </a:ext>
            </a:extLst>
          </p:cNvPr>
          <p:cNvSpPr/>
          <p:nvPr/>
        </p:nvSpPr>
        <p:spPr>
          <a:xfrm flipH="1">
            <a:off x="4072944" y="1675308"/>
            <a:ext cx="1678150"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小车</a:t>
            </a:r>
          </a:p>
        </p:txBody>
      </p:sp>
      <p:sp>
        <p:nvSpPr>
          <p:cNvPr id="18" name="箭头: 五边形 17">
            <a:extLst>
              <a:ext uri="{FF2B5EF4-FFF2-40B4-BE49-F238E27FC236}">
                <a16:creationId xmlns:a16="http://schemas.microsoft.com/office/drawing/2014/main" id="{E5951F0E-974D-4BA3-877D-F120227A06AC}"/>
              </a:ext>
            </a:extLst>
          </p:cNvPr>
          <p:cNvSpPr/>
          <p:nvPr/>
        </p:nvSpPr>
        <p:spPr>
          <a:xfrm flipH="1">
            <a:off x="1325926" y="1675308"/>
            <a:ext cx="2069867"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SLAM</a:t>
            </a:r>
            <a:endParaRPr lang="zh-CN" altLang="en-US" sz="2400">
              <a:latin typeface="微软雅黑" panose="020B0503020204020204" pitchFamily="34" charset="-122"/>
              <a:ea typeface="微软雅黑" panose="020B0503020204020204" pitchFamily="34" charset="-122"/>
            </a:endParaRPr>
          </a:p>
        </p:txBody>
      </p:sp>
      <p:sp>
        <p:nvSpPr>
          <p:cNvPr id="5" name=" 160">
            <a:extLst>
              <a:ext uri="{FF2B5EF4-FFF2-40B4-BE49-F238E27FC236}">
                <a16:creationId xmlns:a16="http://schemas.microsoft.com/office/drawing/2014/main" id="{548E59DA-08E8-4157-B990-989FC360A838}"/>
              </a:ext>
            </a:extLst>
          </p:cNvPr>
          <p:cNvSpPr/>
          <p:nvPr/>
        </p:nvSpPr>
        <p:spPr>
          <a:xfrm rot="10800000" flipH="1">
            <a:off x="5028464" y="2657362"/>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箭头: 五边形 12">
            <a:extLst>
              <a:ext uri="{FF2B5EF4-FFF2-40B4-BE49-F238E27FC236}">
                <a16:creationId xmlns:a16="http://schemas.microsoft.com/office/drawing/2014/main" id="{56F161E6-65DE-4F69-9A0B-17B7B1168F8F}"/>
              </a:ext>
            </a:extLst>
          </p:cNvPr>
          <p:cNvSpPr/>
          <p:nvPr/>
        </p:nvSpPr>
        <p:spPr>
          <a:xfrm>
            <a:off x="1121742" y="1675308"/>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了解</a:t>
            </a:r>
          </a:p>
        </p:txBody>
      </p:sp>
      <p:sp>
        <p:nvSpPr>
          <p:cNvPr id="14" name="箭头: 五边形 13">
            <a:extLst>
              <a:ext uri="{FF2B5EF4-FFF2-40B4-BE49-F238E27FC236}">
                <a16:creationId xmlns:a16="http://schemas.microsoft.com/office/drawing/2014/main" id="{99DC91C8-FC34-48C3-8F2F-326DF1FCE2F9}"/>
              </a:ext>
            </a:extLst>
          </p:cNvPr>
          <p:cNvSpPr/>
          <p:nvPr/>
        </p:nvSpPr>
        <p:spPr>
          <a:xfrm>
            <a:off x="3895393" y="1675308"/>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连接</a:t>
            </a:r>
          </a:p>
        </p:txBody>
      </p:sp>
      <p:sp>
        <p:nvSpPr>
          <p:cNvPr id="24" name="箭头: 五边形 23">
            <a:extLst>
              <a:ext uri="{FF2B5EF4-FFF2-40B4-BE49-F238E27FC236}">
                <a16:creationId xmlns:a16="http://schemas.microsoft.com/office/drawing/2014/main" id="{6E63A3A9-EC19-4021-82BB-B3CA9981BF0E}"/>
              </a:ext>
            </a:extLst>
          </p:cNvPr>
          <p:cNvSpPr/>
          <p:nvPr/>
        </p:nvSpPr>
        <p:spPr>
          <a:xfrm flipH="1">
            <a:off x="4750530" y="3499802"/>
            <a:ext cx="2528574"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地图</a:t>
            </a:r>
          </a:p>
        </p:txBody>
      </p:sp>
      <p:sp>
        <p:nvSpPr>
          <p:cNvPr id="25" name="箭头: 五边形 24">
            <a:extLst>
              <a:ext uri="{FF2B5EF4-FFF2-40B4-BE49-F238E27FC236}">
                <a16:creationId xmlns:a16="http://schemas.microsoft.com/office/drawing/2014/main" id="{319F14D5-D909-4117-8E8F-88C063371240}"/>
              </a:ext>
            </a:extLst>
          </p:cNvPr>
          <p:cNvSpPr/>
          <p:nvPr/>
        </p:nvSpPr>
        <p:spPr>
          <a:xfrm>
            <a:off x="4572980" y="3499802"/>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建立</a:t>
            </a:r>
          </a:p>
        </p:txBody>
      </p:sp>
      <p:sp>
        <p:nvSpPr>
          <p:cNvPr id="28" name=" 160">
            <a:extLst>
              <a:ext uri="{FF2B5EF4-FFF2-40B4-BE49-F238E27FC236}">
                <a16:creationId xmlns:a16="http://schemas.microsoft.com/office/drawing/2014/main" id="{F85EBE64-3361-4FB0-907A-C172A01672AE}"/>
              </a:ext>
            </a:extLst>
          </p:cNvPr>
          <p:cNvSpPr/>
          <p:nvPr/>
        </p:nvSpPr>
        <p:spPr>
          <a:xfrm rot="10800000" flipH="1">
            <a:off x="7634842" y="3896634"/>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0" name="箭头: 五边形 29">
            <a:extLst>
              <a:ext uri="{FF2B5EF4-FFF2-40B4-BE49-F238E27FC236}">
                <a16:creationId xmlns:a16="http://schemas.microsoft.com/office/drawing/2014/main" id="{192A7DFA-75C9-4D95-92AC-B02AB902629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0</a:t>
            </a:r>
            <a:endParaRPr lang="zh-CN" altLang="en-US" sz="2400">
              <a:latin typeface="微软雅黑" panose="020B0503020204020204" pitchFamily="34" charset="-122"/>
              <a:ea typeface="微软雅黑" panose="020B0503020204020204" pitchFamily="34" charset="-122"/>
            </a:endParaRPr>
          </a:p>
        </p:txBody>
      </p:sp>
      <p:sp>
        <p:nvSpPr>
          <p:cNvPr id="31" name="箭头: 五边形 30">
            <a:extLst>
              <a:ext uri="{FF2B5EF4-FFF2-40B4-BE49-F238E27FC236}">
                <a16:creationId xmlns:a16="http://schemas.microsoft.com/office/drawing/2014/main" id="{25A45A79-F2E6-428E-8FFA-1F5F36C3FAE3}"/>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概述</a:t>
            </a:r>
          </a:p>
        </p:txBody>
      </p:sp>
      <p:sp>
        <p:nvSpPr>
          <p:cNvPr id="12" name="箭头: 五边形 11">
            <a:extLst>
              <a:ext uri="{FF2B5EF4-FFF2-40B4-BE49-F238E27FC236}">
                <a16:creationId xmlns:a16="http://schemas.microsoft.com/office/drawing/2014/main" id="{8DD5AE71-E97D-402C-99CD-1A4D7584839D}"/>
              </a:ext>
            </a:extLst>
          </p:cNvPr>
          <p:cNvSpPr/>
          <p:nvPr/>
        </p:nvSpPr>
        <p:spPr>
          <a:xfrm flipH="1">
            <a:off x="8535022" y="4743364"/>
            <a:ext cx="2311072"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导航功能</a:t>
            </a:r>
          </a:p>
        </p:txBody>
      </p:sp>
      <p:sp>
        <p:nvSpPr>
          <p:cNvPr id="15" name="箭头: 五边形 14">
            <a:extLst>
              <a:ext uri="{FF2B5EF4-FFF2-40B4-BE49-F238E27FC236}">
                <a16:creationId xmlns:a16="http://schemas.microsoft.com/office/drawing/2014/main" id="{927DE2B0-D30E-4E86-B291-EF371FB7C43E}"/>
              </a:ext>
            </a:extLst>
          </p:cNvPr>
          <p:cNvSpPr/>
          <p:nvPr/>
        </p:nvSpPr>
        <p:spPr>
          <a:xfrm>
            <a:off x="8357472" y="47433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使用</a:t>
            </a:r>
          </a:p>
        </p:txBody>
      </p:sp>
    </p:spTree>
    <p:extLst>
      <p:ext uri="{BB962C8B-B14F-4D97-AF65-F5344CB8AC3E}">
        <p14:creationId xmlns:p14="http://schemas.microsoft.com/office/powerpoint/2010/main" val="338882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down)">
                                      <p:cBhvr>
                                        <p:cTn id="29" dur="500"/>
                                        <p:tgtEl>
                                          <p:spTgt spid="25"/>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down)">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3" grpId="0" animBg="1"/>
      <p:bldP spid="14" grpId="0" animBg="1"/>
      <p:bldP spid="24" grpId="0" animBg="1"/>
      <p:bldP spid="25" grpId="0" animBg="1"/>
      <p:bldP spid="28" grpId="0" animBg="1"/>
      <p:bldP spid="12"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E2F684E-3E11-4385-BE50-392F0FB0DBDE}"/>
              </a:ext>
            </a:extLst>
          </p:cNvPr>
          <p:cNvSpPr txBox="1"/>
          <p:nvPr/>
        </p:nvSpPr>
        <p:spPr>
          <a:xfrm>
            <a:off x="0" y="1713891"/>
            <a:ext cx="12192000" cy="3905043"/>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b="1">
                <a:latin typeface="微软雅黑" panose="020B0503020204020204" pitchFamily="34" charset="-122"/>
                <a:ea typeface="微软雅黑" panose="020B0503020204020204" pitchFamily="34" charset="-122"/>
              </a:rPr>
              <a:t>SLAM</a:t>
            </a:r>
            <a:r>
              <a:rPr lang="en-US" altLang="zh-CN" sz="2400">
                <a:latin typeface="微软雅黑" panose="020B0503020204020204" pitchFamily="34" charset="-122"/>
                <a:ea typeface="微软雅黑" panose="020B0503020204020204" pitchFamily="34" charset="-122"/>
              </a:rPr>
              <a:t> (simultaneous localization and mapping),</a:t>
            </a:r>
            <a:r>
              <a:rPr lang="zh-CN" altLang="en-US" sz="2400">
                <a:latin typeface="微软雅黑" panose="020B0503020204020204" pitchFamily="34" charset="-122"/>
                <a:ea typeface="微软雅黑" panose="020B0503020204020204" pitchFamily="34" charset="-122"/>
              </a:rPr>
              <a:t>也称为</a:t>
            </a:r>
            <a:r>
              <a:rPr lang="en-US" altLang="zh-CN" sz="2400">
                <a:latin typeface="微软雅黑" panose="020B0503020204020204" pitchFamily="34" charset="-122"/>
                <a:ea typeface="微软雅黑" panose="020B0503020204020204" pitchFamily="34" charset="-122"/>
              </a:rPr>
              <a:t>CML (Concurrent Mapping and Localization), </a:t>
            </a:r>
            <a:r>
              <a:rPr lang="zh-CN" altLang="en-US" sz="2400" b="1">
                <a:latin typeface="微软雅黑" panose="020B0503020204020204" pitchFamily="34" charset="-122"/>
                <a:ea typeface="微软雅黑" panose="020B0503020204020204" pitchFamily="34" charset="-122"/>
              </a:rPr>
              <a:t>即时定位与地图构建</a:t>
            </a:r>
            <a:r>
              <a:rPr lang="zh-CN" altLang="en-US" sz="2400">
                <a:latin typeface="微软雅黑" panose="020B0503020204020204" pitchFamily="34" charset="-122"/>
                <a:ea typeface="微软雅黑" panose="020B0503020204020204" pitchFamily="34" charset="-122"/>
              </a:rPr>
              <a:t>，或并发建图与定位。</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问题可以描述为：将一个机器人放入未知环境中的未知位置，是否有办法让机器人一边逐步描绘出此环境完全的地图。所谓完全的地图（</a:t>
            </a:r>
            <a:r>
              <a:rPr lang="en-US" altLang="zh-CN" sz="2400">
                <a:latin typeface="微软雅黑" panose="020B0503020204020204" pitchFamily="34" charset="-122"/>
                <a:ea typeface="微软雅黑" panose="020B0503020204020204" pitchFamily="34" charset="-122"/>
              </a:rPr>
              <a:t>a consistent map</a:t>
            </a:r>
            <a:r>
              <a:rPr lang="zh-CN" altLang="en-US" sz="2400">
                <a:latin typeface="微软雅黑" panose="020B0503020204020204" pitchFamily="34" charset="-122"/>
                <a:ea typeface="微软雅黑" panose="020B0503020204020204" pitchFamily="34" charset="-122"/>
              </a:rPr>
              <a:t>）是指不受障碍行进到房间可进入的每个角落。 </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最早由</a:t>
            </a:r>
            <a:r>
              <a:rPr lang="en-US" altLang="zh-CN" sz="2400">
                <a:latin typeface="微软雅黑" panose="020B0503020204020204" pitchFamily="34" charset="-122"/>
                <a:ea typeface="微软雅黑" panose="020B0503020204020204" pitchFamily="34" charset="-122"/>
              </a:rPr>
              <a:t>Smith</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Self</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Cheeseman</a:t>
            </a:r>
            <a:r>
              <a:rPr lang="zh-CN" altLang="en-US" sz="2400">
                <a:latin typeface="微软雅黑" panose="020B0503020204020204" pitchFamily="34" charset="-122"/>
                <a:ea typeface="微软雅黑" panose="020B0503020204020204" pitchFamily="34" charset="-122"/>
              </a:rPr>
              <a:t>于</a:t>
            </a:r>
            <a:r>
              <a:rPr lang="en-US" altLang="zh-CN" sz="2400">
                <a:latin typeface="微软雅黑" panose="020B0503020204020204" pitchFamily="34" charset="-122"/>
                <a:ea typeface="微软雅黑" panose="020B0503020204020204" pitchFamily="34" charset="-122"/>
              </a:rPr>
              <a:t>1988</a:t>
            </a:r>
            <a:r>
              <a:rPr lang="zh-CN" altLang="en-US" sz="2400">
                <a:latin typeface="微软雅黑" panose="020B0503020204020204" pitchFamily="34" charset="-122"/>
                <a:ea typeface="微软雅黑" panose="020B0503020204020204" pitchFamily="34" charset="-122"/>
              </a:rPr>
              <a:t>年提出。 由于其重要的理论与应用价值，被很多学者认为是实现</a:t>
            </a:r>
            <a:r>
              <a:rPr lang="zh-CN" altLang="en-US" sz="2400" b="1">
                <a:latin typeface="微软雅黑" panose="020B0503020204020204" pitchFamily="34" charset="-122"/>
                <a:ea typeface="微软雅黑" panose="020B0503020204020204" pitchFamily="34" charset="-122"/>
              </a:rPr>
              <a:t>真正全自主移动机器人</a:t>
            </a:r>
            <a:r>
              <a:rPr lang="zh-CN" altLang="en-US" sz="2400">
                <a:latin typeface="微软雅黑" panose="020B0503020204020204" pitchFamily="34" charset="-122"/>
                <a:ea typeface="微软雅黑" panose="020B0503020204020204" pitchFamily="34" charset="-122"/>
              </a:rPr>
              <a:t>的关键。</a:t>
            </a:r>
            <a:endParaRPr lang="en-US" altLang="zh-CN" sz="2400">
              <a:latin typeface="微软雅黑" panose="020B0503020204020204" pitchFamily="34" charset="-122"/>
              <a:ea typeface="微软雅黑" panose="020B0503020204020204" pitchFamily="34" charset="-122"/>
            </a:endParaRPr>
          </a:p>
        </p:txBody>
      </p:sp>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1</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第一关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是什么？</a:t>
            </a:r>
          </a:p>
        </p:txBody>
      </p:sp>
    </p:spTree>
    <p:extLst>
      <p:ext uri="{BB962C8B-B14F-4D97-AF65-F5344CB8AC3E}">
        <p14:creationId xmlns:p14="http://schemas.microsoft.com/office/powerpoint/2010/main" val="89861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500"/>
                                        <p:tgtEl>
                                          <p:spTgt spid="6">
                                            <p:txEl>
                                              <p:pRg st="1" end="1"/>
                                            </p:txEl>
                                          </p:spTgt>
                                        </p:tgtEl>
                                      </p:cBhvr>
                                    </p:animEffect>
                                    <p:anim calcmode="lin" valueType="num">
                                      <p:cBhvr>
                                        <p:cTn id="1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500"/>
                                        <p:tgtEl>
                                          <p:spTgt spid="6">
                                            <p:txEl>
                                              <p:pRg st="2" end="2"/>
                                            </p:txEl>
                                          </p:spTgt>
                                        </p:tgtEl>
                                      </p:cBhvr>
                                    </p:animEffect>
                                    <p:anim calcmode="lin" valueType="num">
                                      <p:cBhvr>
                                        <p:cTn id="2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连接小车</a:t>
            </a:r>
          </a:p>
        </p:txBody>
      </p:sp>
      <p:sp>
        <p:nvSpPr>
          <p:cNvPr id="6" name="文本框 5">
            <a:extLst>
              <a:ext uri="{FF2B5EF4-FFF2-40B4-BE49-F238E27FC236}">
                <a16:creationId xmlns:a16="http://schemas.microsoft.com/office/drawing/2014/main" id="{57BB0DD0-3760-4A8F-8B51-69257219F6A9}"/>
              </a:ext>
            </a:extLst>
          </p:cNvPr>
          <p:cNvSpPr txBox="1"/>
          <p:nvPr/>
        </p:nvSpPr>
        <p:spPr>
          <a:xfrm>
            <a:off x="8878" y="1567378"/>
            <a:ext cx="12183122" cy="3351046"/>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参考实验二小车连接方法</a:t>
            </a:r>
            <a:endParaRPr lang="en-US" altLang="zh-CN" sz="2400" dirty="0">
              <a:latin typeface="微软雅黑" panose="020B0503020204020204" pitchFamily="34" charset="-122"/>
              <a:ea typeface="微软雅黑" panose="020B0503020204020204" pitchFamily="34" charset="-122"/>
            </a:endParaRPr>
          </a:p>
          <a:p>
            <a:pPr indent="457200">
              <a:lnSpc>
                <a:spcPct val="150000"/>
              </a:lnSpc>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主机</a:t>
            </a:r>
            <a:r>
              <a:rPr lang="en-US" altLang="zh-CN" sz="2400" dirty="0">
                <a:latin typeface="微软雅黑" panose="020B0503020204020204" pitchFamily="34" charset="-122"/>
                <a:ea typeface="微软雅黑" panose="020B0503020204020204" pitchFamily="34" charset="-122"/>
              </a:rPr>
              <a:t>】</a:t>
            </a:r>
          </a:p>
          <a:p>
            <a:pPr indent="457200">
              <a:lnSpc>
                <a:spcPct val="150000"/>
              </a:lnSpc>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roscore</a:t>
            </a:r>
            <a:r>
              <a:rPr lang="en-US" altLang="zh-CN" sz="2400" b="1" dirty="0">
                <a:latin typeface="微软雅黑" panose="020B0503020204020204" pitchFamily="34" charset="-122"/>
                <a:ea typeface="微软雅黑" panose="020B0503020204020204" pitchFamily="34" charset="-122"/>
              </a:rPr>
              <a:t> </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启动</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roscore</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并检验网络配置是否成功</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dirty="0">
                <a:latin typeface="微软雅黑" panose="020B0503020204020204" pitchFamily="34" charset="-122"/>
                <a:ea typeface="微软雅黑" panose="020B0503020204020204" pitchFamily="34" charset="-122"/>
              </a:rPr>
              <a:t>【Burger】</a:t>
            </a:r>
          </a:p>
          <a:p>
            <a:pPr indent="457200">
              <a:lnSpc>
                <a:spcPct val="150000"/>
              </a:lnSpc>
            </a:pPr>
            <a:r>
              <a:rPr lang="en-US" altLang="zh-CN" sz="2400" b="1" dirty="0">
                <a:latin typeface="微软雅黑" panose="020B0503020204020204" pitchFamily="34" charset="-122"/>
                <a:ea typeface="微软雅黑" panose="020B0503020204020204" pitchFamily="34" charset="-122"/>
              </a:rPr>
              <a:t>$ ssh -Y </a:t>
            </a:r>
            <a:r>
              <a:rPr lang="en-US" altLang="zh-CN" sz="2400" b="1" dirty="0" err="1">
                <a:latin typeface="微软雅黑" panose="020B0503020204020204" pitchFamily="34" charset="-122"/>
                <a:ea typeface="微软雅黑" panose="020B0503020204020204" pitchFamily="34" charset="-122"/>
              </a:rPr>
              <a:t>pi@Burger</a:t>
            </a:r>
            <a:r>
              <a:rPr lang="zh-CN" altLang="en-US" sz="2400" b="1" dirty="0">
                <a:latin typeface="微软雅黑" panose="020B0503020204020204" pitchFamily="34" charset="-122"/>
                <a:ea typeface="微软雅黑" panose="020B0503020204020204" pitchFamily="34" charset="-122"/>
              </a:rPr>
              <a:t>的</a:t>
            </a:r>
            <a:r>
              <a:rPr lang="en-US" altLang="zh-CN" sz="2400" b="1" dirty="0">
                <a:latin typeface="微软雅黑" panose="020B0503020204020204" pitchFamily="34" charset="-122"/>
                <a:ea typeface="微软雅黑" panose="020B0503020204020204" pitchFamily="34" charset="-122"/>
              </a:rPr>
              <a:t>IP </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ssh</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连接从机</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roscore</a:t>
            </a:r>
            <a:r>
              <a:rPr lang="en-US" altLang="zh-CN" sz="2400" b="1" dirty="0">
                <a:latin typeface="微软雅黑" panose="020B0503020204020204" pitchFamily="34" charset="-122"/>
                <a:ea typeface="微软雅黑" panose="020B0503020204020204" pitchFamily="34" charset="-122"/>
              </a:rPr>
              <a:t> </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启动</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roscore</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并检验网络配置是否成功</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778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连接小车</a:t>
            </a:r>
          </a:p>
        </p:txBody>
      </p:sp>
      <p:sp>
        <p:nvSpPr>
          <p:cNvPr id="6" name="文本框 5">
            <a:extLst>
              <a:ext uri="{FF2B5EF4-FFF2-40B4-BE49-F238E27FC236}">
                <a16:creationId xmlns:a16="http://schemas.microsoft.com/office/drawing/2014/main" id="{57BB0DD0-3760-4A8F-8B51-69257219F6A9}"/>
              </a:ext>
            </a:extLst>
          </p:cNvPr>
          <p:cNvSpPr txBox="1"/>
          <p:nvPr/>
        </p:nvSpPr>
        <p:spPr>
          <a:xfrm>
            <a:off x="8878" y="1225988"/>
            <a:ext cx="12183122" cy="1135054"/>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正确结果：</a:t>
            </a:r>
            <a:endParaRPr lang="en-US" altLang="zh-CN" sz="2400" dirty="0">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roscore</a:t>
            </a:r>
            <a:r>
              <a:rPr lang="zh-CN" altLang="en-US" sz="2400" b="1" dirty="0">
                <a:latin typeface="微软雅黑" panose="020B0503020204020204" pitchFamily="34" charset="-122"/>
                <a:ea typeface="微软雅黑" panose="020B0503020204020204" pitchFamily="34" charset="-122"/>
              </a:rPr>
              <a:t>不报</a:t>
            </a:r>
            <a:r>
              <a:rPr lang="en-US" altLang="zh-CN" sz="2400" b="1" dirty="0">
                <a:latin typeface="微软雅黑" panose="020B0503020204020204" pitchFamily="34" charset="-122"/>
                <a:ea typeface="微软雅黑" panose="020B0503020204020204" pitchFamily="34" charset="-122"/>
              </a:rPr>
              <a:t>Error</a:t>
            </a:r>
            <a:r>
              <a:rPr lang="zh-CN" altLang="en-US" sz="2400" b="1" dirty="0">
                <a:latin typeface="微软雅黑" panose="020B0503020204020204" pitchFamily="34" charset="-122"/>
                <a:ea typeface="微软雅黑" panose="020B0503020204020204" pitchFamily="34" charset="-122"/>
              </a:rPr>
              <a:t>。</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916DB1C-D98F-3657-9FB4-3013AA354C16}"/>
              </a:ext>
            </a:extLst>
          </p:cNvPr>
          <p:cNvPicPr>
            <a:picLocks noChangeAspect="1"/>
          </p:cNvPicPr>
          <p:nvPr/>
        </p:nvPicPr>
        <p:blipFill>
          <a:blip r:embed="rId2"/>
          <a:stretch>
            <a:fillRect/>
          </a:stretch>
        </p:blipFill>
        <p:spPr>
          <a:xfrm>
            <a:off x="6453380" y="2884541"/>
            <a:ext cx="4064209" cy="2514729"/>
          </a:xfrm>
          <a:prstGeom prst="rect">
            <a:avLst/>
          </a:prstGeom>
        </p:spPr>
      </p:pic>
      <p:pic>
        <p:nvPicPr>
          <p:cNvPr id="14" name="图片 13">
            <a:extLst>
              <a:ext uri="{FF2B5EF4-FFF2-40B4-BE49-F238E27FC236}">
                <a16:creationId xmlns:a16="http://schemas.microsoft.com/office/drawing/2014/main" id="{881F5691-7E31-4844-12D3-AC5506DF9EE6}"/>
              </a:ext>
            </a:extLst>
          </p:cNvPr>
          <p:cNvPicPr>
            <a:picLocks noChangeAspect="1"/>
          </p:cNvPicPr>
          <p:nvPr/>
        </p:nvPicPr>
        <p:blipFill>
          <a:blip r:embed="rId3"/>
          <a:stretch>
            <a:fillRect/>
          </a:stretch>
        </p:blipFill>
        <p:spPr>
          <a:xfrm>
            <a:off x="1594398" y="2935343"/>
            <a:ext cx="3746693" cy="2463927"/>
          </a:xfrm>
          <a:prstGeom prst="rect">
            <a:avLst/>
          </a:prstGeom>
        </p:spPr>
      </p:pic>
      <p:sp>
        <p:nvSpPr>
          <p:cNvPr id="15" name="箭头: 右 14">
            <a:extLst>
              <a:ext uri="{FF2B5EF4-FFF2-40B4-BE49-F238E27FC236}">
                <a16:creationId xmlns:a16="http://schemas.microsoft.com/office/drawing/2014/main" id="{9D8F9B5A-0D00-95D4-5C77-D5C4C55CA9E6}"/>
              </a:ext>
            </a:extLst>
          </p:cNvPr>
          <p:cNvSpPr/>
          <p:nvPr/>
        </p:nvSpPr>
        <p:spPr>
          <a:xfrm flipH="1">
            <a:off x="2998386" y="3778067"/>
            <a:ext cx="2342705" cy="71889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主机的</a:t>
            </a:r>
            <a:r>
              <a:rPr lang="en-US" altLang="zh-CN" dirty="0" err="1"/>
              <a:t>roscore</a:t>
            </a:r>
            <a:endParaRPr lang="zh-CN" altLang="en-US" dirty="0"/>
          </a:p>
        </p:txBody>
      </p:sp>
      <p:sp>
        <p:nvSpPr>
          <p:cNvPr id="16" name="箭头: 右 15">
            <a:extLst>
              <a:ext uri="{FF2B5EF4-FFF2-40B4-BE49-F238E27FC236}">
                <a16:creationId xmlns:a16="http://schemas.microsoft.com/office/drawing/2014/main" id="{B5BCAB8B-D06E-98A9-B4CB-5C3A192184C6}"/>
              </a:ext>
            </a:extLst>
          </p:cNvPr>
          <p:cNvSpPr/>
          <p:nvPr/>
        </p:nvSpPr>
        <p:spPr>
          <a:xfrm flipH="1">
            <a:off x="8174884" y="3778067"/>
            <a:ext cx="2342705" cy="71889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从机的</a:t>
            </a:r>
            <a:r>
              <a:rPr lang="en-US" altLang="zh-CN" dirty="0" err="1"/>
              <a:t>roscore</a:t>
            </a:r>
            <a:endParaRPr lang="zh-CN" altLang="en-US" dirty="0"/>
          </a:p>
        </p:txBody>
      </p:sp>
    </p:spTree>
    <p:extLst>
      <p:ext uri="{BB962C8B-B14F-4D97-AF65-F5344CB8AC3E}">
        <p14:creationId xmlns:p14="http://schemas.microsoft.com/office/powerpoint/2010/main" val="116601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anim calcmode="lin" valueType="num">
                                      <p:cBhvr>
                                        <p:cTn id="13" dur="500" fill="hold"/>
                                        <p:tgtEl>
                                          <p:spTgt spid="15"/>
                                        </p:tgtEl>
                                        <p:attrNameLst>
                                          <p:attrName>ppt_x</p:attrName>
                                        </p:attrNameLst>
                                      </p:cBhvr>
                                      <p:tavLst>
                                        <p:tav tm="0">
                                          <p:val>
                                            <p:strVal val="#ppt_x"/>
                                          </p:val>
                                        </p:tav>
                                        <p:tav tm="100000">
                                          <p:val>
                                            <p:strVal val="#ppt_x"/>
                                          </p:val>
                                        </p:tav>
                                      </p:tavLst>
                                    </p:anim>
                                    <p:anim calcmode="lin" valueType="num">
                                      <p:cBhvr>
                                        <p:cTn id="14" dur="5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anim calcmode="lin" valueType="num">
                                      <p:cBhvr>
                                        <p:cTn id="18" dur="500" fill="hold"/>
                                        <p:tgtEl>
                                          <p:spTgt spid="16"/>
                                        </p:tgtEl>
                                        <p:attrNameLst>
                                          <p:attrName>ppt_x</p:attrName>
                                        </p:attrNameLst>
                                      </p:cBhvr>
                                      <p:tavLst>
                                        <p:tav tm="0">
                                          <p:val>
                                            <p:strVal val="#ppt_x"/>
                                          </p:val>
                                        </p:tav>
                                        <p:tav tm="100000">
                                          <p:val>
                                            <p:strVal val="#ppt_x"/>
                                          </p:val>
                                        </p:tav>
                                      </p:tavLst>
                                    </p:anim>
                                    <p:anim calcmode="lin" valueType="num">
                                      <p:cBhvr>
                                        <p:cTn id="1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建图并保存</a:t>
            </a:r>
          </a:p>
        </p:txBody>
      </p:sp>
      <p:sp>
        <p:nvSpPr>
          <p:cNvPr id="13" name="文本框 12">
            <a:extLst>
              <a:ext uri="{FF2B5EF4-FFF2-40B4-BE49-F238E27FC236}">
                <a16:creationId xmlns:a16="http://schemas.microsoft.com/office/drawing/2014/main" id="{0E152420-481E-4EE4-8037-9C3E0E0FB3F3}"/>
              </a:ext>
            </a:extLst>
          </p:cNvPr>
          <p:cNvSpPr txBox="1"/>
          <p:nvPr/>
        </p:nvSpPr>
        <p:spPr>
          <a:xfrm>
            <a:off x="0" y="1428079"/>
            <a:ext cx="12183122" cy="3351046"/>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本关涉及的指令：</a:t>
            </a:r>
            <a:endParaRPr lang="en-US" altLang="zh-CN" sz="2400" dirty="0">
              <a:latin typeface="微软雅黑" panose="020B0503020204020204" pitchFamily="34" charset="-122"/>
              <a:ea typeface="微软雅黑" panose="020B0503020204020204" pitchFamily="34" charset="-122"/>
            </a:endParaRPr>
          </a:p>
          <a:p>
            <a:pPr indent="457200">
              <a:lnSpc>
                <a:spcPct val="150000"/>
              </a:lnSpc>
            </a:pP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执行</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slam</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启动命令</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roslaunch</a:t>
            </a:r>
            <a:r>
              <a:rPr lang="en-US" altLang="zh-CN" sz="2400" b="1" dirty="0">
                <a:latin typeface="微软雅黑" panose="020B0503020204020204" pitchFamily="34" charset="-122"/>
                <a:ea typeface="微软雅黑" panose="020B0503020204020204" pitchFamily="34" charset="-122"/>
              </a:rPr>
              <a:t> turtlebot3_slam turtlebot3_slam.launch</a:t>
            </a:r>
          </a:p>
          <a:p>
            <a:pPr indent="457200">
              <a:lnSpc>
                <a:spcPct val="150000"/>
              </a:lnSpc>
            </a:pP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启动键盘控制</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teleop</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命令</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roslaunch</a:t>
            </a:r>
            <a:r>
              <a:rPr lang="en-US" altLang="zh-CN" sz="2400" b="1" dirty="0">
                <a:latin typeface="微软雅黑" panose="020B0503020204020204" pitchFamily="34" charset="-122"/>
                <a:ea typeface="微软雅黑" panose="020B0503020204020204" pitchFamily="34" charset="-122"/>
              </a:rPr>
              <a:t> turtlebot3_teleop turtlebot3_teleop_key.launch</a:t>
            </a:r>
          </a:p>
          <a:p>
            <a:pPr indent="457200">
              <a:lnSpc>
                <a:spcPct val="150000"/>
              </a:lnSpc>
            </a:pP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保存</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SLAM</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地图至</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~/map </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rosrun</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map_server</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map_saver</a:t>
            </a:r>
            <a:r>
              <a:rPr lang="en-US" altLang="zh-CN" sz="2400" b="1" dirty="0">
                <a:latin typeface="微软雅黑" panose="020B0503020204020204" pitchFamily="34" charset="-122"/>
                <a:ea typeface="微软雅黑" panose="020B0503020204020204" pitchFamily="34" charset="-122"/>
              </a:rPr>
              <a:t> -f ~/map</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713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500"/>
                                        <p:tgtEl>
                                          <p:spTgt spid="13">
                                            <p:txEl>
                                              <p:pRg st="1" end="1"/>
                                            </p:txEl>
                                          </p:spTgt>
                                        </p:tgtEl>
                                      </p:cBhvr>
                                    </p:animEffect>
                                    <p:anim calcmode="lin" valueType="num">
                                      <p:cBhvr>
                                        <p:cTn id="8"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1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fade">
                                      <p:cBhvr>
                                        <p:cTn id="12" dur="500"/>
                                        <p:tgtEl>
                                          <p:spTgt spid="13">
                                            <p:txEl>
                                              <p:pRg st="2" end="2"/>
                                            </p:txEl>
                                          </p:spTgt>
                                        </p:tgtEl>
                                      </p:cBhvr>
                                    </p:animEffect>
                                    <p:anim calcmode="lin" valueType="num">
                                      <p:cBhvr>
                                        <p:cTn id="13"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1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fade">
                                      <p:cBhvr>
                                        <p:cTn id="17" dur="500"/>
                                        <p:tgtEl>
                                          <p:spTgt spid="13">
                                            <p:txEl>
                                              <p:pRg st="3" end="3"/>
                                            </p:txEl>
                                          </p:spTgt>
                                        </p:tgtEl>
                                      </p:cBhvr>
                                    </p:animEffect>
                                    <p:anim calcmode="lin" valueType="num">
                                      <p:cBhvr>
                                        <p:cTn id="18"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19" dur="500" fill="hold"/>
                                        <p:tgtEl>
                                          <p:spTgt spid="1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xEl>
                                              <p:pRg st="4" end="4"/>
                                            </p:txEl>
                                          </p:spTgt>
                                        </p:tgtEl>
                                        <p:attrNameLst>
                                          <p:attrName>style.visibility</p:attrName>
                                        </p:attrNameLst>
                                      </p:cBhvr>
                                      <p:to>
                                        <p:strVal val="visible"/>
                                      </p:to>
                                    </p:set>
                                    <p:animEffect transition="in" filter="fade">
                                      <p:cBhvr>
                                        <p:cTn id="22" dur="500"/>
                                        <p:tgtEl>
                                          <p:spTgt spid="13">
                                            <p:txEl>
                                              <p:pRg st="4" end="4"/>
                                            </p:txEl>
                                          </p:spTgt>
                                        </p:tgtEl>
                                      </p:cBhvr>
                                    </p:animEffect>
                                    <p:anim calcmode="lin" valueType="num">
                                      <p:cBhvr>
                                        <p:cTn id="23"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1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3">
                                            <p:txEl>
                                              <p:pRg st="5" end="5"/>
                                            </p:txEl>
                                          </p:spTgt>
                                        </p:tgtEl>
                                        <p:attrNameLst>
                                          <p:attrName>style.visibility</p:attrName>
                                        </p:attrNameLst>
                                      </p:cBhvr>
                                      <p:to>
                                        <p:strVal val="visible"/>
                                      </p:to>
                                    </p:set>
                                    <p:animEffect transition="in" filter="fade">
                                      <p:cBhvr>
                                        <p:cTn id="29" dur="500"/>
                                        <p:tgtEl>
                                          <p:spTgt spid="13">
                                            <p:txEl>
                                              <p:pRg st="5" end="5"/>
                                            </p:txEl>
                                          </p:spTgt>
                                        </p:tgtEl>
                                      </p:cBhvr>
                                    </p:animEffect>
                                    <p:anim calcmode="lin" valueType="num">
                                      <p:cBhvr>
                                        <p:cTn id="30"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1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DE141-B129-7EBD-8A83-BC773F04074F}"/>
            </a:ext>
          </a:extLst>
        </p:cNvPr>
        <p:cNvGrpSpPr/>
        <p:nvPr/>
      </p:nvGrpSpPr>
      <p:grpSpPr>
        <a:xfrm>
          <a:off x="0" y="0"/>
          <a:ext cx="0" cy="0"/>
          <a:chOff x="0" y="0"/>
          <a:chExt cx="0" cy="0"/>
        </a:xfrm>
      </p:grpSpPr>
      <p:sp>
        <p:nvSpPr>
          <p:cNvPr id="8" name="箭头: 五边形 7">
            <a:extLst>
              <a:ext uri="{FF2B5EF4-FFF2-40B4-BE49-F238E27FC236}">
                <a16:creationId xmlns:a16="http://schemas.microsoft.com/office/drawing/2014/main" id="{37899DA5-AAE5-BFFC-FB1B-FC264AA08068}"/>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182BAB72-1002-A947-3F48-E8EA8AB7A79B}"/>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建图并保存</a:t>
            </a:r>
          </a:p>
        </p:txBody>
      </p:sp>
      <p:sp>
        <p:nvSpPr>
          <p:cNvPr id="13" name="文本框 12">
            <a:extLst>
              <a:ext uri="{FF2B5EF4-FFF2-40B4-BE49-F238E27FC236}">
                <a16:creationId xmlns:a16="http://schemas.microsoft.com/office/drawing/2014/main" id="{09EB2C66-1DF1-F9A2-BABA-9A629D50AAE5}"/>
              </a:ext>
            </a:extLst>
          </p:cNvPr>
          <p:cNvSpPr txBox="1"/>
          <p:nvPr/>
        </p:nvSpPr>
        <p:spPr>
          <a:xfrm>
            <a:off x="0" y="1428079"/>
            <a:ext cx="12183122" cy="4459041"/>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小车端运行命令</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a:latin typeface="微软雅黑" panose="020B0503020204020204" pitchFamily="34" charset="-122"/>
                <a:ea typeface="微软雅黑" panose="020B0503020204020204" pitchFamily="34" charset="-122"/>
              </a:rPr>
              <a:t>turtlebot3_bringup turtlebot3_robot.launch</a:t>
            </a:r>
          </a:p>
          <a:p>
            <a:pPr indent="457200">
              <a:lnSpc>
                <a:spcPct val="150000"/>
              </a:lnSpc>
            </a:pPr>
            <a:endParaRPr lang="en-US" altLang="zh-CN" sz="2400" b="1" dirty="0">
              <a:latin typeface="微软雅黑" panose="020B0503020204020204" pitchFamily="34" charset="-122"/>
              <a:ea typeface="微软雅黑" panose="020B0503020204020204" pitchFamily="34" charset="-122"/>
            </a:endParaRPr>
          </a:p>
          <a:p>
            <a:pPr indent="457200">
              <a:lnSpc>
                <a:spcPct val="150000"/>
              </a:lnSpc>
            </a:pPr>
            <a:endParaRPr lang="en-US" altLang="zh-CN" sz="2400" b="1" dirty="0">
              <a:latin typeface="微软雅黑" panose="020B0503020204020204" pitchFamily="34" charset="-122"/>
              <a:ea typeface="微软雅黑" panose="020B0503020204020204" pitchFamily="34" charset="-122"/>
            </a:endParaRPr>
          </a:p>
          <a:p>
            <a:pPr indent="457200">
              <a:lnSpc>
                <a:spcPct val="150000"/>
              </a:lnSpc>
            </a:pPr>
            <a:endParaRPr lang="en-US" altLang="zh-CN" sz="2400" b="1" dirty="0">
              <a:latin typeface="微软雅黑" panose="020B0503020204020204" pitchFamily="34" charset="-122"/>
              <a:ea typeface="微软雅黑" panose="020B0503020204020204" pitchFamily="34" charset="-122"/>
            </a:endParaRPr>
          </a:p>
          <a:p>
            <a:pPr indent="457200">
              <a:lnSpc>
                <a:spcPct val="150000"/>
              </a:lnSpc>
            </a:pPr>
            <a:endParaRPr lang="en-US" altLang="zh-CN" sz="2400" b="1" dirty="0">
              <a:latin typeface="微软雅黑" panose="020B0503020204020204" pitchFamily="34" charset="-122"/>
              <a:ea typeface="微软雅黑" panose="020B0503020204020204" pitchFamily="34" charset="-122"/>
            </a:endParaRPr>
          </a:p>
          <a:p>
            <a:pPr indent="457200">
              <a:lnSpc>
                <a:spcPct val="150000"/>
              </a:lnSpc>
            </a:pPr>
            <a:endParaRPr lang="zh-CN" altLang="zh-CN" sz="2400" b="1" dirty="0">
              <a:latin typeface="微软雅黑" panose="020B0503020204020204" pitchFamily="34" charset="-122"/>
              <a:ea typeface="微软雅黑" panose="020B0503020204020204" pitchFamily="34" charset="-122"/>
            </a:endParaRPr>
          </a:p>
          <a:p>
            <a:pPr indent="457200">
              <a:lnSpc>
                <a:spcPct val="150000"/>
              </a:lnSpc>
            </a:pP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D66D9F27-408B-FC82-821A-8E66A2F1E91A}"/>
              </a:ext>
            </a:extLst>
          </p:cNvPr>
          <p:cNvPicPr>
            <a:picLocks noChangeAspect="1"/>
          </p:cNvPicPr>
          <p:nvPr/>
        </p:nvPicPr>
        <p:blipFill>
          <a:blip r:embed="rId2"/>
          <a:stretch>
            <a:fillRect/>
          </a:stretch>
        </p:blipFill>
        <p:spPr>
          <a:xfrm>
            <a:off x="1958435" y="2879700"/>
            <a:ext cx="8266251" cy="2035199"/>
          </a:xfrm>
          <a:prstGeom prst="rect">
            <a:avLst/>
          </a:prstGeom>
        </p:spPr>
      </p:pic>
    </p:spTree>
    <p:extLst>
      <p:ext uri="{BB962C8B-B14F-4D97-AF65-F5344CB8AC3E}">
        <p14:creationId xmlns:p14="http://schemas.microsoft.com/office/powerpoint/2010/main" val="267592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anim calcmode="lin" valueType="num">
                                      <p:cBhvr>
                                        <p:cTn id="8"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anim calcmode="lin" valueType="num">
                                      <p:cBhvr>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建图</a:t>
            </a:r>
          </a:p>
        </p:txBody>
      </p:sp>
      <p:sp>
        <p:nvSpPr>
          <p:cNvPr id="13" name="文本框 12">
            <a:extLst>
              <a:ext uri="{FF2B5EF4-FFF2-40B4-BE49-F238E27FC236}">
                <a16:creationId xmlns:a16="http://schemas.microsoft.com/office/drawing/2014/main" id="{0E152420-481E-4EE4-8037-9C3E0E0FB3F3}"/>
              </a:ext>
            </a:extLst>
          </p:cNvPr>
          <p:cNvSpPr txBox="1"/>
          <p:nvPr/>
        </p:nvSpPr>
        <p:spPr>
          <a:xfrm>
            <a:off x="8878" y="1324526"/>
            <a:ext cx="12183122" cy="1135054"/>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主机端运行</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slam</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程序</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roslaunch</a:t>
            </a:r>
            <a:r>
              <a:rPr lang="en-US" altLang="zh-CN" sz="2400" b="1" dirty="0">
                <a:latin typeface="微软雅黑" panose="020B0503020204020204" pitchFamily="34" charset="-122"/>
                <a:ea typeface="微软雅黑" panose="020B0503020204020204" pitchFamily="34" charset="-122"/>
              </a:rPr>
              <a:t> turtlebot3_slam turtlebot3_slam.launch</a:t>
            </a:r>
          </a:p>
        </p:txBody>
      </p:sp>
      <p:sp>
        <p:nvSpPr>
          <p:cNvPr id="7" name="箭头: 右 6">
            <a:extLst>
              <a:ext uri="{FF2B5EF4-FFF2-40B4-BE49-F238E27FC236}">
                <a16:creationId xmlns:a16="http://schemas.microsoft.com/office/drawing/2014/main" id="{133DB692-CB01-445A-AFDD-F3A965A9D31E}"/>
              </a:ext>
            </a:extLst>
          </p:cNvPr>
          <p:cNvSpPr/>
          <p:nvPr/>
        </p:nvSpPr>
        <p:spPr>
          <a:xfrm flipH="1">
            <a:off x="7440474" y="2539725"/>
            <a:ext cx="2342705" cy="125022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正确结果</a:t>
            </a:r>
            <a:endParaRPr lang="en-US" altLang="zh-CN"/>
          </a:p>
          <a:p>
            <a:pPr algn="ctr"/>
            <a:r>
              <a:rPr lang="zh-CN" altLang="en-US"/>
              <a:t>出现地形及小车</a:t>
            </a:r>
          </a:p>
        </p:txBody>
      </p:sp>
      <p:sp>
        <p:nvSpPr>
          <p:cNvPr id="10" name="箭头: 右 9">
            <a:extLst>
              <a:ext uri="{FF2B5EF4-FFF2-40B4-BE49-F238E27FC236}">
                <a16:creationId xmlns:a16="http://schemas.microsoft.com/office/drawing/2014/main" id="{84F739A7-C12A-4C9B-9079-44A353C0CE29}"/>
              </a:ext>
            </a:extLst>
          </p:cNvPr>
          <p:cNvSpPr/>
          <p:nvPr/>
        </p:nvSpPr>
        <p:spPr>
          <a:xfrm>
            <a:off x="7440474" y="3680545"/>
            <a:ext cx="2342705" cy="1961213"/>
          </a:xfrm>
          <a:prstGeom prst="rightArrow">
            <a:avLst>
              <a:gd name="adj1" fmla="val 59613"/>
              <a:gd name="adj2" fmla="val 19326"/>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错误结果</a:t>
            </a:r>
            <a:endParaRPr lang="en-US" altLang="zh-CN"/>
          </a:p>
          <a:p>
            <a:pPr algn="ctr"/>
            <a:r>
              <a:rPr lang="zh-CN" altLang="en-US"/>
              <a:t>只有一个白色的车</a:t>
            </a:r>
            <a:endParaRPr lang="en-US" altLang="zh-CN"/>
          </a:p>
          <a:p>
            <a:pPr algn="ctr"/>
            <a:r>
              <a:rPr lang="en-US" altLang="zh-CN"/>
              <a:t>/</a:t>
            </a:r>
            <a:r>
              <a:rPr lang="zh-CN" altLang="en-US"/>
              <a:t>没有地图</a:t>
            </a:r>
            <a:endParaRPr lang="en-US" altLang="zh-CN"/>
          </a:p>
          <a:p>
            <a:pPr algn="ctr"/>
            <a:r>
              <a:rPr lang="en-US" altLang="zh-CN"/>
              <a:t>/</a:t>
            </a:r>
            <a:r>
              <a:rPr lang="zh-CN" altLang="en-US"/>
              <a:t>命令中止</a:t>
            </a:r>
          </a:p>
        </p:txBody>
      </p:sp>
      <p:sp>
        <p:nvSpPr>
          <p:cNvPr id="12" name="箭头: 右 11">
            <a:extLst>
              <a:ext uri="{FF2B5EF4-FFF2-40B4-BE49-F238E27FC236}">
                <a16:creationId xmlns:a16="http://schemas.microsoft.com/office/drawing/2014/main" id="{3D499AE8-F5B1-4720-8512-42461215FAC4}"/>
              </a:ext>
            </a:extLst>
          </p:cNvPr>
          <p:cNvSpPr/>
          <p:nvPr/>
        </p:nvSpPr>
        <p:spPr>
          <a:xfrm>
            <a:off x="9783179" y="3680545"/>
            <a:ext cx="2408821" cy="1961213"/>
          </a:xfrm>
          <a:prstGeom prst="rightArrow">
            <a:avLst>
              <a:gd name="adj1" fmla="val 59613"/>
              <a:gd name="adj2" fmla="val 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检查之前的指令结果</a:t>
            </a:r>
            <a:endParaRPr lang="en-US" altLang="zh-CN"/>
          </a:p>
          <a:p>
            <a:pPr algn="ctr"/>
            <a:r>
              <a:rPr lang="en-US" altLang="zh-CN"/>
              <a:t>+</a:t>
            </a:r>
            <a:r>
              <a:rPr lang="zh-CN" altLang="en-US"/>
              <a:t>解决该指令的</a:t>
            </a:r>
            <a:r>
              <a:rPr lang="en-US" altLang="zh-CN"/>
              <a:t>Warnig</a:t>
            </a:r>
            <a:r>
              <a:rPr lang="zh-CN" altLang="en-US"/>
              <a:t>和</a:t>
            </a:r>
            <a:r>
              <a:rPr lang="en-US" altLang="zh-CN"/>
              <a:t>Error</a:t>
            </a:r>
            <a:endParaRPr lang="zh-CN" altLang="en-US"/>
          </a:p>
        </p:txBody>
      </p:sp>
      <p:pic>
        <p:nvPicPr>
          <p:cNvPr id="5" name="图片 4">
            <a:extLst>
              <a:ext uri="{FF2B5EF4-FFF2-40B4-BE49-F238E27FC236}">
                <a16:creationId xmlns:a16="http://schemas.microsoft.com/office/drawing/2014/main" id="{CCE280E4-6B60-402F-84F4-A65C62529B1E}"/>
              </a:ext>
            </a:extLst>
          </p:cNvPr>
          <p:cNvPicPr>
            <a:picLocks noChangeAspect="1"/>
          </p:cNvPicPr>
          <p:nvPr/>
        </p:nvPicPr>
        <p:blipFill>
          <a:blip r:embed="rId2"/>
          <a:stretch>
            <a:fillRect/>
          </a:stretch>
        </p:blipFill>
        <p:spPr>
          <a:xfrm>
            <a:off x="7614973" y="5363499"/>
            <a:ext cx="1687958" cy="1419079"/>
          </a:xfrm>
          <a:prstGeom prst="rect">
            <a:avLst/>
          </a:prstGeom>
        </p:spPr>
      </p:pic>
      <p:pic>
        <p:nvPicPr>
          <p:cNvPr id="4" name="图片 3">
            <a:extLst>
              <a:ext uri="{FF2B5EF4-FFF2-40B4-BE49-F238E27FC236}">
                <a16:creationId xmlns:a16="http://schemas.microsoft.com/office/drawing/2014/main" id="{D51D2726-9BA0-D509-4D03-F4A43C6F730B}"/>
              </a:ext>
            </a:extLst>
          </p:cNvPr>
          <p:cNvPicPr>
            <a:picLocks noChangeAspect="1"/>
          </p:cNvPicPr>
          <p:nvPr/>
        </p:nvPicPr>
        <p:blipFill>
          <a:blip r:embed="rId3"/>
          <a:stretch>
            <a:fillRect/>
          </a:stretch>
        </p:blipFill>
        <p:spPr>
          <a:xfrm>
            <a:off x="1590842" y="2799461"/>
            <a:ext cx="4505158" cy="3723380"/>
          </a:xfrm>
          <a:prstGeom prst="rect">
            <a:avLst/>
          </a:prstGeom>
        </p:spPr>
      </p:pic>
    </p:spTree>
    <p:extLst>
      <p:ext uri="{BB962C8B-B14F-4D97-AF65-F5344CB8AC3E}">
        <p14:creationId xmlns:p14="http://schemas.microsoft.com/office/powerpoint/2010/main" val="326171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建图</a:t>
            </a:r>
          </a:p>
        </p:txBody>
      </p:sp>
      <p:sp>
        <p:nvSpPr>
          <p:cNvPr id="13" name="文本框 12">
            <a:extLst>
              <a:ext uri="{FF2B5EF4-FFF2-40B4-BE49-F238E27FC236}">
                <a16:creationId xmlns:a16="http://schemas.microsoft.com/office/drawing/2014/main" id="{0E152420-481E-4EE4-8037-9C3E0E0FB3F3}"/>
              </a:ext>
            </a:extLst>
          </p:cNvPr>
          <p:cNvSpPr txBox="1"/>
          <p:nvPr/>
        </p:nvSpPr>
        <p:spPr>
          <a:xfrm>
            <a:off x="8878" y="1324526"/>
            <a:ext cx="12183122" cy="1135054"/>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主机端启动键盘控制</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teleop</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命令</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roslaunch</a:t>
            </a:r>
            <a:r>
              <a:rPr lang="en-US" altLang="zh-CN" sz="2400" b="1" dirty="0">
                <a:latin typeface="微软雅黑" panose="020B0503020204020204" pitchFamily="34" charset="-122"/>
                <a:ea typeface="微软雅黑" panose="020B0503020204020204" pitchFamily="34" charset="-122"/>
              </a:rPr>
              <a:t> turtlebot3_teleop turtlebot3_teleop_key.launch</a:t>
            </a:r>
          </a:p>
        </p:txBody>
      </p:sp>
      <p:sp>
        <p:nvSpPr>
          <p:cNvPr id="7" name="箭头: 右 6">
            <a:extLst>
              <a:ext uri="{FF2B5EF4-FFF2-40B4-BE49-F238E27FC236}">
                <a16:creationId xmlns:a16="http://schemas.microsoft.com/office/drawing/2014/main" id="{4B1E7E01-B7C1-40FA-882D-A2A8DB664E21}"/>
              </a:ext>
            </a:extLst>
          </p:cNvPr>
          <p:cNvSpPr/>
          <p:nvPr/>
        </p:nvSpPr>
        <p:spPr>
          <a:xfrm flipH="1">
            <a:off x="5410367" y="3014920"/>
            <a:ext cx="2342705" cy="125022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a:t>正常结果</a:t>
            </a:r>
            <a:endParaRPr lang="en-US" altLang="zh-CN" sz="2000" dirty="0"/>
          </a:p>
          <a:p>
            <a:pPr algn="ctr"/>
            <a:r>
              <a:rPr lang="zh-CN" altLang="en-US" sz="2000" dirty="0"/>
              <a:t>无报错</a:t>
            </a:r>
          </a:p>
        </p:txBody>
      </p:sp>
      <p:sp>
        <p:nvSpPr>
          <p:cNvPr id="10" name="箭头: 右 9">
            <a:extLst>
              <a:ext uri="{FF2B5EF4-FFF2-40B4-BE49-F238E27FC236}">
                <a16:creationId xmlns:a16="http://schemas.microsoft.com/office/drawing/2014/main" id="{96BDCCA3-ED99-407A-8CBC-4FA1E69AAEC0}"/>
              </a:ext>
            </a:extLst>
          </p:cNvPr>
          <p:cNvSpPr/>
          <p:nvPr/>
        </p:nvSpPr>
        <p:spPr>
          <a:xfrm>
            <a:off x="5181601" y="3640031"/>
            <a:ext cx="7010399" cy="3322237"/>
          </a:xfrm>
          <a:prstGeom prst="rightArrow">
            <a:avLst>
              <a:gd name="adj1" fmla="val 59613"/>
              <a:gd name="adj2" fmla="val 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en-US" altLang="zh-CN" sz="2000" b="1" dirty="0"/>
              <a:t># </a:t>
            </a:r>
            <a:r>
              <a:rPr lang="zh-CN" altLang="en-US" sz="2000" b="1" dirty="0"/>
              <a:t>操作：操控机器人把实验场地都浏览一遍</a:t>
            </a:r>
          </a:p>
          <a:p>
            <a:r>
              <a:rPr lang="en-US" altLang="zh-CN" sz="2000" dirty="0"/>
              <a:t># 1</a:t>
            </a:r>
            <a:r>
              <a:rPr lang="zh-CN" altLang="en-US" sz="2000" dirty="0"/>
              <a:t>、扫描过程中需要注意</a:t>
            </a:r>
            <a:r>
              <a:rPr lang="zh-CN" altLang="en-US" sz="2000" b="1" dirty="0"/>
              <a:t>尽量不要使机器人与环境产生接触</a:t>
            </a:r>
            <a:r>
              <a:rPr lang="zh-CN" altLang="en-US" sz="2000" dirty="0"/>
              <a:t>。</a:t>
            </a:r>
          </a:p>
          <a:p>
            <a:r>
              <a:rPr lang="en-US" altLang="zh-CN" sz="2000" dirty="0"/>
              <a:t># 2</a:t>
            </a:r>
            <a:r>
              <a:rPr lang="zh-CN" altLang="en-US" sz="2000" dirty="0"/>
              <a:t>、</a:t>
            </a:r>
            <a:r>
              <a:rPr lang="zh-CN" altLang="en-US" sz="2000" b="1" dirty="0"/>
              <a:t>不要人为在机器人附近活动</a:t>
            </a:r>
            <a:r>
              <a:rPr lang="zh-CN" altLang="en-US" sz="2000" dirty="0"/>
              <a:t>。</a:t>
            </a:r>
          </a:p>
          <a:p>
            <a:r>
              <a:rPr lang="en-US" altLang="zh-CN" sz="2000" dirty="0"/>
              <a:t># 3</a:t>
            </a:r>
            <a:r>
              <a:rPr lang="zh-CN" altLang="en-US" sz="2000" dirty="0"/>
              <a:t>、不要将机器人</a:t>
            </a:r>
            <a:r>
              <a:rPr lang="zh-CN" altLang="en-US" sz="2000" b="1" dirty="0"/>
              <a:t>速度</a:t>
            </a:r>
            <a:r>
              <a:rPr lang="zh-CN" altLang="en-US" sz="2000" dirty="0"/>
              <a:t>提升到太快，太快的移动速递会导致环境探测信号量减少。</a:t>
            </a:r>
          </a:p>
          <a:p>
            <a:r>
              <a:rPr lang="en-US" altLang="zh-CN" sz="2000" dirty="0"/>
              <a:t># 4</a:t>
            </a:r>
            <a:r>
              <a:rPr lang="zh-CN" altLang="en-US" sz="2000" dirty="0"/>
              <a:t>、按照</a:t>
            </a:r>
            <a:r>
              <a:rPr lang="zh-CN" altLang="en-US" sz="2000" b="1" dirty="0"/>
              <a:t>规范操作</a:t>
            </a:r>
            <a:r>
              <a:rPr lang="zh-CN" altLang="en-US" sz="2000" dirty="0"/>
              <a:t>，以便得到正确的地形数据。</a:t>
            </a:r>
          </a:p>
        </p:txBody>
      </p:sp>
      <p:pic>
        <p:nvPicPr>
          <p:cNvPr id="4" name="图片 3">
            <a:extLst>
              <a:ext uri="{FF2B5EF4-FFF2-40B4-BE49-F238E27FC236}">
                <a16:creationId xmlns:a16="http://schemas.microsoft.com/office/drawing/2014/main" id="{94BBDC49-87CA-8670-9FCD-C1DAC0F177C8}"/>
              </a:ext>
            </a:extLst>
          </p:cNvPr>
          <p:cNvPicPr>
            <a:picLocks noChangeAspect="1"/>
          </p:cNvPicPr>
          <p:nvPr/>
        </p:nvPicPr>
        <p:blipFill>
          <a:blip r:embed="rId2"/>
          <a:stretch>
            <a:fillRect/>
          </a:stretch>
        </p:blipFill>
        <p:spPr>
          <a:xfrm>
            <a:off x="508615" y="3156882"/>
            <a:ext cx="4584498" cy="2575386"/>
          </a:xfrm>
          <a:prstGeom prst="rect">
            <a:avLst/>
          </a:prstGeom>
        </p:spPr>
      </p:pic>
    </p:spTree>
    <p:extLst>
      <p:ext uri="{BB962C8B-B14F-4D97-AF65-F5344CB8AC3E}">
        <p14:creationId xmlns:p14="http://schemas.microsoft.com/office/powerpoint/2010/main" val="263084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fade">
                                      <p:cBhvr>
                                        <p:cTn id="21" dur="250"/>
                                        <p:tgtEl>
                                          <p:spTgt spid="10">
                                            <p:txEl>
                                              <p:pRg st="1" end="1"/>
                                            </p:txEl>
                                          </p:spTgt>
                                        </p:tgtEl>
                                      </p:cBhvr>
                                    </p:animEffect>
                                    <p:anim calcmode="lin" valueType="num">
                                      <p:cBhvr>
                                        <p:cTn id="22" dur="25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3" dur="25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250"/>
                                        <p:tgtEl>
                                          <p:spTgt spid="10">
                                            <p:txEl>
                                              <p:pRg st="2" end="2"/>
                                            </p:txEl>
                                          </p:spTgt>
                                        </p:tgtEl>
                                      </p:cBhvr>
                                    </p:animEffect>
                                    <p:anim calcmode="lin" valueType="num">
                                      <p:cBhvr>
                                        <p:cTn id="29" dur="25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25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Effect transition="in" filter="fade">
                                      <p:cBhvr>
                                        <p:cTn id="35" dur="250"/>
                                        <p:tgtEl>
                                          <p:spTgt spid="10">
                                            <p:txEl>
                                              <p:pRg st="3" end="3"/>
                                            </p:txEl>
                                          </p:spTgt>
                                        </p:tgtEl>
                                      </p:cBhvr>
                                    </p:animEffect>
                                    <p:anim calcmode="lin" valueType="num">
                                      <p:cBhvr>
                                        <p:cTn id="36" dur="25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7" dur="25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Effect transition="in" filter="fade">
                                      <p:cBhvr>
                                        <p:cTn id="42" dur="250"/>
                                        <p:tgtEl>
                                          <p:spTgt spid="10">
                                            <p:txEl>
                                              <p:pRg st="4" end="4"/>
                                            </p:txEl>
                                          </p:spTgt>
                                        </p:tgtEl>
                                      </p:cBhvr>
                                    </p:animEffect>
                                    <p:anim calcmode="lin" valueType="num">
                                      <p:cBhvr>
                                        <p:cTn id="43" dur="25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4" dur="25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——SLAM</a:t>
            </a:r>
            <a:r>
              <a:rPr lang="zh-CN" altLang="en-US" sz="2400">
                <a:latin typeface="微软雅黑" panose="020B0503020204020204" pitchFamily="34" charset="-122"/>
                <a:ea typeface="微软雅黑" panose="020B0503020204020204" pitchFamily="34" charset="-122"/>
              </a:rPr>
              <a:t>保存地图</a:t>
            </a:r>
          </a:p>
        </p:txBody>
      </p:sp>
      <p:sp>
        <p:nvSpPr>
          <p:cNvPr id="13" name="文本框 12">
            <a:extLst>
              <a:ext uri="{FF2B5EF4-FFF2-40B4-BE49-F238E27FC236}">
                <a16:creationId xmlns:a16="http://schemas.microsoft.com/office/drawing/2014/main" id="{0E152420-481E-4EE4-8037-9C3E0E0FB3F3}"/>
              </a:ext>
            </a:extLst>
          </p:cNvPr>
          <p:cNvSpPr txBox="1"/>
          <p:nvPr/>
        </p:nvSpPr>
        <p:spPr>
          <a:xfrm>
            <a:off x="8878" y="1324526"/>
            <a:ext cx="12183122" cy="2243050"/>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保存</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SLAM</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地图至</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~/map</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。将生成</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map.pgm</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map.yaml</a:t>
            </a: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两个文件。</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rosrun</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map_server</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map_saver</a:t>
            </a:r>
            <a:r>
              <a:rPr lang="en-US" altLang="zh-CN" sz="2400" b="1" dirty="0">
                <a:latin typeface="微软雅黑" panose="020B0503020204020204" pitchFamily="34" charset="-122"/>
                <a:ea typeface="微软雅黑" panose="020B0503020204020204" pitchFamily="34" charset="-122"/>
              </a:rPr>
              <a:t> -f ~/map</a:t>
            </a:r>
          </a:p>
          <a:p>
            <a:pPr indent="457200">
              <a:lnSpc>
                <a:spcPct val="150000"/>
              </a:lnSpc>
            </a:pPr>
            <a:r>
              <a:rPr lang="zh-CN" altLang="en-US" sz="2400" dirty="0">
                <a:latin typeface="微软雅黑" panose="020B0503020204020204" pitchFamily="34" charset="-122"/>
                <a:ea typeface="微软雅黑" panose="020B0503020204020204" pitchFamily="34" charset="-122"/>
              </a:rPr>
              <a:t>如果报错命令找不到，或者命令出错，试试：</a:t>
            </a:r>
          </a:p>
          <a:p>
            <a:pPr indent="457200">
              <a:lnSpc>
                <a:spcPct val="150000"/>
              </a:lnSpc>
            </a:pPr>
            <a:r>
              <a:rPr lang="en-US" altLang="zh-CN" sz="2400" b="1" dirty="0" err="1">
                <a:latin typeface="微软雅黑" panose="020B0503020204020204" pitchFamily="34" charset="-122"/>
                <a:ea typeface="微软雅黑" panose="020B0503020204020204" pitchFamily="34" charset="-122"/>
              </a:rPr>
              <a:t>sudo</a:t>
            </a:r>
            <a:r>
              <a:rPr lang="en-US" altLang="zh-CN" sz="2400" b="1" dirty="0">
                <a:latin typeface="微软雅黑" panose="020B0503020204020204" pitchFamily="34" charset="-122"/>
                <a:ea typeface="微软雅黑" panose="020B0503020204020204" pitchFamily="34" charset="-122"/>
              </a:rPr>
              <a:t> apt-get install </a:t>
            </a:r>
            <a:r>
              <a:rPr lang="en-US" altLang="zh-CN" sz="2400" b="1" dirty="0" err="1">
                <a:latin typeface="微软雅黑" panose="020B0503020204020204" pitchFamily="34" charset="-122"/>
                <a:ea typeface="微软雅黑" panose="020B0503020204020204" pitchFamily="34" charset="-122"/>
              </a:rPr>
              <a:t>ros</a:t>
            </a:r>
            <a:r>
              <a:rPr lang="en-US" altLang="zh-CN" sz="2400" b="1" dirty="0">
                <a:latin typeface="微软雅黑" panose="020B0503020204020204" pitchFamily="34" charset="-122"/>
                <a:ea typeface="微软雅黑" panose="020B0503020204020204" pitchFamily="34" charset="-122"/>
              </a:rPr>
              <a:t>-noetic-map-server</a:t>
            </a:r>
          </a:p>
        </p:txBody>
      </p:sp>
      <p:sp>
        <p:nvSpPr>
          <p:cNvPr id="7" name="箭头: 右 6">
            <a:extLst>
              <a:ext uri="{FF2B5EF4-FFF2-40B4-BE49-F238E27FC236}">
                <a16:creationId xmlns:a16="http://schemas.microsoft.com/office/drawing/2014/main" id="{4B1E7E01-B7C1-40FA-882D-A2A8DB664E21}"/>
              </a:ext>
            </a:extLst>
          </p:cNvPr>
          <p:cNvSpPr/>
          <p:nvPr/>
        </p:nvSpPr>
        <p:spPr>
          <a:xfrm flipH="1">
            <a:off x="9348537" y="4283253"/>
            <a:ext cx="2342705" cy="125022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a:t>正常结果</a:t>
            </a:r>
            <a:endParaRPr lang="en-US" altLang="zh-CN" sz="2000"/>
          </a:p>
          <a:p>
            <a:pPr algn="ctr"/>
            <a:r>
              <a:rPr lang="zh-CN" altLang="en-US" sz="2000"/>
              <a:t>无报错</a:t>
            </a:r>
          </a:p>
        </p:txBody>
      </p:sp>
      <p:pic>
        <p:nvPicPr>
          <p:cNvPr id="3" name="图片 2">
            <a:extLst>
              <a:ext uri="{FF2B5EF4-FFF2-40B4-BE49-F238E27FC236}">
                <a16:creationId xmlns:a16="http://schemas.microsoft.com/office/drawing/2014/main" id="{C17C0E3C-72AA-4EBE-7948-362F481D22E6}"/>
              </a:ext>
            </a:extLst>
          </p:cNvPr>
          <p:cNvPicPr>
            <a:picLocks noChangeAspect="1"/>
          </p:cNvPicPr>
          <p:nvPr/>
        </p:nvPicPr>
        <p:blipFill>
          <a:blip r:embed="rId2"/>
          <a:stretch>
            <a:fillRect/>
          </a:stretch>
        </p:blipFill>
        <p:spPr>
          <a:xfrm>
            <a:off x="266605" y="4283253"/>
            <a:ext cx="9001220" cy="1438338"/>
          </a:xfrm>
          <a:prstGeom prst="rect">
            <a:avLst/>
          </a:prstGeom>
        </p:spPr>
      </p:pic>
    </p:spTree>
    <p:extLst>
      <p:ext uri="{BB962C8B-B14F-4D97-AF65-F5344CB8AC3E}">
        <p14:creationId xmlns:p14="http://schemas.microsoft.com/office/powerpoint/2010/main" val="357127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2" end="2"/>
                                            </p:txEl>
                                          </p:spTgt>
                                        </p:tgtEl>
                                        <p:attrNameLst>
                                          <p:attrName>style.visibility</p:attrName>
                                        </p:attrNameLst>
                                      </p:cBhvr>
                                      <p:to>
                                        <p:strVal val="visible"/>
                                      </p:to>
                                    </p:set>
                                    <p:animEffect transition="in" filter="fade">
                                      <p:cBhvr>
                                        <p:cTn id="14" dur="500"/>
                                        <p:tgtEl>
                                          <p:spTgt spid="13">
                                            <p:txEl>
                                              <p:pRg st="2" end="2"/>
                                            </p:txEl>
                                          </p:spTgt>
                                        </p:tgtEl>
                                      </p:cBhvr>
                                    </p:animEffect>
                                    <p:anim calcmode="lin" valueType="num">
                                      <p:cBhvr>
                                        <p:cTn id="15"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1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animEffect transition="in" filter="fade">
                                      <p:cBhvr>
                                        <p:cTn id="19" dur="500"/>
                                        <p:tgtEl>
                                          <p:spTgt spid="13">
                                            <p:txEl>
                                              <p:pRg st="3" end="3"/>
                                            </p:txEl>
                                          </p:spTgt>
                                        </p:tgtEl>
                                      </p:cBhvr>
                                    </p:animEffect>
                                    <p:anim calcmode="lin" valueType="num">
                                      <p:cBhvr>
                                        <p:cTn id="20"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1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读取保存的地图文件，并实现导航</a:t>
            </a:r>
          </a:p>
        </p:txBody>
      </p:sp>
      <p:sp>
        <p:nvSpPr>
          <p:cNvPr id="14" name="文本框 13">
            <a:extLst>
              <a:ext uri="{FF2B5EF4-FFF2-40B4-BE49-F238E27FC236}">
                <a16:creationId xmlns:a16="http://schemas.microsoft.com/office/drawing/2014/main" id="{D84BA40E-84B8-414C-9864-631C2E39CEF9}"/>
              </a:ext>
            </a:extLst>
          </p:cNvPr>
          <p:cNvSpPr txBox="1"/>
          <p:nvPr/>
        </p:nvSpPr>
        <p:spPr>
          <a:xfrm>
            <a:off x="8878" y="1307140"/>
            <a:ext cx="12183122" cy="1689052"/>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读取测量好的地图数据</a:t>
            </a:r>
            <a:r>
              <a:rPr lang="en-US" altLang="zh-CN" sz="2400" b="1" dirty="0">
                <a:solidFill>
                  <a:schemeClr val="accent1">
                    <a:lumMod val="75000"/>
                  </a:schemeClr>
                </a:solidFill>
                <a:latin typeface="微软雅黑" panose="020B0503020204020204" pitchFamily="34" charset="-122"/>
                <a:ea typeface="微软雅黑" panose="020B0503020204020204" pitchFamily="34" charset="-122"/>
              </a:rPr>
              <a:t>~/</a:t>
            </a:r>
            <a:r>
              <a:rPr lang="en-US" altLang="zh-CN" sz="2400" b="1" dirty="0" err="1">
                <a:solidFill>
                  <a:schemeClr val="accent1">
                    <a:lumMod val="75000"/>
                  </a:schemeClr>
                </a:solidFill>
                <a:latin typeface="微软雅黑" panose="020B0503020204020204" pitchFamily="34" charset="-122"/>
                <a:ea typeface="微软雅黑" panose="020B0503020204020204" pitchFamily="34" charset="-122"/>
              </a:rPr>
              <a:t>map.yaml</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dirty="0" err="1">
                <a:latin typeface="微软雅黑" panose="020B0503020204020204" pitchFamily="34" charset="-122"/>
                <a:ea typeface="微软雅黑" panose="020B0503020204020204" pitchFamily="34" charset="-122"/>
              </a:rPr>
              <a:t>roslaunch</a:t>
            </a:r>
            <a:r>
              <a:rPr lang="en-US" altLang="zh-CN" sz="2400" b="1" dirty="0">
                <a:latin typeface="微软雅黑" panose="020B0503020204020204" pitchFamily="34" charset="-122"/>
                <a:ea typeface="微软雅黑" panose="020B0503020204020204" pitchFamily="34" charset="-122"/>
              </a:rPr>
              <a:t> turtlebot3_navigation turtlebot3_navigation.launch </a:t>
            </a:r>
            <a:r>
              <a:rPr lang="en-US" altLang="zh-CN" sz="2400" b="1" dirty="0" err="1">
                <a:latin typeface="微软雅黑" panose="020B0503020204020204" pitchFamily="34" charset="-122"/>
                <a:ea typeface="微软雅黑" panose="020B0503020204020204" pitchFamily="34" charset="-122"/>
              </a:rPr>
              <a:t>map_file</a:t>
            </a:r>
            <a:r>
              <a:rPr lang="en-US" altLang="zh-CN" sz="2400" b="1" dirty="0">
                <a:latin typeface="微软雅黑" panose="020B0503020204020204" pitchFamily="34" charset="-122"/>
                <a:ea typeface="微软雅黑" panose="020B0503020204020204" pitchFamily="34" charset="-122"/>
              </a:rPr>
              <a:t>:=$HOME/</a:t>
            </a:r>
            <a:r>
              <a:rPr lang="en-US" altLang="zh-CN" sz="2400" b="1" dirty="0" err="1">
                <a:latin typeface="微软雅黑" panose="020B0503020204020204" pitchFamily="34" charset="-122"/>
                <a:ea typeface="微软雅黑" panose="020B0503020204020204" pitchFamily="34" charset="-122"/>
              </a:rPr>
              <a:t>map.yaml</a:t>
            </a:r>
            <a:endParaRPr lang="zh-CN" altLang="en-US" sz="2400" b="1" dirty="0">
              <a:latin typeface="微软雅黑" panose="020B0503020204020204" pitchFamily="34" charset="-122"/>
              <a:ea typeface="微软雅黑" panose="020B0503020204020204" pitchFamily="34" charset="-122"/>
            </a:endParaRPr>
          </a:p>
        </p:txBody>
      </p:sp>
      <p:sp>
        <p:nvSpPr>
          <p:cNvPr id="11" name="箭头: 右 10">
            <a:extLst>
              <a:ext uri="{FF2B5EF4-FFF2-40B4-BE49-F238E27FC236}">
                <a16:creationId xmlns:a16="http://schemas.microsoft.com/office/drawing/2014/main" id="{6AD606D8-0258-45E1-B6A2-96C15B6CA76F}"/>
              </a:ext>
            </a:extLst>
          </p:cNvPr>
          <p:cNvSpPr/>
          <p:nvPr/>
        </p:nvSpPr>
        <p:spPr>
          <a:xfrm flipH="1">
            <a:off x="6095999" y="3212760"/>
            <a:ext cx="3192379" cy="125022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a:t>正常结果</a:t>
            </a:r>
            <a:endParaRPr lang="en-US" altLang="zh-CN" sz="2000"/>
          </a:p>
          <a:p>
            <a:pPr algn="ctr"/>
            <a:r>
              <a:rPr lang="zh-CN" altLang="en-US" sz="2000"/>
              <a:t>出现小车和地图信息</a:t>
            </a:r>
          </a:p>
        </p:txBody>
      </p:sp>
      <p:sp>
        <p:nvSpPr>
          <p:cNvPr id="12" name="箭头: 右 11">
            <a:extLst>
              <a:ext uri="{FF2B5EF4-FFF2-40B4-BE49-F238E27FC236}">
                <a16:creationId xmlns:a16="http://schemas.microsoft.com/office/drawing/2014/main" id="{652C4196-BA12-4780-B5E1-A181495FA06A}"/>
              </a:ext>
            </a:extLst>
          </p:cNvPr>
          <p:cNvSpPr/>
          <p:nvPr/>
        </p:nvSpPr>
        <p:spPr>
          <a:xfrm>
            <a:off x="6096000" y="4708231"/>
            <a:ext cx="6096000" cy="1250221"/>
          </a:xfrm>
          <a:prstGeom prst="rightArrow">
            <a:avLst>
              <a:gd name="adj1" fmla="val 100000"/>
              <a:gd name="adj2" fmla="val 1882"/>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indent="457200">
              <a:lnSpc>
                <a:spcPct val="150000"/>
              </a:lnSpc>
            </a:pPr>
            <a:r>
              <a:rPr lang="zh-CN" altLang="en-US" sz="2000">
                <a:latin typeface="微软雅黑" panose="020B0503020204020204" pitchFamily="34" charset="-122"/>
                <a:ea typeface="微软雅黑" panose="020B0503020204020204" pitchFamily="34" charset="-122"/>
              </a:rPr>
              <a:t>如果报错命令找不到，或者命令出错，试试：</a:t>
            </a:r>
          </a:p>
          <a:p>
            <a:pPr indent="457200">
              <a:lnSpc>
                <a:spcPct val="150000"/>
              </a:lnSpc>
            </a:pPr>
            <a:r>
              <a:rPr lang="en-US" altLang="zh-CN" sz="2000" b="1">
                <a:latin typeface="微软雅黑" panose="020B0503020204020204" pitchFamily="34" charset="-122"/>
                <a:ea typeface="微软雅黑" panose="020B0503020204020204" pitchFamily="34" charset="-122"/>
              </a:rPr>
              <a:t>sudo apt-get install ros-noetic-navigation </a:t>
            </a:r>
          </a:p>
        </p:txBody>
      </p:sp>
      <p:pic>
        <p:nvPicPr>
          <p:cNvPr id="4" name="图片 3">
            <a:extLst>
              <a:ext uri="{FF2B5EF4-FFF2-40B4-BE49-F238E27FC236}">
                <a16:creationId xmlns:a16="http://schemas.microsoft.com/office/drawing/2014/main" id="{7634FEBE-5459-2D4E-86DB-392441BFCA95}"/>
              </a:ext>
            </a:extLst>
          </p:cNvPr>
          <p:cNvPicPr>
            <a:picLocks noChangeAspect="1"/>
          </p:cNvPicPr>
          <p:nvPr/>
        </p:nvPicPr>
        <p:blipFill>
          <a:blip r:embed="rId2"/>
          <a:stretch>
            <a:fillRect/>
          </a:stretch>
        </p:blipFill>
        <p:spPr>
          <a:xfrm>
            <a:off x="1009829" y="3212760"/>
            <a:ext cx="4233650" cy="3546665"/>
          </a:xfrm>
          <a:prstGeom prst="rect">
            <a:avLst/>
          </a:prstGeom>
        </p:spPr>
      </p:pic>
      <p:sp>
        <p:nvSpPr>
          <p:cNvPr id="6" name="箭头: 右 5">
            <a:extLst>
              <a:ext uri="{FF2B5EF4-FFF2-40B4-BE49-F238E27FC236}">
                <a16:creationId xmlns:a16="http://schemas.microsoft.com/office/drawing/2014/main" id="{419466E7-56EC-991E-D510-B3174D78E6F1}"/>
              </a:ext>
            </a:extLst>
          </p:cNvPr>
          <p:cNvSpPr/>
          <p:nvPr/>
        </p:nvSpPr>
        <p:spPr>
          <a:xfrm flipH="1">
            <a:off x="3998146" y="4823756"/>
            <a:ext cx="1742640" cy="509585"/>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a:t>小车的位置</a:t>
            </a:r>
          </a:p>
        </p:txBody>
      </p:sp>
      <p:sp>
        <p:nvSpPr>
          <p:cNvPr id="8" name="椭圆 7">
            <a:extLst>
              <a:ext uri="{FF2B5EF4-FFF2-40B4-BE49-F238E27FC236}">
                <a16:creationId xmlns:a16="http://schemas.microsoft.com/office/drawing/2014/main" id="{58803ACF-C5F9-BBB8-9703-AFF4386C3411}"/>
              </a:ext>
            </a:extLst>
          </p:cNvPr>
          <p:cNvSpPr/>
          <p:nvPr/>
        </p:nvSpPr>
        <p:spPr>
          <a:xfrm>
            <a:off x="3642932" y="4944074"/>
            <a:ext cx="262318" cy="199426"/>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433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anim calcmode="lin" valueType="num">
                                      <p:cBhvr>
                                        <p:cTn id="15" dur="500" fill="hold"/>
                                        <p:tgtEl>
                                          <p:spTgt spid="12"/>
                                        </p:tgtEl>
                                        <p:attrNameLst>
                                          <p:attrName>ppt_x</p:attrName>
                                        </p:attrNameLst>
                                      </p:cBhvr>
                                      <p:tavLst>
                                        <p:tav tm="0">
                                          <p:val>
                                            <p:strVal val="#ppt_x"/>
                                          </p:val>
                                        </p:tav>
                                        <p:tav tm="100000">
                                          <p:val>
                                            <p:strVal val="#ppt_x"/>
                                          </p:val>
                                        </p:tav>
                                      </p:tavLst>
                                    </p:anim>
                                    <p:anim calcmode="lin" valueType="num">
                                      <p:cBhvr>
                                        <p:cTn id="1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读取保存的地图文件，并实现导航</a:t>
            </a:r>
          </a:p>
        </p:txBody>
      </p:sp>
      <p:sp>
        <p:nvSpPr>
          <p:cNvPr id="14" name="文本框 13">
            <a:extLst>
              <a:ext uri="{FF2B5EF4-FFF2-40B4-BE49-F238E27FC236}">
                <a16:creationId xmlns:a16="http://schemas.microsoft.com/office/drawing/2014/main" id="{D84BA40E-84B8-414C-9864-631C2E39CEF9}"/>
              </a:ext>
            </a:extLst>
          </p:cNvPr>
          <p:cNvSpPr txBox="1"/>
          <p:nvPr/>
        </p:nvSpPr>
        <p:spPr>
          <a:xfrm>
            <a:off x="0" y="1319452"/>
            <a:ext cx="12183122" cy="4459041"/>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solidFill>
                  <a:schemeClr val="accent1">
                    <a:lumMod val="75000"/>
                  </a:schemeClr>
                </a:solidFill>
                <a:latin typeface="微软雅黑" panose="020B0503020204020204" pitchFamily="34" charset="-122"/>
                <a:ea typeface="微软雅黑" panose="020B0503020204020204" pitchFamily="34" charset="-122"/>
              </a:rPr>
              <a:t>导航功能的使用</a:t>
            </a:r>
            <a:endParaRPr lang="en-US" altLang="zh-CN"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a:latin typeface="微软雅黑" panose="020B0503020204020204" pitchFamily="34" charset="-122"/>
                <a:ea typeface="微软雅黑" panose="020B0503020204020204" pitchFamily="34" charset="-122"/>
              </a:rPr>
              <a:t>操作：确定机器人相对于地图所处的位置和初始姿态：</a:t>
            </a: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点击工具栏</a:t>
            </a:r>
            <a:r>
              <a:rPr lang="en-US" altLang="zh-CN" sz="2400" b="1">
                <a:solidFill>
                  <a:srgbClr val="2AB150"/>
                </a:solidFill>
                <a:latin typeface="微软雅黑" panose="020B0503020204020204" pitchFamily="34" charset="-122"/>
                <a:ea typeface="微软雅黑" panose="020B0503020204020204" pitchFamily="34" charset="-122"/>
              </a:rPr>
              <a:t>2D Pose Estimate</a:t>
            </a:r>
            <a:r>
              <a:rPr lang="zh-CN" altLang="en-US" sz="2400" b="1">
                <a:solidFill>
                  <a:srgbClr val="2AB150"/>
                </a:solidFill>
                <a:latin typeface="微软雅黑" panose="020B0503020204020204" pitchFamily="34" charset="-122"/>
                <a:ea typeface="微软雅黑" panose="020B0503020204020204" pitchFamily="34" charset="-122"/>
              </a:rPr>
              <a:t>按键</a:t>
            </a:r>
            <a:r>
              <a:rPr lang="zh-CN" altLang="en-US" sz="2400">
                <a:latin typeface="微软雅黑" panose="020B0503020204020204" pitchFamily="34" charset="-122"/>
                <a:ea typeface="微软雅黑" panose="020B0503020204020204" pitchFamily="34" charset="-122"/>
              </a:rPr>
              <a:t>。</a:t>
            </a: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在地图上点击机器人相对于环境的正确位置并拖动箭头以确定机器人的姿态，可以通过多次调整确定最合适的初始位置设定。</a:t>
            </a:r>
          </a:p>
          <a:p>
            <a:pPr indent="457200">
              <a:lnSpc>
                <a:spcPct val="150000"/>
              </a:lnSpc>
            </a:pPr>
            <a:r>
              <a:rPr lang="zh-CN" altLang="en-US" sz="2400" b="1">
                <a:latin typeface="微软雅黑" panose="020B0503020204020204" pitchFamily="34" charset="-122"/>
                <a:ea typeface="微软雅黑" panose="020B0503020204020204" pitchFamily="34" charset="-122"/>
              </a:rPr>
              <a:t>操作：设定目标位置和目标姿态，设定方法如下：</a:t>
            </a: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点击工具栏</a:t>
            </a:r>
            <a:r>
              <a:rPr lang="en-US" altLang="zh-CN" sz="2400" b="1">
                <a:solidFill>
                  <a:srgbClr val="D446B3"/>
                </a:solidFill>
                <a:latin typeface="微软雅黑" panose="020B0503020204020204" pitchFamily="34" charset="-122"/>
                <a:ea typeface="微软雅黑" panose="020B0503020204020204" pitchFamily="34" charset="-122"/>
              </a:rPr>
              <a:t>2D Nav Goal</a:t>
            </a:r>
            <a:r>
              <a:rPr lang="zh-CN" altLang="en-US" sz="2400" b="1">
                <a:solidFill>
                  <a:srgbClr val="D446B3"/>
                </a:solidFill>
                <a:latin typeface="微软雅黑" panose="020B0503020204020204" pitchFamily="34" charset="-122"/>
                <a:ea typeface="微软雅黑" panose="020B0503020204020204" pitchFamily="34" charset="-122"/>
              </a:rPr>
              <a:t>按键</a:t>
            </a:r>
            <a:r>
              <a:rPr lang="zh-CN" altLang="en-US" sz="2400">
                <a:latin typeface="微软雅黑" panose="020B0503020204020204" pitchFamily="34" charset="-122"/>
                <a:ea typeface="微软雅黑" panose="020B0503020204020204" pitchFamily="34" charset="-122"/>
              </a:rPr>
              <a:t>。</a:t>
            </a: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点击一个确定的点并拖动箭头以设定目标位置和机器人最后停止的方向。</a:t>
            </a:r>
          </a:p>
        </p:txBody>
      </p:sp>
      <p:pic>
        <p:nvPicPr>
          <p:cNvPr id="4" name="图片 3">
            <a:extLst>
              <a:ext uri="{FF2B5EF4-FFF2-40B4-BE49-F238E27FC236}">
                <a16:creationId xmlns:a16="http://schemas.microsoft.com/office/drawing/2014/main" id="{DC4FB94B-C4EC-4324-8D55-44FAE0038B58}"/>
              </a:ext>
            </a:extLst>
          </p:cNvPr>
          <p:cNvPicPr>
            <a:picLocks noChangeAspect="1"/>
          </p:cNvPicPr>
          <p:nvPr/>
        </p:nvPicPr>
        <p:blipFill rotWithShape="1">
          <a:blip r:embed="rId2"/>
          <a:srcRect t="19533" b="19720"/>
          <a:stretch/>
        </p:blipFill>
        <p:spPr>
          <a:xfrm>
            <a:off x="2775936" y="1415428"/>
            <a:ext cx="4579164" cy="509629"/>
          </a:xfrm>
          <a:prstGeom prst="rect">
            <a:avLst/>
          </a:prstGeom>
        </p:spPr>
      </p:pic>
      <p:pic>
        <p:nvPicPr>
          <p:cNvPr id="6" name="图片 5">
            <a:extLst>
              <a:ext uri="{FF2B5EF4-FFF2-40B4-BE49-F238E27FC236}">
                <a16:creationId xmlns:a16="http://schemas.microsoft.com/office/drawing/2014/main" id="{2D2B74D2-36C8-4687-8B26-BDF75B5CF370}"/>
              </a:ext>
            </a:extLst>
          </p:cNvPr>
          <p:cNvPicPr>
            <a:picLocks noChangeAspect="1"/>
          </p:cNvPicPr>
          <p:nvPr/>
        </p:nvPicPr>
        <p:blipFill>
          <a:blip r:embed="rId3"/>
          <a:stretch>
            <a:fillRect/>
          </a:stretch>
        </p:blipFill>
        <p:spPr>
          <a:xfrm>
            <a:off x="9721962" y="1307140"/>
            <a:ext cx="2052086" cy="1726514"/>
          </a:xfrm>
          <a:prstGeom prst="rect">
            <a:avLst/>
          </a:prstGeom>
        </p:spPr>
      </p:pic>
      <p:pic>
        <p:nvPicPr>
          <p:cNvPr id="8" name="图片 7">
            <a:extLst>
              <a:ext uri="{FF2B5EF4-FFF2-40B4-BE49-F238E27FC236}">
                <a16:creationId xmlns:a16="http://schemas.microsoft.com/office/drawing/2014/main" id="{1064C3D8-6A3B-4E72-9DC0-500DE12C0422}"/>
              </a:ext>
            </a:extLst>
          </p:cNvPr>
          <p:cNvPicPr>
            <a:picLocks noChangeAspect="1"/>
          </p:cNvPicPr>
          <p:nvPr/>
        </p:nvPicPr>
        <p:blipFill>
          <a:blip r:embed="rId4"/>
          <a:stretch>
            <a:fillRect/>
          </a:stretch>
        </p:blipFill>
        <p:spPr>
          <a:xfrm>
            <a:off x="9721962" y="3548972"/>
            <a:ext cx="2052085" cy="1828729"/>
          </a:xfrm>
          <a:prstGeom prst="rect">
            <a:avLst/>
          </a:prstGeom>
        </p:spPr>
      </p:pic>
    </p:spTree>
    <p:extLst>
      <p:ext uri="{BB962C8B-B14F-4D97-AF65-F5344CB8AC3E}">
        <p14:creationId xmlns:p14="http://schemas.microsoft.com/office/powerpoint/2010/main" val="346664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anim calcmode="lin" valueType="num">
                                      <p:cBhvr>
                                        <p:cTn id="8"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animEffect transition="in" filter="fade">
                                      <p:cBhvr>
                                        <p:cTn id="19" dur="500"/>
                                        <p:tgtEl>
                                          <p:spTgt spid="14">
                                            <p:txEl>
                                              <p:pRg st="1" end="1"/>
                                            </p:txEl>
                                          </p:spTgt>
                                        </p:tgtEl>
                                      </p:cBhvr>
                                    </p:animEffect>
                                    <p:anim calcmode="lin" valueType="num">
                                      <p:cBhvr>
                                        <p:cTn id="20"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14">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4">
                                            <p:txEl>
                                              <p:pRg st="2" end="2"/>
                                            </p:txEl>
                                          </p:spTgt>
                                        </p:tgtEl>
                                        <p:attrNameLst>
                                          <p:attrName>style.visibility</p:attrName>
                                        </p:attrNameLst>
                                      </p:cBhvr>
                                      <p:to>
                                        <p:strVal val="visible"/>
                                      </p:to>
                                    </p:set>
                                    <p:animEffect transition="in" filter="fade">
                                      <p:cBhvr>
                                        <p:cTn id="24" dur="500"/>
                                        <p:tgtEl>
                                          <p:spTgt spid="14">
                                            <p:txEl>
                                              <p:pRg st="2" end="2"/>
                                            </p:txEl>
                                          </p:spTgt>
                                        </p:tgtEl>
                                      </p:cBhvr>
                                    </p:animEffect>
                                    <p:anim calcmode="lin" valueType="num">
                                      <p:cBhvr>
                                        <p:cTn id="25"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14">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4">
                                            <p:txEl>
                                              <p:pRg st="3" end="3"/>
                                            </p:txEl>
                                          </p:spTgt>
                                        </p:tgtEl>
                                        <p:attrNameLst>
                                          <p:attrName>style.visibility</p:attrName>
                                        </p:attrNameLst>
                                      </p:cBhvr>
                                      <p:to>
                                        <p:strVal val="visible"/>
                                      </p:to>
                                    </p:set>
                                    <p:animEffect transition="in" filter="fade">
                                      <p:cBhvr>
                                        <p:cTn id="29" dur="500"/>
                                        <p:tgtEl>
                                          <p:spTgt spid="14">
                                            <p:txEl>
                                              <p:pRg st="3" end="3"/>
                                            </p:txEl>
                                          </p:spTgt>
                                        </p:tgtEl>
                                      </p:cBhvr>
                                    </p:animEffect>
                                    <p:anim calcmode="lin" valueType="num">
                                      <p:cBhvr>
                                        <p:cTn id="30"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14">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anim calcmode="lin" valueType="num">
                                      <p:cBhvr>
                                        <p:cTn id="35" dur="500" fill="hold"/>
                                        <p:tgtEl>
                                          <p:spTgt spid="6"/>
                                        </p:tgtEl>
                                        <p:attrNameLst>
                                          <p:attrName>ppt_x</p:attrName>
                                        </p:attrNameLst>
                                      </p:cBhvr>
                                      <p:tavLst>
                                        <p:tav tm="0">
                                          <p:val>
                                            <p:strVal val="#ppt_x"/>
                                          </p:val>
                                        </p:tav>
                                        <p:tav tm="100000">
                                          <p:val>
                                            <p:strVal val="#ppt_x"/>
                                          </p:val>
                                        </p:tav>
                                      </p:tavLst>
                                    </p:anim>
                                    <p:anim calcmode="lin" valueType="num">
                                      <p:cBhvr>
                                        <p:cTn id="3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4">
                                            <p:txEl>
                                              <p:pRg st="4" end="4"/>
                                            </p:txEl>
                                          </p:spTgt>
                                        </p:tgtEl>
                                        <p:attrNameLst>
                                          <p:attrName>style.visibility</p:attrName>
                                        </p:attrNameLst>
                                      </p:cBhvr>
                                      <p:to>
                                        <p:strVal val="visible"/>
                                      </p:to>
                                    </p:set>
                                    <p:animEffect transition="in" filter="fade">
                                      <p:cBhvr>
                                        <p:cTn id="41" dur="500"/>
                                        <p:tgtEl>
                                          <p:spTgt spid="14">
                                            <p:txEl>
                                              <p:pRg st="4" end="4"/>
                                            </p:txEl>
                                          </p:spTgt>
                                        </p:tgtEl>
                                      </p:cBhvr>
                                    </p:animEffect>
                                    <p:anim calcmode="lin" valueType="num">
                                      <p:cBhvr>
                                        <p:cTn id="42"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43" dur="500" fill="hold"/>
                                        <p:tgtEl>
                                          <p:spTgt spid="14">
                                            <p:txEl>
                                              <p:pRg st="4" end="4"/>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4">
                                            <p:txEl>
                                              <p:pRg st="5" end="5"/>
                                            </p:txEl>
                                          </p:spTgt>
                                        </p:tgtEl>
                                        <p:attrNameLst>
                                          <p:attrName>style.visibility</p:attrName>
                                        </p:attrNameLst>
                                      </p:cBhvr>
                                      <p:to>
                                        <p:strVal val="visible"/>
                                      </p:to>
                                    </p:set>
                                    <p:animEffect transition="in" filter="fade">
                                      <p:cBhvr>
                                        <p:cTn id="46" dur="500"/>
                                        <p:tgtEl>
                                          <p:spTgt spid="14">
                                            <p:txEl>
                                              <p:pRg st="5" end="5"/>
                                            </p:txEl>
                                          </p:spTgt>
                                        </p:tgtEl>
                                      </p:cBhvr>
                                    </p:animEffect>
                                    <p:anim calcmode="lin" valueType="num">
                                      <p:cBhvr>
                                        <p:cTn id="47"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8" dur="500" fill="hold"/>
                                        <p:tgtEl>
                                          <p:spTgt spid="14">
                                            <p:txEl>
                                              <p:pRg st="5" end="5"/>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4">
                                            <p:txEl>
                                              <p:pRg st="6" end="6"/>
                                            </p:txEl>
                                          </p:spTgt>
                                        </p:tgtEl>
                                        <p:attrNameLst>
                                          <p:attrName>style.visibility</p:attrName>
                                        </p:attrNameLst>
                                      </p:cBhvr>
                                      <p:to>
                                        <p:strVal val="visible"/>
                                      </p:to>
                                    </p:set>
                                    <p:animEffect transition="in" filter="fade">
                                      <p:cBhvr>
                                        <p:cTn id="51" dur="500"/>
                                        <p:tgtEl>
                                          <p:spTgt spid="14">
                                            <p:txEl>
                                              <p:pRg st="6" end="6"/>
                                            </p:txEl>
                                          </p:spTgt>
                                        </p:tgtEl>
                                      </p:cBhvr>
                                    </p:animEffect>
                                    <p:anim calcmode="lin" valueType="num">
                                      <p:cBhvr>
                                        <p:cTn id="52"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3" dur="500" fill="hold"/>
                                        <p:tgtEl>
                                          <p:spTgt spid="14">
                                            <p:txEl>
                                              <p:pRg st="6" end="6"/>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anim calcmode="lin" valueType="num">
                                      <p:cBhvr>
                                        <p:cTn id="57" dur="500" fill="hold"/>
                                        <p:tgtEl>
                                          <p:spTgt spid="8"/>
                                        </p:tgtEl>
                                        <p:attrNameLst>
                                          <p:attrName>ppt_x</p:attrName>
                                        </p:attrNameLst>
                                      </p:cBhvr>
                                      <p:tavLst>
                                        <p:tav tm="0">
                                          <p:val>
                                            <p:strVal val="#ppt_x"/>
                                          </p:val>
                                        </p:tav>
                                        <p:tav tm="100000">
                                          <p:val>
                                            <p:strVal val="#ppt_x"/>
                                          </p:val>
                                        </p:tav>
                                      </p:tavLst>
                                    </p:anim>
                                    <p:anim calcmode="lin" valueType="num">
                                      <p:cBhvr>
                                        <p:cTn id="58"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读取保存的地图文件，并实现导航</a:t>
            </a:r>
          </a:p>
        </p:txBody>
      </p:sp>
      <p:sp>
        <p:nvSpPr>
          <p:cNvPr id="14" name="文本框 13">
            <a:extLst>
              <a:ext uri="{FF2B5EF4-FFF2-40B4-BE49-F238E27FC236}">
                <a16:creationId xmlns:a16="http://schemas.microsoft.com/office/drawing/2014/main" id="{D84BA40E-84B8-414C-9864-631C2E39CEF9}"/>
              </a:ext>
            </a:extLst>
          </p:cNvPr>
          <p:cNvSpPr txBox="1"/>
          <p:nvPr/>
        </p:nvSpPr>
        <p:spPr>
          <a:xfrm>
            <a:off x="8878" y="1143280"/>
            <a:ext cx="12183122" cy="5013039"/>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solidFill>
                  <a:schemeClr val="accent1">
                    <a:lumMod val="75000"/>
                  </a:schemeClr>
                </a:solidFill>
                <a:latin typeface="微软雅黑" panose="020B0503020204020204" pitchFamily="34" charset="-122"/>
                <a:ea typeface="微软雅黑" panose="020B0503020204020204" pitchFamily="34" charset="-122"/>
              </a:rPr>
              <a:t>导航功能的结果和注意事项</a:t>
            </a:r>
            <a:endParaRPr lang="en-US" altLang="zh-CN"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zh-CN" altLang="en-US" sz="2400" b="1">
                <a:latin typeface="微软雅黑" panose="020B0503020204020204" pitchFamily="34" charset="-122"/>
                <a:ea typeface="微软雅黑" panose="020B0503020204020204" pitchFamily="34" charset="-122"/>
              </a:rPr>
              <a:t>结果：确定好初始位置和目的位置及姿态之后，起点和终点间生成路径，机器人自行计算运行路径并移动至目标点。</a:t>
            </a:r>
          </a:p>
          <a:p>
            <a:pPr indent="457200">
              <a:lnSpc>
                <a:spcPct val="150000"/>
              </a:lnSpc>
            </a:pPr>
            <a:r>
              <a:rPr lang="zh-CN" altLang="en-US" sz="2400" b="1">
                <a:latin typeface="微软雅黑" panose="020B0503020204020204" pitchFamily="34" charset="-122"/>
                <a:ea typeface="微软雅黑" panose="020B0503020204020204" pitchFamily="34" charset="-122"/>
              </a:rPr>
              <a:t>注意事项：</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在开始导航前，应尽可能多次拖动箭头来</a:t>
            </a:r>
            <a:r>
              <a:rPr lang="zh-CN" altLang="en-US" sz="2400" b="1">
                <a:latin typeface="微软雅黑" panose="020B0503020204020204" pitchFamily="34" charset="-122"/>
                <a:ea typeface="微软雅黑" panose="020B0503020204020204" pitchFamily="34" charset="-122"/>
              </a:rPr>
              <a:t>精确确定小车的位置</a:t>
            </a:r>
            <a:r>
              <a:rPr lang="zh-CN" altLang="en-US" sz="2400">
                <a:latin typeface="微软雅黑" panose="020B0503020204020204" pitchFamily="34" charset="-122"/>
                <a:ea typeface="微软雅黑" panose="020B0503020204020204" pitchFamily="34" charset="-122"/>
              </a:rPr>
              <a:t>，否则可能出现小车无法启动的情况，因为当构建的地图面积不大时，小车的起始位置的相对误差就会变大。</a:t>
            </a: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实验中</a:t>
            </a:r>
            <a:r>
              <a:rPr lang="zh-CN" altLang="en-US" sz="2400" b="1">
                <a:latin typeface="微软雅黑" panose="020B0503020204020204" pitchFamily="34" charset="-122"/>
                <a:ea typeface="微软雅黑" panose="020B0503020204020204" pitchFamily="34" charset="-122"/>
              </a:rPr>
              <a:t>杂乱的周边环境</a:t>
            </a:r>
            <a:r>
              <a:rPr lang="zh-CN" altLang="en-US" sz="2400">
                <a:latin typeface="微软雅黑" panose="020B0503020204020204" pitchFamily="34" charset="-122"/>
                <a:ea typeface="微软雅黑" panose="020B0503020204020204" pitchFamily="34" charset="-122"/>
              </a:rPr>
              <a:t>对导航功能会产生较大影响。所以总的来说，小车的运行原理和计算能力对实验场地提出了一定要求。</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如果无法生成路线，考虑</a:t>
            </a:r>
            <a:r>
              <a:rPr lang="zh-CN" altLang="en-US" sz="2400" b="1">
                <a:latin typeface="微软雅黑" panose="020B0503020204020204" pitchFamily="34" charset="-122"/>
                <a:ea typeface="微软雅黑" panose="020B0503020204020204" pitchFamily="34" charset="-122"/>
              </a:rPr>
              <a:t>设置更近的终点</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调整起点位置</a:t>
            </a:r>
            <a:r>
              <a:rPr lang="zh-CN" altLang="en-US" sz="240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DC4FB94B-C4EC-4324-8D55-44FAE0038B58}"/>
              </a:ext>
            </a:extLst>
          </p:cNvPr>
          <p:cNvPicPr>
            <a:picLocks noChangeAspect="1"/>
          </p:cNvPicPr>
          <p:nvPr/>
        </p:nvPicPr>
        <p:blipFill rotWithShape="1">
          <a:blip r:embed="rId2"/>
          <a:srcRect t="19533" b="19720"/>
          <a:stretch/>
        </p:blipFill>
        <p:spPr>
          <a:xfrm>
            <a:off x="4421108" y="1239256"/>
            <a:ext cx="4579164" cy="509629"/>
          </a:xfrm>
          <a:prstGeom prst="rect">
            <a:avLst/>
          </a:prstGeom>
        </p:spPr>
      </p:pic>
      <p:pic>
        <p:nvPicPr>
          <p:cNvPr id="7" name="图片 6">
            <a:extLst>
              <a:ext uri="{FF2B5EF4-FFF2-40B4-BE49-F238E27FC236}">
                <a16:creationId xmlns:a16="http://schemas.microsoft.com/office/drawing/2014/main" id="{F3B7E8A4-6924-030D-65DD-2750FAC46B21}"/>
              </a:ext>
            </a:extLst>
          </p:cNvPr>
          <p:cNvPicPr>
            <a:picLocks noChangeAspect="1"/>
          </p:cNvPicPr>
          <p:nvPr/>
        </p:nvPicPr>
        <p:blipFill>
          <a:blip r:embed="rId3"/>
          <a:stretch>
            <a:fillRect/>
          </a:stretch>
        </p:blipFill>
        <p:spPr>
          <a:xfrm>
            <a:off x="8467016" y="2534637"/>
            <a:ext cx="2619151" cy="869966"/>
          </a:xfrm>
          <a:prstGeom prst="rect">
            <a:avLst/>
          </a:prstGeom>
        </p:spPr>
      </p:pic>
    </p:spTree>
    <p:extLst>
      <p:ext uri="{BB962C8B-B14F-4D97-AF65-F5344CB8AC3E}">
        <p14:creationId xmlns:p14="http://schemas.microsoft.com/office/powerpoint/2010/main" val="355876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anim calcmode="lin" valueType="num">
                                      <p:cBhvr>
                                        <p:cTn id="8"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animEffect transition="in" filter="fade">
                                      <p:cBhvr>
                                        <p:cTn id="19" dur="500"/>
                                        <p:tgtEl>
                                          <p:spTgt spid="14">
                                            <p:txEl>
                                              <p:pRg st="1" end="1"/>
                                            </p:txEl>
                                          </p:spTgt>
                                        </p:tgtEl>
                                      </p:cBhvr>
                                    </p:animEffect>
                                    <p:anim calcmode="lin" valueType="num">
                                      <p:cBhvr>
                                        <p:cTn id="20"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xEl>
                                              <p:pRg st="2" end="2"/>
                                            </p:txEl>
                                          </p:spTgt>
                                        </p:tgtEl>
                                        <p:attrNameLst>
                                          <p:attrName>style.visibility</p:attrName>
                                        </p:attrNameLst>
                                      </p:cBhvr>
                                      <p:to>
                                        <p:strVal val="visible"/>
                                      </p:to>
                                    </p:set>
                                    <p:animEffect transition="in" filter="fade">
                                      <p:cBhvr>
                                        <p:cTn id="26" dur="500"/>
                                        <p:tgtEl>
                                          <p:spTgt spid="14">
                                            <p:txEl>
                                              <p:pRg st="2" end="2"/>
                                            </p:txEl>
                                          </p:spTgt>
                                        </p:tgtEl>
                                      </p:cBhvr>
                                    </p:animEffect>
                                    <p:anim calcmode="lin" valueType="num">
                                      <p:cBhvr>
                                        <p:cTn id="2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14">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animEffect transition="in" filter="fade">
                                      <p:cBhvr>
                                        <p:cTn id="31" dur="500"/>
                                        <p:tgtEl>
                                          <p:spTgt spid="14">
                                            <p:txEl>
                                              <p:pRg st="3" end="3"/>
                                            </p:txEl>
                                          </p:spTgt>
                                        </p:tgtEl>
                                      </p:cBhvr>
                                    </p:animEffect>
                                    <p:anim calcmode="lin" valueType="num">
                                      <p:cBhvr>
                                        <p:cTn id="32"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4">
                                            <p:txEl>
                                              <p:pRg st="4" end="4"/>
                                            </p:txEl>
                                          </p:spTgt>
                                        </p:tgtEl>
                                        <p:attrNameLst>
                                          <p:attrName>style.visibility</p:attrName>
                                        </p:attrNameLst>
                                      </p:cBhvr>
                                      <p:to>
                                        <p:strVal val="visible"/>
                                      </p:to>
                                    </p:set>
                                    <p:animEffect transition="in" filter="fade">
                                      <p:cBhvr>
                                        <p:cTn id="38" dur="500"/>
                                        <p:tgtEl>
                                          <p:spTgt spid="14">
                                            <p:txEl>
                                              <p:pRg st="4" end="4"/>
                                            </p:txEl>
                                          </p:spTgt>
                                        </p:tgtEl>
                                      </p:cBhvr>
                                    </p:animEffect>
                                    <p:anim calcmode="lin" valueType="num">
                                      <p:cBhvr>
                                        <p:cTn id="39"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40" dur="5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4">
                                            <p:txEl>
                                              <p:pRg st="5" end="5"/>
                                            </p:txEl>
                                          </p:spTgt>
                                        </p:tgtEl>
                                        <p:attrNameLst>
                                          <p:attrName>style.visibility</p:attrName>
                                        </p:attrNameLst>
                                      </p:cBhvr>
                                      <p:to>
                                        <p:strVal val="visible"/>
                                      </p:to>
                                    </p:set>
                                    <p:animEffect transition="in" filter="fade">
                                      <p:cBhvr>
                                        <p:cTn id="45" dur="500"/>
                                        <p:tgtEl>
                                          <p:spTgt spid="14">
                                            <p:txEl>
                                              <p:pRg st="5" end="5"/>
                                            </p:txEl>
                                          </p:spTgt>
                                        </p:tgtEl>
                                      </p:cBhvr>
                                    </p:animEffect>
                                    <p:anim calcmode="lin" valueType="num">
                                      <p:cBhvr>
                                        <p:cTn id="46"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F0181567-F7D0-4343-B7C1-211F743C570C}"/>
              </a:ext>
            </a:extLst>
          </p:cNvPr>
          <p:cNvSpPr/>
          <p:nvPr/>
        </p:nvSpPr>
        <p:spPr>
          <a:xfrm>
            <a:off x="2541588" y="0"/>
            <a:ext cx="6907213" cy="5676900"/>
          </a:xfrm>
          <a:prstGeom prst="triangle">
            <a:avLst/>
          </a:prstGeom>
          <a:noFill/>
          <a:ln>
            <a:solidFill>
              <a:schemeClr val="accent1">
                <a:lumMod val="75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 name="等腰三角形 4">
            <a:extLst>
              <a:ext uri="{FF2B5EF4-FFF2-40B4-BE49-F238E27FC236}">
                <a16:creationId xmlns:a16="http://schemas.microsoft.com/office/drawing/2014/main" id="{8A816B2B-96F0-4A05-A735-0D991F8E5595}"/>
              </a:ext>
            </a:extLst>
          </p:cNvPr>
          <p:cNvSpPr/>
          <p:nvPr/>
        </p:nvSpPr>
        <p:spPr>
          <a:xfrm rot="10800000">
            <a:off x="3059113" y="1319213"/>
            <a:ext cx="6008688" cy="4416425"/>
          </a:xfrm>
          <a:prstGeom prst="triangle">
            <a:avLst/>
          </a:prstGeom>
          <a:no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6" name="等腰三角形 10">
            <a:extLst>
              <a:ext uri="{FF2B5EF4-FFF2-40B4-BE49-F238E27FC236}">
                <a16:creationId xmlns:a16="http://schemas.microsoft.com/office/drawing/2014/main" id="{3B034A26-43F6-4F69-9BE0-2D399A996E2A}"/>
              </a:ext>
            </a:extLst>
          </p:cNvPr>
          <p:cNvSpPr/>
          <p:nvPr/>
        </p:nvSpPr>
        <p:spPr>
          <a:xfrm rot="7016274">
            <a:off x="1935163" y="454025"/>
            <a:ext cx="3770313" cy="6859588"/>
          </a:xfrm>
          <a:custGeom>
            <a:avLst/>
            <a:gdLst>
              <a:gd name="connsiteX0" fmla="*/ 0 w 7540399"/>
              <a:gd name="connsiteY0" fmla="*/ 6859430 h 6859430"/>
              <a:gd name="connsiteX1" fmla="*/ 3770200 w 7540399"/>
              <a:gd name="connsiteY1" fmla="*/ 0 h 6859430"/>
              <a:gd name="connsiteX2" fmla="*/ 7540399 w 7540399"/>
              <a:gd name="connsiteY2" fmla="*/ 6859430 h 6859430"/>
              <a:gd name="connsiteX3" fmla="*/ 0 w 7540399"/>
              <a:gd name="connsiteY3" fmla="*/ 6859430 h 6859430"/>
              <a:gd name="connsiteX0-1" fmla="*/ 0 w 3770200"/>
              <a:gd name="connsiteY0-2" fmla="*/ 6859430 h 6859430"/>
              <a:gd name="connsiteX1-3" fmla="*/ 3770200 w 3770200"/>
              <a:gd name="connsiteY1-4" fmla="*/ 0 h 6859430"/>
              <a:gd name="connsiteX2-5" fmla="*/ 0 w 3770200"/>
              <a:gd name="connsiteY2-6" fmla="*/ 6859430 h 6859430"/>
            </a:gdLst>
            <a:ahLst/>
            <a:cxnLst>
              <a:cxn ang="0">
                <a:pos x="connsiteX0-1" y="connsiteY0-2"/>
              </a:cxn>
              <a:cxn ang="0">
                <a:pos x="connsiteX1-3" y="connsiteY1-4"/>
              </a:cxn>
              <a:cxn ang="0">
                <a:pos x="connsiteX2-5" y="connsiteY2-6"/>
              </a:cxn>
            </a:cxnLst>
            <a:rect l="l" t="t" r="r" b="b"/>
            <a:pathLst>
              <a:path w="3770200" h="6859430">
                <a:moveTo>
                  <a:pt x="0" y="6859430"/>
                </a:moveTo>
                <a:lnTo>
                  <a:pt x="3770200" y="0"/>
                </a:lnTo>
                <a:lnTo>
                  <a:pt x="0" y="6859430"/>
                </a:lnTo>
                <a:close/>
              </a:path>
            </a:pathLst>
          </a:custGeom>
          <a:solidFill>
            <a:schemeClr val="accent1"/>
          </a:solid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 name="任意多边形 2">
            <a:extLst>
              <a:ext uri="{FF2B5EF4-FFF2-40B4-BE49-F238E27FC236}">
                <a16:creationId xmlns:a16="http://schemas.microsoft.com/office/drawing/2014/main" id="{B3DB9AA0-A04A-46A5-9CE6-6652CFE84DB2}"/>
              </a:ext>
            </a:extLst>
          </p:cNvPr>
          <p:cNvSpPr/>
          <p:nvPr/>
        </p:nvSpPr>
        <p:spPr>
          <a:xfrm rot="11211390">
            <a:off x="5659438" y="3959225"/>
            <a:ext cx="922338" cy="866775"/>
          </a:xfrm>
          <a:custGeom>
            <a:avLst/>
            <a:gdLst>
              <a:gd name="connsiteX0" fmla="*/ 0 w 2002971"/>
              <a:gd name="connsiteY0" fmla="*/ 1335314 h 1944914"/>
              <a:gd name="connsiteX1" fmla="*/ 783771 w 2002971"/>
              <a:gd name="connsiteY1" fmla="*/ 0 h 1944914"/>
              <a:gd name="connsiteX2" fmla="*/ 2002971 w 2002971"/>
              <a:gd name="connsiteY2" fmla="*/ 1944914 h 1944914"/>
              <a:gd name="connsiteX0-1" fmla="*/ 0 w 1416184"/>
              <a:gd name="connsiteY0-2" fmla="*/ 1335314 h 1335314"/>
              <a:gd name="connsiteX1-3" fmla="*/ 783771 w 1416184"/>
              <a:gd name="connsiteY1-4" fmla="*/ 0 h 1335314"/>
              <a:gd name="connsiteX2-5" fmla="*/ 1416184 w 1416184"/>
              <a:gd name="connsiteY2-6" fmla="*/ 970990 h 1335314"/>
            </a:gdLst>
            <a:ahLst/>
            <a:cxnLst>
              <a:cxn ang="0">
                <a:pos x="connsiteX0-1" y="connsiteY0-2"/>
              </a:cxn>
              <a:cxn ang="0">
                <a:pos x="connsiteX1-3" y="connsiteY1-4"/>
              </a:cxn>
              <a:cxn ang="0">
                <a:pos x="connsiteX2-5" y="connsiteY2-6"/>
              </a:cxn>
            </a:cxnLst>
            <a:rect l="l" t="t" r="r" b="b"/>
            <a:pathLst>
              <a:path w="1416184" h="1335314">
                <a:moveTo>
                  <a:pt x="0" y="1335314"/>
                </a:moveTo>
                <a:lnTo>
                  <a:pt x="783771" y="0"/>
                </a:lnTo>
                <a:lnTo>
                  <a:pt x="1416184" y="970990"/>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任意多边形 20">
            <a:extLst>
              <a:ext uri="{FF2B5EF4-FFF2-40B4-BE49-F238E27FC236}">
                <a16:creationId xmlns:a16="http://schemas.microsoft.com/office/drawing/2014/main" id="{BE6523AF-051A-4B4A-8B17-B5BBFFAEAC0E}"/>
              </a:ext>
            </a:extLst>
          </p:cNvPr>
          <p:cNvSpPr/>
          <p:nvPr/>
        </p:nvSpPr>
        <p:spPr>
          <a:xfrm rot="11211631">
            <a:off x="4587875" y="2082800"/>
            <a:ext cx="2930525" cy="1257300"/>
          </a:xfrm>
          <a:custGeom>
            <a:avLst/>
            <a:gdLst>
              <a:gd name="connsiteX0" fmla="*/ 4209143 w 5297714"/>
              <a:gd name="connsiteY0" fmla="*/ 0 h 1770743"/>
              <a:gd name="connsiteX1" fmla="*/ 5297714 w 5297714"/>
              <a:gd name="connsiteY1" fmla="*/ 1770743 h 1770743"/>
              <a:gd name="connsiteX2" fmla="*/ 0 w 5297714"/>
              <a:gd name="connsiteY2" fmla="*/ 1306286 h 1770743"/>
              <a:gd name="connsiteX3" fmla="*/ 769257 w 5297714"/>
              <a:gd name="connsiteY3" fmla="*/ 29029 h 1770743"/>
              <a:gd name="connsiteX0-1" fmla="*/ 4209143 w 5297714"/>
              <a:gd name="connsiteY0-2" fmla="*/ 0 h 1770743"/>
              <a:gd name="connsiteX1-3" fmla="*/ 5297714 w 5297714"/>
              <a:gd name="connsiteY1-4" fmla="*/ 1770743 h 1770743"/>
              <a:gd name="connsiteX2-5" fmla="*/ 0 w 5297714"/>
              <a:gd name="connsiteY2-6" fmla="*/ 1306286 h 1770743"/>
              <a:gd name="connsiteX3-7" fmla="*/ 562856 w 5297714"/>
              <a:gd name="connsiteY3-8" fmla="*/ 395863 h 1770743"/>
              <a:gd name="connsiteX0-9" fmla="*/ 3872553 w 5297714"/>
              <a:gd name="connsiteY0-10" fmla="*/ 0 h 2274831"/>
              <a:gd name="connsiteX1-11" fmla="*/ 5297714 w 5297714"/>
              <a:gd name="connsiteY1-12" fmla="*/ 2274831 h 2274831"/>
              <a:gd name="connsiteX2-13" fmla="*/ 0 w 5297714"/>
              <a:gd name="connsiteY2-14" fmla="*/ 1810374 h 2274831"/>
              <a:gd name="connsiteX3-15" fmla="*/ 562856 w 5297714"/>
              <a:gd name="connsiteY3-16" fmla="*/ 899951 h 2274831"/>
            </a:gdLst>
            <a:ahLst/>
            <a:cxnLst>
              <a:cxn ang="0">
                <a:pos x="connsiteX0-1" y="connsiteY0-2"/>
              </a:cxn>
              <a:cxn ang="0">
                <a:pos x="connsiteX1-3" y="connsiteY1-4"/>
              </a:cxn>
              <a:cxn ang="0">
                <a:pos x="connsiteX2-5" y="connsiteY2-6"/>
              </a:cxn>
              <a:cxn ang="0">
                <a:pos x="connsiteX3-7" y="connsiteY3-8"/>
              </a:cxn>
            </a:cxnLst>
            <a:rect l="l" t="t" r="r" b="b"/>
            <a:pathLst>
              <a:path w="5297714" h="2274831">
                <a:moveTo>
                  <a:pt x="3872553" y="0"/>
                </a:moveTo>
                <a:lnTo>
                  <a:pt x="5297714" y="2274831"/>
                </a:lnTo>
                <a:lnTo>
                  <a:pt x="0" y="1810374"/>
                </a:lnTo>
                <a:lnTo>
                  <a:pt x="562856" y="899951"/>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9" name="TextBox 9">
            <a:extLst>
              <a:ext uri="{FF2B5EF4-FFF2-40B4-BE49-F238E27FC236}">
                <a16:creationId xmlns:a16="http://schemas.microsoft.com/office/drawing/2014/main" id="{0F5EBEF3-F14D-45B5-AC9A-0AE10D94F43B}"/>
              </a:ext>
            </a:extLst>
          </p:cNvPr>
          <p:cNvSpPr txBox="1"/>
          <p:nvPr/>
        </p:nvSpPr>
        <p:spPr>
          <a:xfrm>
            <a:off x="2292350" y="3133725"/>
            <a:ext cx="7893050" cy="1014730"/>
          </a:xfrm>
          <a:prstGeom prst="rect">
            <a:avLst/>
          </a:prstGeom>
          <a:noFill/>
        </p:spPr>
        <p:txBody>
          <a:bodyPr wrap="square">
            <a:spAutoFit/>
          </a:bodyPr>
          <a:lstStyle/>
          <a:p>
            <a:pPr marR="0" algn="ctr" defTabSz="914400" fontAlgn="auto">
              <a:buClrTx/>
              <a:buSzTx/>
              <a:buFont typeface="Arial" panose="020B0604020202020204" pitchFamily="34" charset="0"/>
              <a:defRPr/>
            </a:pPr>
            <a:r>
              <a:rPr kumimoji="0" lang="en-US" altLang="zh-CN" sz="6000" b="1" kern="1200" cap="none" spc="300" normalizeH="0" baseline="0" noProof="1">
                <a:solidFill>
                  <a:schemeClr val="accent1"/>
                </a:solidFill>
                <a:latin typeface="微软雅黑" panose="020B0503020204020204" pitchFamily="34" charset="-122"/>
                <a:ea typeface="微软雅黑" panose="020B0503020204020204" pitchFamily="34" charset="-122"/>
                <a:cs typeface="+mn-cs"/>
                <a:sym typeface="+mn-ea"/>
              </a:rPr>
              <a:t>THANK YOU</a:t>
            </a:r>
          </a:p>
        </p:txBody>
      </p:sp>
    </p:spTree>
    <p:extLst>
      <p:ext uri="{BB962C8B-B14F-4D97-AF65-F5344CB8AC3E}">
        <p14:creationId xmlns:p14="http://schemas.microsoft.com/office/powerpoint/2010/main" val="48155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1">
            <a:lumMod val="20000"/>
            <a:lumOff val="80000"/>
          </a:schemeClr>
        </a:solidFill>
      </a:spPr>
      <a:bodyPr wrap="square" rtlCol="0">
        <a:spAutoFit/>
      </a:bodyPr>
      <a:lstStyle>
        <a:defPPr indent="457200" algn="l">
          <a:lnSpc>
            <a:spcPct val="150000"/>
          </a:lnSpc>
          <a:defRPr sz="240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1298</TotalTime>
  <Words>895</Words>
  <Application>Microsoft Office PowerPoint</Application>
  <PresentationFormat>宽屏</PresentationFormat>
  <Paragraphs>107</Paragraphs>
  <Slides>14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等线</vt:lpstr>
      <vt:lpstr>等线 Light</vt:lpstr>
      <vt:lpstr>方正宋刻本秀楷简体</vt:lpstr>
      <vt:lpstr>方正准圆简体</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申 珊靛</dc:creator>
  <cp:lastModifiedBy>挺畅 吴</cp:lastModifiedBy>
  <cp:revision>382</cp:revision>
  <dcterms:created xsi:type="dcterms:W3CDTF">2021-03-12T12:02:50Z</dcterms:created>
  <dcterms:modified xsi:type="dcterms:W3CDTF">2025-04-04T00:10:01Z</dcterms:modified>
</cp:coreProperties>
</file>