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7" r:id="rId3"/>
    <p:sldId id="259" r:id="rId4"/>
    <p:sldId id="288" r:id="rId5"/>
    <p:sldId id="260" r:id="rId6"/>
    <p:sldId id="289" r:id="rId7"/>
    <p:sldId id="261" r:id="rId8"/>
    <p:sldId id="282" r:id="rId9"/>
    <p:sldId id="262" r:id="rId10"/>
    <p:sldId id="290" r:id="rId11"/>
    <p:sldId id="292" r:id="rId12"/>
    <p:sldId id="291" r:id="rId13"/>
    <p:sldId id="294" r:id="rId14"/>
    <p:sldId id="293" r:id="rId15"/>
    <p:sldId id="295" r:id="rId16"/>
    <p:sldId id="296" r:id="rId17"/>
    <p:sldId id="297" r:id="rId18"/>
    <p:sldId id="298" r:id="rId19"/>
    <p:sldId id="276"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首页" id="{38910652-1D9F-45BF-BD71-1777E84EDD6F}">
          <p14:sldIdLst>
            <p14:sldId id="256"/>
          </p14:sldIdLst>
        </p14:section>
        <p14:section name="概述" id="{7DF12B08-F0B0-462C-A97E-B87E83D9806D}">
          <p14:sldIdLst>
            <p14:sldId id="257"/>
          </p14:sldIdLst>
        </p14:section>
        <p14:section name="1 安装Gazebo" id="{50BD4C9C-BD31-4051-A6FE-DD72385D00F1}">
          <p14:sldIdLst>
            <p14:sldId id="259"/>
            <p14:sldId id="288"/>
          </p14:sldIdLst>
        </p14:section>
        <p14:section name="2 接收图像话题" id="{76D2575B-D32D-4047-BAFD-9445C89CBC82}">
          <p14:sldIdLst>
            <p14:sldId id="260"/>
            <p14:sldId id="289"/>
          </p14:sldIdLst>
        </p14:section>
        <p14:section name="3 转发图像信息给Opencv" id="{4FDEEF89-12FD-4644-9C14-87F915311AC3}">
          <p14:sldIdLst>
            <p14:sldId id="261"/>
            <p14:sldId id="282"/>
          </p14:sldIdLst>
        </p14:section>
        <p14:section name="4 创建自己的仿真世界" id="{45933C4A-D6F9-4D7D-971E-3B55624CAFD5}">
          <p14:sldIdLst>
            <p14:sldId id="262"/>
            <p14:sldId id="290"/>
            <p14:sldId id="292"/>
            <p14:sldId id="291"/>
          </p14:sldIdLst>
        </p14:section>
        <p14:section name="5 对图像建立颜色蒙版" id="{D46287EC-910B-447C-A2D0-828A3CAC7333}">
          <p14:sldIdLst>
            <p14:sldId id="294"/>
            <p14:sldId id="293"/>
          </p14:sldIdLst>
        </p14:section>
        <p14:section name="6 获取路线中心" id="{645F84D7-F22C-4119-807F-32331A64655B}">
          <p14:sldIdLst>
            <p14:sldId id="295"/>
            <p14:sldId id="296"/>
          </p14:sldIdLst>
        </p14:section>
        <p14:section name="7 发布运动命令" id="{43C8CED7-1274-46CC-89DC-A4AF5744E485}">
          <p14:sldIdLst>
            <p14:sldId id="297"/>
            <p14:sldId id="298"/>
          </p14:sldIdLst>
        </p14:section>
        <p14:section name="结束" id="{0EF7C619-5AED-4E9D-8482-D6278461C313}">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B150"/>
    <a:srgbClr val="516485"/>
    <a:srgbClr val="D446B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9" autoAdjust="0"/>
    <p:restoredTop sz="94660"/>
  </p:normalViewPr>
  <p:slideViewPr>
    <p:cSldViewPr snapToGrid="0">
      <p:cViewPr varScale="1">
        <p:scale>
          <a:sx n="84" d="100"/>
          <a:sy n="84" d="100"/>
        </p:scale>
        <p:origin x="4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492B1-0C5A-4196-BD5A-E25E482A51C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0178BF0-0FB2-4157-94C8-60D23AE411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DFEC93F-B58D-4BAC-A643-9C65EE0ACD07}"/>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5" name="页脚占位符 4">
            <a:extLst>
              <a:ext uri="{FF2B5EF4-FFF2-40B4-BE49-F238E27FC236}">
                <a16:creationId xmlns:a16="http://schemas.microsoft.com/office/drawing/2014/main" id="{ECF730BD-EEEA-42AA-81A1-6BB0BE5173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D0CAB7-73A5-4C61-AFE5-E970E7E65DAB}"/>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7902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D59A43-4A1F-4410-9B4D-3925D2F7637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D32DFF-9387-4964-8523-216A65401FE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AB45149-9F4B-414E-A5A5-1BC20FD432D1}"/>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5" name="页脚占位符 4">
            <a:extLst>
              <a:ext uri="{FF2B5EF4-FFF2-40B4-BE49-F238E27FC236}">
                <a16:creationId xmlns:a16="http://schemas.microsoft.com/office/drawing/2014/main" id="{9BEF9E98-605C-46A3-A2B0-DE11B01959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A20530-1173-46A9-B561-ABC53E046CED}"/>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pic>
        <p:nvPicPr>
          <p:cNvPr id="11" name="图片 10">
            <a:extLst>
              <a:ext uri="{FF2B5EF4-FFF2-40B4-BE49-F238E27FC236}">
                <a16:creationId xmlns:a16="http://schemas.microsoft.com/office/drawing/2014/main" id="{E7236E59-E5E2-4275-BBB2-274FF69106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3091" y="6324390"/>
            <a:ext cx="1291046" cy="436643"/>
          </a:xfrm>
          <a:prstGeom prst="rect">
            <a:avLst/>
          </a:prstGeom>
        </p:spPr>
      </p:pic>
    </p:spTree>
    <p:extLst>
      <p:ext uri="{BB962C8B-B14F-4D97-AF65-F5344CB8AC3E}">
        <p14:creationId xmlns:p14="http://schemas.microsoft.com/office/powerpoint/2010/main" val="256490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AAC33F-BC76-4F76-B18F-1F3ABABEAE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544EF2A-4F7E-41E3-8B53-23EA703378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79B4D17-2136-49F6-A86F-B3F890DA92EC}"/>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5" name="页脚占位符 4">
            <a:extLst>
              <a:ext uri="{FF2B5EF4-FFF2-40B4-BE49-F238E27FC236}">
                <a16:creationId xmlns:a16="http://schemas.microsoft.com/office/drawing/2014/main" id="{1877ADF9-6B16-4A91-984C-EAF74F3042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ECCE8A-56F3-4D85-B313-C156ACDD046D}"/>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2330140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E6CB2-0804-4E4F-BD32-414A416749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908AB1-545C-4CF5-8723-A62DE4BE57D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6D0195D-BE80-4E0A-AC0F-7900C5D9225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7E6A1DE-DAA3-4F0A-B858-DA7A5AFDCD7C}"/>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6" name="页脚占位符 5">
            <a:extLst>
              <a:ext uri="{FF2B5EF4-FFF2-40B4-BE49-F238E27FC236}">
                <a16:creationId xmlns:a16="http://schemas.microsoft.com/office/drawing/2014/main" id="{DB9C543A-6D2B-49AF-962F-AC42DF27A43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27804E-B37F-48DC-9CE6-1B7E8B29652A}"/>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794971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7B7A21-43EE-42C1-8A5D-F9D82CFCF1B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3D43ADA-D3FE-4728-BB57-5EFE47B68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141D56-9192-4359-B128-CF347250223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DC5CA01-9162-4DA5-B71C-E30B4C952F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7CE2240-4C37-494C-8DEF-0BE2F8893F9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74BF995-C68C-4154-A992-D76296991722}"/>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8" name="页脚占位符 7">
            <a:extLst>
              <a:ext uri="{FF2B5EF4-FFF2-40B4-BE49-F238E27FC236}">
                <a16:creationId xmlns:a16="http://schemas.microsoft.com/office/drawing/2014/main" id="{75D03D2D-FF72-4FF0-B5C8-ECF1064BE38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5FBCA7C-644A-4373-AB14-5D22E44EC7E4}"/>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4167003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261089-0F77-431C-B275-14C0C58CEB0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728DD5C-A5FC-4721-A7E5-A5D34A150902}"/>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4" name="页脚占位符 3">
            <a:extLst>
              <a:ext uri="{FF2B5EF4-FFF2-40B4-BE49-F238E27FC236}">
                <a16:creationId xmlns:a16="http://schemas.microsoft.com/office/drawing/2014/main" id="{4237CA22-806D-4280-B77E-CA2C4F46791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BA51879-0B46-431F-8C0F-3A38090FB7BE}"/>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08213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F8318D0-AAB2-42F9-9E26-56C1CB7C0E19}"/>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3" name="页脚占位符 2">
            <a:extLst>
              <a:ext uri="{FF2B5EF4-FFF2-40B4-BE49-F238E27FC236}">
                <a16:creationId xmlns:a16="http://schemas.microsoft.com/office/drawing/2014/main" id="{90817007-959B-4116-925A-43817F38B5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58278F3-ACB2-4379-835C-4570EF7C9990}"/>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861907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A2BBDF-7CFE-4EFF-B704-790CF5F46E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58A4827-9BBA-4258-BA50-AC33F1F26D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1004658-627A-461F-B99F-27392E3E7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6AB33D8-A635-4736-A8FC-0E7FB1EFE68A}"/>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6" name="页脚占位符 5">
            <a:extLst>
              <a:ext uri="{FF2B5EF4-FFF2-40B4-BE49-F238E27FC236}">
                <a16:creationId xmlns:a16="http://schemas.microsoft.com/office/drawing/2014/main" id="{EA34F964-AB89-451A-8895-00B77101F4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EAF20E-5B35-43C4-91D6-5DFDE3B81759}"/>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392150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B7D62-35B1-486A-BA4A-5BD62D8785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2B77D51-6E0B-4BDB-AB93-B4C68FACD1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02CCFBA-FCB2-4EA4-931C-B0815E5ABB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87AEB5-3A92-4059-AC54-3DDE28D72E3D}"/>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6" name="页脚占位符 5">
            <a:extLst>
              <a:ext uri="{FF2B5EF4-FFF2-40B4-BE49-F238E27FC236}">
                <a16:creationId xmlns:a16="http://schemas.microsoft.com/office/drawing/2014/main" id="{0A975F10-5DA9-40FD-B833-1AEE3352B17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C768966-0C69-4938-BD07-608E6904925F}"/>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50745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C168C-70CF-489F-AA3C-EAB1868297B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5D8EC20-E3C4-4040-918C-D140F43BE85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4281EFD-5990-4B49-BEB1-7827F321D159}"/>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5" name="页脚占位符 4">
            <a:extLst>
              <a:ext uri="{FF2B5EF4-FFF2-40B4-BE49-F238E27FC236}">
                <a16:creationId xmlns:a16="http://schemas.microsoft.com/office/drawing/2014/main" id="{DADDDFDE-08EE-4CC7-A8EA-1D5AE271EC6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507A4D-BB8A-4750-B2A9-1DD61F626D94}"/>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17231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F3ECB69-D882-4535-B0D7-4E30F131C78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C451D9-EE77-4FA7-AA27-96B7A3438F2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AD73AA9-B71F-4C03-85CA-A10ACAF6D9EE}"/>
              </a:ext>
            </a:extLst>
          </p:cNvPr>
          <p:cNvSpPr>
            <a:spLocks noGrp="1"/>
          </p:cNvSpPr>
          <p:nvPr>
            <p:ph type="dt" sz="half" idx="10"/>
          </p:nvPr>
        </p:nvSpPr>
        <p:spPr/>
        <p:txBody>
          <a:bodyPr/>
          <a:lstStyle/>
          <a:p>
            <a:fld id="{61C253A8-2FA4-4E85-8F40-57D98F8E6A65}" type="datetimeFigureOut">
              <a:rPr lang="zh-CN" altLang="en-US" smtClean="0"/>
              <a:t>2021/7/16</a:t>
            </a:fld>
            <a:endParaRPr lang="zh-CN" altLang="en-US"/>
          </a:p>
        </p:txBody>
      </p:sp>
      <p:sp>
        <p:nvSpPr>
          <p:cNvPr id="5" name="页脚占位符 4">
            <a:extLst>
              <a:ext uri="{FF2B5EF4-FFF2-40B4-BE49-F238E27FC236}">
                <a16:creationId xmlns:a16="http://schemas.microsoft.com/office/drawing/2014/main" id="{69B2BCAF-A674-4F07-830F-51ABF48250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3B0B8-9C89-411F-9CE1-B0E7ECE77D07}"/>
              </a:ext>
            </a:extLst>
          </p:cNvPr>
          <p:cNvSpPr>
            <a:spLocks noGrp="1"/>
          </p:cNvSpPr>
          <p:nvPr>
            <p:ph type="sldNum" sz="quarter" idx="12"/>
          </p:nvPr>
        </p:nvSpPr>
        <p:spPr/>
        <p:txBody>
          <a:body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314573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DD0900C-D238-45F2-9A3F-9CC4338DCC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9D3590-7911-4C76-82B9-2A273AA6F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36424D-17FE-46C6-82EA-9137849D63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C253A8-2FA4-4E85-8F40-57D98F8E6A65}" type="datetimeFigureOut">
              <a:rPr lang="zh-CN" altLang="en-US" smtClean="0"/>
              <a:t>2021/7/16</a:t>
            </a:fld>
            <a:endParaRPr lang="zh-CN" altLang="en-US"/>
          </a:p>
        </p:txBody>
      </p:sp>
      <p:sp>
        <p:nvSpPr>
          <p:cNvPr id="5" name="页脚占位符 4">
            <a:extLst>
              <a:ext uri="{FF2B5EF4-FFF2-40B4-BE49-F238E27FC236}">
                <a16:creationId xmlns:a16="http://schemas.microsoft.com/office/drawing/2014/main" id="{BCD866D1-D453-4383-9F00-E9035E63D4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9BB7091-FA79-4441-B297-A73323AE32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5D12F-C677-4341-AFA6-F784F7E82464}" type="slidenum">
              <a:rPr lang="zh-CN" altLang="en-US" smtClean="0"/>
              <a:t>‹#›</a:t>
            </a:fld>
            <a:endParaRPr lang="zh-CN" altLang="en-US"/>
          </a:p>
        </p:txBody>
      </p:sp>
    </p:spTree>
    <p:extLst>
      <p:ext uri="{BB962C8B-B14F-4D97-AF65-F5344CB8AC3E}">
        <p14:creationId xmlns:p14="http://schemas.microsoft.com/office/powerpoint/2010/main" val="297241697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7AB6328-93D6-44D0-B018-7AB05C8C86B7}"/>
              </a:ext>
            </a:extLst>
          </p:cNvPr>
          <p:cNvSpPr/>
          <p:nvPr/>
        </p:nvSpPr>
        <p:spPr>
          <a:xfrm>
            <a:off x="3469024" y="0"/>
            <a:ext cx="5007917" cy="6858000"/>
          </a:xfrm>
          <a:prstGeom prst="rect">
            <a:avLst/>
          </a:prstGeom>
          <a:solidFill>
            <a:schemeClr val="accent5">
              <a:lumMod val="60000"/>
              <a:lumOff val="40000"/>
            </a:schemeClr>
          </a:solidFill>
          <a:ln>
            <a:solidFill>
              <a:srgbClr val="3457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矩形 6">
            <a:extLst>
              <a:ext uri="{FF2B5EF4-FFF2-40B4-BE49-F238E27FC236}">
                <a16:creationId xmlns:a16="http://schemas.microsoft.com/office/drawing/2014/main" id="{8E5F9966-9130-4CAA-9435-AA0B3D681875}"/>
              </a:ext>
            </a:extLst>
          </p:cNvPr>
          <p:cNvSpPr/>
          <p:nvPr/>
        </p:nvSpPr>
        <p:spPr>
          <a:xfrm>
            <a:off x="370702" y="998837"/>
            <a:ext cx="11450595" cy="4860325"/>
          </a:xfrm>
          <a:prstGeom prst="rect">
            <a:avLst/>
          </a:prstGeom>
          <a:solidFill>
            <a:schemeClr val="bg1"/>
          </a:solidFill>
          <a:ln>
            <a:noFill/>
          </a:ln>
          <a:effectLst>
            <a:outerShdw blurRad="254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92F53D2A-DDCD-421F-923B-DCB0E62EEC59}"/>
              </a:ext>
            </a:extLst>
          </p:cNvPr>
          <p:cNvSpPr txBox="1">
            <a:spLocks noChangeArrowheads="1"/>
          </p:cNvSpPr>
          <p:nvPr/>
        </p:nvSpPr>
        <p:spPr bwMode="auto">
          <a:xfrm>
            <a:off x="1270985" y="2563944"/>
            <a:ext cx="9650027" cy="923330"/>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algn="ctr" defTabSz="685800" fontAlgn="base">
              <a:spcBef>
                <a:spcPct val="0"/>
              </a:spcBef>
              <a:spcAft>
                <a:spcPct val="0"/>
              </a:spcAft>
              <a:tabLst>
                <a:tab pos="2865755" algn="l"/>
              </a:tabLst>
            </a:pPr>
            <a:r>
              <a:rPr lang="zh-CN" altLang="en-US" sz="5400" b="1">
                <a:solidFill>
                  <a:schemeClr val="accent5">
                    <a:lumMod val="75000"/>
                  </a:schemeClr>
                </a:solidFill>
                <a:latin typeface="+mn-ea"/>
                <a:ea typeface="+mn-ea"/>
                <a:sym typeface="Calibri" panose="020F0502020204030204" pitchFamily="34" charset="0"/>
              </a:rPr>
              <a:t>实验四 机器人循线跟踪</a:t>
            </a:r>
          </a:p>
        </p:txBody>
      </p:sp>
      <p:cxnSp>
        <p:nvCxnSpPr>
          <p:cNvPr id="9" name="直接连接符 8">
            <a:extLst>
              <a:ext uri="{FF2B5EF4-FFF2-40B4-BE49-F238E27FC236}">
                <a16:creationId xmlns:a16="http://schemas.microsoft.com/office/drawing/2014/main" id="{5B71B30E-AEA7-4AE3-9A6C-EA71AA5F066A}"/>
              </a:ext>
            </a:extLst>
          </p:cNvPr>
          <p:cNvCxnSpPr/>
          <p:nvPr/>
        </p:nvCxnSpPr>
        <p:spPr>
          <a:xfrm>
            <a:off x="5939450" y="4160852"/>
            <a:ext cx="372724" cy="0"/>
          </a:xfrm>
          <a:prstGeom prst="line">
            <a:avLst/>
          </a:prstGeom>
          <a:ln w="19050">
            <a:solidFill>
              <a:srgbClr val="345780"/>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A6DFE96F-CF89-4918-9DF7-23306AB2179A}"/>
              </a:ext>
            </a:extLst>
          </p:cNvPr>
          <p:cNvSpPr/>
          <p:nvPr/>
        </p:nvSpPr>
        <p:spPr>
          <a:xfrm>
            <a:off x="3567367" y="4477386"/>
            <a:ext cx="468069" cy="468069"/>
          </a:xfrm>
          <a:prstGeom prst="ellipse">
            <a:avLst/>
          </a:prstGeom>
          <a:solidFill>
            <a:srgbClr val="345780"/>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rgbClr val="212834"/>
              </a:solidFill>
            </a:endParaRPr>
          </a:p>
        </p:txBody>
      </p:sp>
      <p:sp>
        <p:nvSpPr>
          <p:cNvPr id="11" name="文本框 10"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7CB3D532-35FA-4AC4-9C8B-F288F604F556}"/>
              </a:ext>
            </a:extLst>
          </p:cNvPr>
          <p:cNvSpPr txBox="1">
            <a:spLocks noChangeArrowheads="1"/>
          </p:cNvSpPr>
          <p:nvPr/>
        </p:nvSpPr>
        <p:spPr bwMode="auto">
          <a:xfrm>
            <a:off x="4017710" y="4535085"/>
            <a:ext cx="2762533" cy="379656"/>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日期：</a:t>
            </a:r>
            <a:r>
              <a:rPr lang="en-US" altLang="zh-CN"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2021.04</a:t>
            </a:r>
            <a:endPar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endParaRPr>
          </a:p>
        </p:txBody>
      </p:sp>
      <p:sp>
        <p:nvSpPr>
          <p:cNvPr id="12" name="椭圆 11">
            <a:extLst>
              <a:ext uri="{FF2B5EF4-FFF2-40B4-BE49-F238E27FC236}">
                <a16:creationId xmlns:a16="http://schemas.microsoft.com/office/drawing/2014/main" id="{7CA6A941-9377-42C6-BCDF-7B7941D7649F}"/>
              </a:ext>
            </a:extLst>
          </p:cNvPr>
          <p:cNvSpPr/>
          <p:nvPr/>
        </p:nvSpPr>
        <p:spPr>
          <a:xfrm>
            <a:off x="6312174" y="4473316"/>
            <a:ext cx="468069" cy="468069"/>
          </a:xfrm>
          <a:prstGeom prst="ellipse">
            <a:avLst/>
          </a:prstGeom>
          <a:solidFill>
            <a:srgbClr val="345780"/>
          </a:solidFill>
          <a:ln>
            <a:noFill/>
          </a:ln>
          <a:effectLst>
            <a:outerShdw blurRad="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solidFill>
                <a:srgbClr val="212834"/>
              </a:solidFill>
            </a:endParaRPr>
          </a:p>
        </p:txBody>
      </p:sp>
      <p:sp>
        <p:nvSpPr>
          <p:cNvPr id="13" name="文本框 1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a:extLst>
              <a:ext uri="{FF2B5EF4-FFF2-40B4-BE49-F238E27FC236}">
                <a16:creationId xmlns:a16="http://schemas.microsoft.com/office/drawing/2014/main" id="{A1BB899F-0A56-49A2-8835-5351EF5C80A7}"/>
              </a:ext>
            </a:extLst>
          </p:cNvPr>
          <p:cNvSpPr txBox="1">
            <a:spLocks noChangeArrowheads="1"/>
          </p:cNvSpPr>
          <p:nvPr/>
        </p:nvSpPr>
        <p:spPr bwMode="auto">
          <a:xfrm>
            <a:off x="6762516" y="4531016"/>
            <a:ext cx="3340272" cy="379335"/>
          </a:xfrm>
          <a:prstGeom prst="rect">
            <a:avLst/>
          </a:prstGeom>
          <a:noFill/>
          <a:ln>
            <a:noFill/>
          </a:ln>
        </p:spPr>
        <p:txBody>
          <a:bodyPr wrap="square">
            <a:spAutoFit/>
          </a:bodyPr>
          <a:lstStyle>
            <a:lvl1pPr>
              <a:defRPr sz="1300">
                <a:solidFill>
                  <a:schemeClr val="tx1"/>
                </a:solidFill>
                <a:latin typeface="Arial" panose="020B0604020202020204" pitchFamily="34" charset="0"/>
                <a:ea typeface="微软雅黑" panose="020B0503020204020204" pitchFamily="34" charset="-122"/>
              </a:defRPr>
            </a:lvl1pPr>
            <a:lvl2pPr marL="742950" indent="-285750">
              <a:defRPr sz="1300">
                <a:solidFill>
                  <a:schemeClr val="tx1"/>
                </a:solidFill>
                <a:latin typeface="Arial" panose="020B0604020202020204" pitchFamily="34" charset="0"/>
                <a:ea typeface="微软雅黑" panose="020B0503020204020204" pitchFamily="34" charset="-122"/>
              </a:defRPr>
            </a:lvl2pPr>
            <a:lvl3pPr marL="1143000" indent="-228600">
              <a:defRPr sz="1300">
                <a:solidFill>
                  <a:schemeClr val="tx1"/>
                </a:solidFill>
                <a:latin typeface="Arial" panose="020B0604020202020204" pitchFamily="34" charset="0"/>
                <a:ea typeface="微软雅黑" panose="020B0503020204020204" pitchFamily="34" charset="-122"/>
              </a:defRPr>
            </a:lvl3pPr>
            <a:lvl4pPr marL="1600200" indent="-228600">
              <a:defRPr sz="1300">
                <a:solidFill>
                  <a:schemeClr val="tx1"/>
                </a:solidFill>
                <a:latin typeface="Arial" panose="020B0604020202020204" pitchFamily="34" charset="0"/>
                <a:ea typeface="微软雅黑" panose="020B0503020204020204" pitchFamily="34" charset="-122"/>
              </a:defRPr>
            </a:lvl4pPr>
            <a:lvl5pPr marL="2057400" indent="-228600">
              <a:defRPr sz="1300">
                <a:solidFill>
                  <a:schemeClr val="tx1"/>
                </a:solidFill>
                <a:latin typeface="Arial" panose="020B0604020202020204" pitchFamily="34" charset="0"/>
                <a:ea typeface="微软雅黑" panose="020B0503020204020204" pitchFamily="34"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微软雅黑" panose="020B0503020204020204" pitchFamily="34" charset="-122"/>
              </a:defRPr>
            </a:lvl9pPr>
          </a:lstStyle>
          <a:p>
            <a:pPr defTabSz="685800" fontAlgn="base">
              <a:spcBef>
                <a:spcPct val="0"/>
              </a:spcBef>
              <a:spcAft>
                <a:spcPct val="0"/>
              </a:spcAft>
              <a:tabLst>
                <a:tab pos="2865755" algn="l"/>
              </a:tabLst>
            </a:pP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内容：</a:t>
            </a:r>
            <a:r>
              <a:rPr lang="en-US" altLang="zh-CN"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Waffle</a:t>
            </a:r>
            <a:r>
              <a:rPr lang="zh-CN" altLang="en-US" sz="1865">
                <a:solidFill>
                  <a:srgbClr val="345780"/>
                </a:solidFill>
                <a:latin typeface="方正准圆简体" panose="03000509000000000000" pitchFamily="65" charset="-122"/>
                <a:ea typeface="方正准圆简体" panose="03000509000000000000" pitchFamily="65" charset="-122"/>
                <a:sym typeface="Calibri" panose="020F0502020204030204" pitchFamily="34" charset="0"/>
              </a:rPr>
              <a:t>仿真循线跟踪</a:t>
            </a:r>
          </a:p>
        </p:txBody>
      </p:sp>
      <p:grpSp>
        <p:nvGrpSpPr>
          <p:cNvPr id="14" name="Group 59">
            <a:extLst>
              <a:ext uri="{FF2B5EF4-FFF2-40B4-BE49-F238E27FC236}">
                <a16:creationId xmlns:a16="http://schemas.microsoft.com/office/drawing/2014/main" id="{06848B52-D03E-43E0-8605-71C66A6DDD5E}"/>
              </a:ext>
            </a:extLst>
          </p:cNvPr>
          <p:cNvGrpSpPr>
            <a:grpSpLocks noChangeAspect="1"/>
          </p:cNvGrpSpPr>
          <p:nvPr/>
        </p:nvGrpSpPr>
        <p:grpSpPr bwMode="auto">
          <a:xfrm>
            <a:off x="3652872" y="4551022"/>
            <a:ext cx="290891" cy="317537"/>
            <a:chOff x="1066" y="1985"/>
            <a:chExt cx="262" cy="286"/>
          </a:xfrm>
          <a:solidFill>
            <a:schemeClr val="bg1"/>
          </a:solidFill>
        </p:grpSpPr>
        <p:sp>
          <p:nvSpPr>
            <p:cNvPr id="15" name="Freeform 60">
              <a:extLst>
                <a:ext uri="{FF2B5EF4-FFF2-40B4-BE49-F238E27FC236}">
                  <a16:creationId xmlns:a16="http://schemas.microsoft.com/office/drawing/2014/main" id="{65AFB32E-06C3-45D3-9241-D2D91F6B4D89}"/>
                </a:ext>
              </a:extLst>
            </p:cNvPr>
            <p:cNvSpPr>
              <a:spLocks noEditPoints="1"/>
            </p:cNvSpPr>
            <p:nvPr/>
          </p:nvSpPr>
          <p:spPr bwMode="auto">
            <a:xfrm>
              <a:off x="1066" y="2005"/>
              <a:ext cx="262" cy="266"/>
            </a:xfrm>
            <a:custGeom>
              <a:avLst/>
              <a:gdLst>
                <a:gd name="T0" fmla="*/ 572 w 642"/>
                <a:gd name="T1" fmla="*/ 655 h 655"/>
                <a:gd name="T2" fmla="*/ 70 w 642"/>
                <a:gd name="T3" fmla="*/ 655 h 655"/>
                <a:gd name="T4" fmla="*/ 19 w 642"/>
                <a:gd name="T5" fmla="*/ 630 h 655"/>
                <a:gd name="T6" fmla="*/ 0 w 642"/>
                <a:gd name="T7" fmla="*/ 575 h 655"/>
                <a:gd name="T8" fmla="*/ 0 w 642"/>
                <a:gd name="T9" fmla="*/ 80 h 655"/>
                <a:gd name="T10" fmla="*/ 19 w 642"/>
                <a:gd name="T11" fmla="*/ 25 h 655"/>
                <a:gd name="T12" fmla="*/ 70 w 642"/>
                <a:gd name="T13" fmla="*/ 0 h 655"/>
                <a:gd name="T14" fmla="*/ 93 w 642"/>
                <a:gd name="T15" fmla="*/ 0 h 655"/>
                <a:gd name="T16" fmla="*/ 111 w 642"/>
                <a:gd name="T17" fmla="*/ 18 h 655"/>
                <a:gd name="T18" fmla="*/ 93 w 642"/>
                <a:gd name="T19" fmla="*/ 36 h 655"/>
                <a:gd name="T20" fmla="*/ 70 w 642"/>
                <a:gd name="T21" fmla="*/ 36 h 655"/>
                <a:gd name="T22" fmla="*/ 47 w 642"/>
                <a:gd name="T23" fmla="*/ 48 h 655"/>
                <a:gd name="T24" fmla="*/ 36 w 642"/>
                <a:gd name="T25" fmla="*/ 80 h 655"/>
                <a:gd name="T26" fmla="*/ 36 w 642"/>
                <a:gd name="T27" fmla="*/ 575 h 655"/>
                <a:gd name="T28" fmla="*/ 47 w 642"/>
                <a:gd name="T29" fmla="*/ 607 h 655"/>
                <a:gd name="T30" fmla="*/ 70 w 642"/>
                <a:gd name="T31" fmla="*/ 619 h 655"/>
                <a:gd name="T32" fmla="*/ 572 w 642"/>
                <a:gd name="T33" fmla="*/ 619 h 655"/>
                <a:gd name="T34" fmla="*/ 595 w 642"/>
                <a:gd name="T35" fmla="*/ 607 h 655"/>
                <a:gd name="T36" fmla="*/ 606 w 642"/>
                <a:gd name="T37" fmla="*/ 575 h 655"/>
                <a:gd name="T38" fmla="*/ 606 w 642"/>
                <a:gd name="T39" fmla="*/ 80 h 655"/>
                <a:gd name="T40" fmla="*/ 595 w 642"/>
                <a:gd name="T41" fmla="*/ 48 h 655"/>
                <a:gd name="T42" fmla="*/ 572 w 642"/>
                <a:gd name="T43" fmla="*/ 36 h 655"/>
                <a:gd name="T44" fmla="*/ 547 w 642"/>
                <a:gd name="T45" fmla="*/ 36 h 655"/>
                <a:gd name="T46" fmla="*/ 529 w 642"/>
                <a:gd name="T47" fmla="*/ 18 h 655"/>
                <a:gd name="T48" fmla="*/ 547 w 642"/>
                <a:gd name="T49" fmla="*/ 0 h 655"/>
                <a:gd name="T50" fmla="*/ 572 w 642"/>
                <a:gd name="T51" fmla="*/ 0 h 655"/>
                <a:gd name="T52" fmla="*/ 622 w 642"/>
                <a:gd name="T53" fmla="*/ 25 h 655"/>
                <a:gd name="T54" fmla="*/ 642 w 642"/>
                <a:gd name="T55" fmla="*/ 80 h 655"/>
                <a:gd name="T56" fmla="*/ 642 w 642"/>
                <a:gd name="T57" fmla="*/ 575 h 655"/>
                <a:gd name="T58" fmla="*/ 622 w 642"/>
                <a:gd name="T59" fmla="*/ 630 h 655"/>
                <a:gd name="T60" fmla="*/ 572 w 642"/>
                <a:gd name="T61" fmla="*/ 655 h 655"/>
                <a:gd name="T62" fmla="*/ 418 w 642"/>
                <a:gd name="T63" fmla="*/ 36 h 655"/>
                <a:gd name="T64" fmla="*/ 224 w 642"/>
                <a:gd name="T65" fmla="*/ 36 h 655"/>
                <a:gd name="T66" fmla="*/ 206 w 642"/>
                <a:gd name="T67" fmla="*/ 18 h 655"/>
                <a:gd name="T68" fmla="*/ 224 w 642"/>
                <a:gd name="T69" fmla="*/ 0 h 655"/>
                <a:gd name="T70" fmla="*/ 418 w 642"/>
                <a:gd name="T71" fmla="*/ 0 h 655"/>
                <a:gd name="T72" fmla="*/ 436 w 642"/>
                <a:gd name="T73" fmla="*/ 18 h 655"/>
                <a:gd name="T74" fmla="*/ 418 w 642"/>
                <a:gd name="T75" fmla="*/ 36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42" h="655">
                  <a:moveTo>
                    <a:pt x="572" y="655"/>
                  </a:moveTo>
                  <a:cubicBezTo>
                    <a:pt x="70" y="655"/>
                    <a:pt x="70" y="655"/>
                    <a:pt x="70" y="655"/>
                  </a:cubicBezTo>
                  <a:cubicBezTo>
                    <a:pt x="51" y="655"/>
                    <a:pt x="33" y="646"/>
                    <a:pt x="19" y="630"/>
                  </a:cubicBezTo>
                  <a:cubicBezTo>
                    <a:pt x="7" y="615"/>
                    <a:pt x="0" y="596"/>
                    <a:pt x="0" y="575"/>
                  </a:cubicBezTo>
                  <a:cubicBezTo>
                    <a:pt x="0" y="80"/>
                    <a:pt x="0" y="80"/>
                    <a:pt x="0" y="80"/>
                  </a:cubicBezTo>
                  <a:cubicBezTo>
                    <a:pt x="0" y="60"/>
                    <a:pt x="7" y="40"/>
                    <a:pt x="19" y="25"/>
                  </a:cubicBezTo>
                  <a:cubicBezTo>
                    <a:pt x="33" y="9"/>
                    <a:pt x="51" y="0"/>
                    <a:pt x="70" y="0"/>
                  </a:cubicBezTo>
                  <a:cubicBezTo>
                    <a:pt x="93" y="0"/>
                    <a:pt x="93" y="0"/>
                    <a:pt x="93" y="0"/>
                  </a:cubicBezTo>
                  <a:cubicBezTo>
                    <a:pt x="103" y="0"/>
                    <a:pt x="111" y="8"/>
                    <a:pt x="111" y="18"/>
                  </a:cubicBezTo>
                  <a:cubicBezTo>
                    <a:pt x="111" y="28"/>
                    <a:pt x="103" y="36"/>
                    <a:pt x="93" y="36"/>
                  </a:cubicBezTo>
                  <a:cubicBezTo>
                    <a:pt x="70" y="36"/>
                    <a:pt x="70" y="36"/>
                    <a:pt x="70" y="36"/>
                  </a:cubicBezTo>
                  <a:cubicBezTo>
                    <a:pt x="61" y="36"/>
                    <a:pt x="53" y="40"/>
                    <a:pt x="47" y="48"/>
                  </a:cubicBezTo>
                  <a:cubicBezTo>
                    <a:pt x="40" y="56"/>
                    <a:pt x="36" y="68"/>
                    <a:pt x="36" y="80"/>
                  </a:cubicBezTo>
                  <a:cubicBezTo>
                    <a:pt x="36" y="575"/>
                    <a:pt x="36" y="575"/>
                    <a:pt x="36" y="575"/>
                  </a:cubicBezTo>
                  <a:cubicBezTo>
                    <a:pt x="36" y="587"/>
                    <a:pt x="40" y="599"/>
                    <a:pt x="47" y="607"/>
                  </a:cubicBezTo>
                  <a:cubicBezTo>
                    <a:pt x="53" y="615"/>
                    <a:pt x="61" y="619"/>
                    <a:pt x="70" y="619"/>
                  </a:cubicBezTo>
                  <a:cubicBezTo>
                    <a:pt x="572" y="619"/>
                    <a:pt x="572" y="619"/>
                    <a:pt x="572" y="619"/>
                  </a:cubicBezTo>
                  <a:cubicBezTo>
                    <a:pt x="580" y="619"/>
                    <a:pt x="588" y="615"/>
                    <a:pt x="595" y="607"/>
                  </a:cubicBezTo>
                  <a:cubicBezTo>
                    <a:pt x="602" y="599"/>
                    <a:pt x="606" y="587"/>
                    <a:pt x="606" y="575"/>
                  </a:cubicBezTo>
                  <a:cubicBezTo>
                    <a:pt x="606" y="80"/>
                    <a:pt x="606" y="80"/>
                    <a:pt x="606" y="80"/>
                  </a:cubicBezTo>
                  <a:cubicBezTo>
                    <a:pt x="606" y="68"/>
                    <a:pt x="602" y="56"/>
                    <a:pt x="595" y="48"/>
                  </a:cubicBezTo>
                  <a:cubicBezTo>
                    <a:pt x="588" y="40"/>
                    <a:pt x="580" y="36"/>
                    <a:pt x="572" y="36"/>
                  </a:cubicBezTo>
                  <a:cubicBezTo>
                    <a:pt x="547" y="36"/>
                    <a:pt x="547" y="36"/>
                    <a:pt x="547" y="36"/>
                  </a:cubicBezTo>
                  <a:cubicBezTo>
                    <a:pt x="537" y="36"/>
                    <a:pt x="529" y="28"/>
                    <a:pt x="529" y="18"/>
                  </a:cubicBezTo>
                  <a:cubicBezTo>
                    <a:pt x="529" y="8"/>
                    <a:pt x="537" y="0"/>
                    <a:pt x="547" y="0"/>
                  </a:cubicBezTo>
                  <a:cubicBezTo>
                    <a:pt x="572" y="0"/>
                    <a:pt x="572" y="0"/>
                    <a:pt x="572" y="0"/>
                  </a:cubicBezTo>
                  <a:cubicBezTo>
                    <a:pt x="591" y="0"/>
                    <a:pt x="609" y="9"/>
                    <a:pt x="622" y="25"/>
                  </a:cubicBezTo>
                  <a:cubicBezTo>
                    <a:pt x="635" y="40"/>
                    <a:pt x="642" y="60"/>
                    <a:pt x="642" y="80"/>
                  </a:cubicBezTo>
                  <a:cubicBezTo>
                    <a:pt x="642" y="575"/>
                    <a:pt x="642" y="575"/>
                    <a:pt x="642" y="575"/>
                  </a:cubicBezTo>
                  <a:cubicBezTo>
                    <a:pt x="642" y="596"/>
                    <a:pt x="635" y="615"/>
                    <a:pt x="622" y="630"/>
                  </a:cubicBezTo>
                  <a:cubicBezTo>
                    <a:pt x="609" y="646"/>
                    <a:pt x="591" y="655"/>
                    <a:pt x="572" y="655"/>
                  </a:cubicBezTo>
                  <a:close/>
                  <a:moveTo>
                    <a:pt x="418" y="36"/>
                  </a:moveTo>
                  <a:cubicBezTo>
                    <a:pt x="224" y="36"/>
                    <a:pt x="224" y="36"/>
                    <a:pt x="224" y="36"/>
                  </a:cubicBezTo>
                  <a:cubicBezTo>
                    <a:pt x="214" y="36"/>
                    <a:pt x="206" y="28"/>
                    <a:pt x="206" y="18"/>
                  </a:cubicBezTo>
                  <a:cubicBezTo>
                    <a:pt x="206" y="8"/>
                    <a:pt x="214" y="0"/>
                    <a:pt x="224" y="0"/>
                  </a:cubicBezTo>
                  <a:cubicBezTo>
                    <a:pt x="418" y="0"/>
                    <a:pt x="418" y="0"/>
                    <a:pt x="418" y="0"/>
                  </a:cubicBezTo>
                  <a:cubicBezTo>
                    <a:pt x="428" y="0"/>
                    <a:pt x="436" y="8"/>
                    <a:pt x="436" y="18"/>
                  </a:cubicBezTo>
                  <a:cubicBezTo>
                    <a:pt x="436" y="28"/>
                    <a:pt x="428" y="36"/>
                    <a:pt x="418"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6" name="Freeform 61">
              <a:extLst>
                <a:ext uri="{FF2B5EF4-FFF2-40B4-BE49-F238E27FC236}">
                  <a16:creationId xmlns:a16="http://schemas.microsoft.com/office/drawing/2014/main" id="{42E249E5-CB8F-49AB-ACAC-32DC1584A0E8}"/>
                </a:ext>
              </a:extLst>
            </p:cNvPr>
            <p:cNvSpPr>
              <a:spLocks noEditPoints="1"/>
            </p:cNvSpPr>
            <p:nvPr/>
          </p:nvSpPr>
          <p:spPr bwMode="auto">
            <a:xfrm>
              <a:off x="1124" y="1985"/>
              <a:ext cx="146" cy="64"/>
            </a:xfrm>
            <a:custGeom>
              <a:avLst/>
              <a:gdLst>
                <a:gd name="T0" fmla="*/ 18 w 357"/>
                <a:gd name="T1" fmla="*/ 0 h 157"/>
                <a:gd name="T2" fmla="*/ 36 w 357"/>
                <a:gd name="T3" fmla="*/ 18 h 157"/>
                <a:gd name="T4" fmla="*/ 36 w 357"/>
                <a:gd name="T5" fmla="*/ 139 h 157"/>
                <a:gd name="T6" fmla="*/ 18 w 357"/>
                <a:gd name="T7" fmla="*/ 157 h 157"/>
                <a:gd name="T8" fmla="*/ 0 w 357"/>
                <a:gd name="T9" fmla="*/ 139 h 157"/>
                <a:gd name="T10" fmla="*/ 0 w 357"/>
                <a:gd name="T11" fmla="*/ 18 h 157"/>
                <a:gd name="T12" fmla="*/ 18 w 357"/>
                <a:gd name="T13" fmla="*/ 0 h 157"/>
                <a:gd name="T14" fmla="*/ 339 w 357"/>
                <a:gd name="T15" fmla="*/ 0 h 157"/>
                <a:gd name="T16" fmla="*/ 357 w 357"/>
                <a:gd name="T17" fmla="*/ 18 h 157"/>
                <a:gd name="T18" fmla="*/ 357 w 357"/>
                <a:gd name="T19" fmla="*/ 139 h 157"/>
                <a:gd name="T20" fmla="*/ 339 w 357"/>
                <a:gd name="T21" fmla="*/ 157 h 157"/>
                <a:gd name="T22" fmla="*/ 321 w 357"/>
                <a:gd name="T23" fmla="*/ 139 h 157"/>
                <a:gd name="T24" fmla="*/ 321 w 357"/>
                <a:gd name="T25" fmla="*/ 18 h 157"/>
                <a:gd name="T26" fmla="*/ 339 w 357"/>
                <a:gd name="T27"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7" h="157">
                  <a:moveTo>
                    <a:pt x="18" y="0"/>
                  </a:moveTo>
                  <a:cubicBezTo>
                    <a:pt x="28" y="0"/>
                    <a:pt x="36" y="8"/>
                    <a:pt x="36" y="18"/>
                  </a:cubicBezTo>
                  <a:cubicBezTo>
                    <a:pt x="36" y="139"/>
                    <a:pt x="36" y="139"/>
                    <a:pt x="36" y="139"/>
                  </a:cubicBezTo>
                  <a:cubicBezTo>
                    <a:pt x="36" y="149"/>
                    <a:pt x="28" y="157"/>
                    <a:pt x="18" y="157"/>
                  </a:cubicBezTo>
                  <a:cubicBezTo>
                    <a:pt x="8" y="157"/>
                    <a:pt x="0" y="149"/>
                    <a:pt x="0" y="139"/>
                  </a:cubicBezTo>
                  <a:cubicBezTo>
                    <a:pt x="0" y="18"/>
                    <a:pt x="0" y="18"/>
                    <a:pt x="0" y="18"/>
                  </a:cubicBezTo>
                  <a:cubicBezTo>
                    <a:pt x="0" y="8"/>
                    <a:pt x="8" y="0"/>
                    <a:pt x="18" y="0"/>
                  </a:cubicBezTo>
                  <a:close/>
                  <a:moveTo>
                    <a:pt x="339" y="0"/>
                  </a:moveTo>
                  <a:cubicBezTo>
                    <a:pt x="349" y="0"/>
                    <a:pt x="357" y="8"/>
                    <a:pt x="357" y="18"/>
                  </a:cubicBezTo>
                  <a:cubicBezTo>
                    <a:pt x="357" y="139"/>
                    <a:pt x="357" y="139"/>
                    <a:pt x="357" y="139"/>
                  </a:cubicBezTo>
                  <a:cubicBezTo>
                    <a:pt x="357" y="149"/>
                    <a:pt x="349" y="157"/>
                    <a:pt x="339" y="157"/>
                  </a:cubicBezTo>
                  <a:cubicBezTo>
                    <a:pt x="329" y="157"/>
                    <a:pt x="321" y="149"/>
                    <a:pt x="321" y="139"/>
                  </a:cubicBezTo>
                  <a:cubicBezTo>
                    <a:pt x="321" y="18"/>
                    <a:pt x="321" y="18"/>
                    <a:pt x="321" y="18"/>
                  </a:cubicBezTo>
                  <a:cubicBezTo>
                    <a:pt x="321" y="8"/>
                    <a:pt x="329" y="0"/>
                    <a:pt x="33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7" name="Freeform 62">
              <a:extLst>
                <a:ext uri="{FF2B5EF4-FFF2-40B4-BE49-F238E27FC236}">
                  <a16:creationId xmlns:a16="http://schemas.microsoft.com/office/drawing/2014/main" id="{45829222-856C-4259-9584-C856FD8F1A20}"/>
                </a:ext>
              </a:extLst>
            </p:cNvPr>
            <p:cNvSpPr>
              <a:spLocks noEditPoints="1"/>
            </p:cNvSpPr>
            <p:nvPr/>
          </p:nvSpPr>
          <p:spPr bwMode="auto">
            <a:xfrm>
              <a:off x="1074" y="2044"/>
              <a:ext cx="246" cy="183"/>
            </a:xfrm>
            <a:custGeom>
              <a:avLst/>
              <a:gdLst>
                <a:gd name="T0" fmla="*/ 0 w 603"/>
                <a:gd name="T1" fmla="*/ 18 h 450"/>
                <a:gd name="T2" fmla="*/ 18 w 603"/>
                <a:gd name="T3" fmla="*/ 0 h 450"/>
                <a:gd name="T4" fmla="*/ 585 w 603"/>
                <a:gd name="T5" fmla="*/ 0 h 450"/>
                <a:gd name="T6" fmla="*/ 603 w 603"/>
                <a:gd name="T7" fmla="*/ 18 h 450"/>
                <a:gd name="T8" fmla="*/ 585 w 603"/>
                <a:gd name="T9" fmla="*/ 36 h 450"/>
                <a:gd name="T10" fmla="*/ 18 w 603"/>
                <a:gd name="T11" fmla="*/ 36 h 450"/>
                <a:gd name="T12" fmla="*/ 0 w 603"/>
                <a:gd name="T13" fmla="*/ 18 h 450"/>
                <a:gd name="T14" fmla="*/ 306 w 603"/>
                <a:gd name="T15" fmla="*/ 450 h 450"/>
                <a:gd name="T16" fmla="*/ 184 w 603"/>
                <a:gd name="T17" fmla="*/ 400 h 450"/>
                <a:gd name="T18" fmla="*/ 134 w 603"/>
                <a:gd name="T19" fmla="*/ 279 h 450"/>
                <a:gd name="T20" fmla="*/ 184 w 603"/>
                <a:gd name="T21" fmla="*/ 158 h 450"/>
                <a:gd name="T22" fmla="*/ 306 w 603"/>
                <a:gd name="T23" fmla="*/ 107 h 450"/>
                <a:gd name="T24" fmla="*/ 324 w 603"/>
                <a:gd name="T25" fmla="*/ 125 h 450"/>
                <a:gd name="T26" fmla="*/ 306 w 603"/>
                <a:gd name="T27" fmla="*/ 143 h 450"/>
                <a:gd name="T28" fmla="*/ 170 w 603"/>
                <a:gd name="T29" fmla="*/ 279 h 450"/>
                <a:gd name="T30" fmla="*/ 306 w 603"/>
                <a:gd name="T31" fmla="*/ 414 h 450"/>
                <a:gd name="T32" fmla="*/ 441 w 603"/>
                <a:gd name="T33" fmla="*/ 279 h 450"/>
                <a:gd name="T34" fmla="*/ 459 w 603"/>
                <a:gd name="T35" fmla="*/ 261 h 450"/>
                <a:gd name="T36" fmla="*/ 477 w 603"/>
                <a:gd name="T37" fmla="*/ 279 h 450"/>
                <a:gd name="T38" fmla="*/ 427 w 603"/>
                <a:gd name="T39" fmla="*/ 400 h 450"/>
                <a:gd name="T40" fmla="*/ 306 w 603"/>
                <a:gd name="T41" fmla="*/ 450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03" h="450">
                  <a:moveTo>
                    <a:pt x="0" y="18"/>
                  </a:moveTo>
                  <a:cubicBezTo>
                    <a:pt x="0" y="8"/>
                    <a:pt x="8" y="0"/>
                    <a:pt x="18" y="0"/>
                  </a:cubicBezTo>
                  <a:cubicBezTo>
                    <a:pt x="585" y="0"/>
                    <a:pt x="585" y="0"/>
                    <a:pt x="585" y="0"/>
                  </a:cubicBezTo>
                  <a:cubicBezTo>
                    <a:pt x="595" y="0"/>
                    <a:pt x="603" y="8"/>
                    <a:pt x="603" y="18"/>
                  </a:cubicBezTo>
                  <a:cubicBezTo>
                    <a:pt x="603" y="28"/>
                    <a:pt x="595" y="36"/>
                    <a:pt x="585" y="36"/>
                  </a:cubicBezTo>
                  <a:cubicBezTo>
                    <a:pt x="18" y="36"/>
                    <a:pt x="18" y="36"/>
                    <a:pt x="18" y="36"/>
                  </a:cubicBezTo>
                  <a:cubicBezTo>
                    <a:pt x="8" y="36"/>
                    <a:pt x="0" y="28"/>
                    <a:pt x="0" y="18"/>
                  </a:cubicBezTo>
                  <a:close/>
                  <a:moveTo>
                    <a:pt x="306" y="450"/>
                  </a:moveTo>
                  <a:cubicBezTo>
                    <a:pt x="260" y="450"/>
                    <a:pt x="217" y="433"/>
                    <a:pt x="184" y="400"/>
                  </a:cubicBezTo>
                  <a:cubicBezTo>
                    <a:pt x="152" y="368"/>
                    <a:pt x="134" y="325"/>
                    <a:pt x="134" y="279"/>
                  </a:cubicBezTo>
                  <a:cubicBezTo>
                    <a:pt x="134" y="233"/>
                    <a:pt x="152" y="190"/>
                    <a:pt x="184" y="158"/>
                  </a:cubicBezTo>
                  <a:cubicBezTo>
                    <a:pt x="217" y="125"/>
                    <a:pt x="260" y="107"/>
                    <a:pt x="306" y="107"/>
                  </a:cubicBezTo>
                  <a:cubicBezTo>
                    <a:pt x="316" y="107"/>
                    <a:pt x="324" y="115"/>
                    <a:pt x="324" y="125"/>
                  </a:cubicBezTo>
                  <a:cubicBezTo>
                    <a:pt x="324" y="135"/>
                    <a:pt x="316" y="143"/>
                    <a:pt x="306" y="143"/>
                  </a:cubicBezTo>
                  <a:cubicBezTo>
                    <a:pt x="231" y="143"/>
                    <a:pt x="170" y="204"/>
                    <a:pt x="170" y="279"/>
                  </a:cubicBezTo>
                  <a:cubicBezTo>
                    <a:pt x="170" y="354"/>
                    <a:pt x="231" y="414"/>
                    <a:pt x="306" y="414"/>
                  </a:cubicBezTo>
                  <a:cubicBezTo>
                    <a:pt x="380" y="414"/>
                    <a:pt x="441" y="354"/>
                    <a:pt x="441" y="279"/>
                  </a:cubicBezTo>
                  <a:cubicBezTo>
                    <a:pt x="441" y="269"/>
                    <a:pt x="449" y="261"/>
                    <a:pt x="459" y="261"/>
                  </a:cubicBezTo>
                  <a:cubicBezTo>
                    <a:pt x="469" y="261"/>
                    <a:pt x="477" y="269"/>
                    <a:pt x="477" y="279"/>
                  </a:cubicBezTo>
                  <a:cubicBezTo>
                    <a:pt x="477" y="325"/>
                    <a:pt x="459" y="368"/>
                    <a:pt x="427" y="400"/>
                  </a:cubicBezTo>
                  <a:cubicBezTo>
                    <a:pt x="395" y="433"/>
                    <a:pt x="351" y="450"/>
                    <a:pt x="306" y="4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sp>
          <p:nvSpPr>
            <p:cNvPr id="18" name="Freeform 63">
              <a:extLst>
                <a:ext uri="{FF2B5EF4-FFF2-40B4-BE49-F238E27FC236}">
                  <a16:creationId xmlns:a16="http://schemas.microsoft.com/office/drawing/2014/main" id="{6571DE4D-C05A-45D1-8431-0F042F30CA2C}"/>
                </a:ext>
              </a:extLst>
            </p:cNvPr>
            <p:cNvSpPr/>
            <p:nvPr/>
          </p:nvSpPr>
          <p:spPr bwMode="auto">
            <a:xfrm>
              <a:off x="1193" y="2088"/>
              <a:ext cx="53" cy="72"/>
            </a:xfrm>
            <a:custGeom>
              <a:avLst/>
              <a:gdLst>
                <a:gd name="T0" fmla="*/ 113 w 131"/>
                <a:gd name="T1" fmla="*/ 176 h 176"/>
                <a:gd name="T2" fmla="*/ 18 w 131"/>
                <a:gd name="T3" fmla="*/ 176 h 176"/>
                <a:gd name="T4" fmla="*/ 0 w 131"/>
                <a:gd name="T5" fmla="*/ 158 h 176"/>
                <a:gd name="T6" fmla="*/ 0 w 131"/>
                <a:gd name="T7" fmla="*/ 18 h 176"/>
                <a:gd name="T8" fmla="*/ 18 w 131"/>
                <a:gd name="T9" fmla="*/ 0 h 176"/>
                <a:gd name="T10" fmla="*/ 36 w 131"/>
                <a:gd name="T11" fmla="*/ 18 h 176"/>
                <a:gd name="T12" fmla="*/ 36 w 131"/>
                <a:gd name="T13" fmla="*/ 140 h 176"/>
                <a:gd name="T14" fmla="*/ 113 w 131"/>
                <a:gd name="T15" fmla="*/ 140 h 176"/>
                <a:gd name="T16" fmla="*/ 131 w 131"/>
                <a:gd name="T17" fmla="*/ 158 h 176"/>
                <a:gd name="T18" fmla="*/ 113 w 131"/>
                <a:gd name="T19"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76">
                  <a:moveTo>
                    <a:pt x="113" y="176"/>
                  </a:moveTo>
                  <a:cubicBezTo>
                    <a:pt x="18" y="176"/>
                    <a:pt x="18" y="176"/>
                    <a:pt x="18" y="176"/>
                  </a:cubicBezTo>
                  <a:cubicBezTo>
                    <a:pt x="8" y="176"/>
                    <a:pt x="0" y="168"/>
                    <a:pt x="0" y="158"/>
                  </a:cubicBezTo>
                  <a:cubicBezTo>
                    <a:pt x="0" y="18"/>
                    <a:pt x="0" y="18"/>
                    <a:pt x="0" y="18"/>
                  </a:cubicBezTo>
                  <a:cubicBezTo>
                    <a:pt x="0" y="8"/>
                    <a:pt x="8" y="0"/>
                    <a:pt x="18" y="0"/>
                  </a:cubicBezTo>
                  <a:cubicBezTo>
                    <a:pt x="28" y="0"/>
                    <a:pt x="36" y="8"/>
                    <a:pt x="36" y="18"/>
                  </a:cubicBezTo>
                  <a:cubicBezTo>
                    <a:pt x="36" y="140"/>
                    <a:pt x="36" y="140"/>
                    <a:pt x="36" y="140"/>
                  </a:cubicBezTo>
                  <a:cubicBezTo>
                    <a:pt x="113" y="140"/>
                    <a:pt x="113" y="140"/>
                    <a:pt x="113" y="140"/>
                  </a:cubicBezTo>
                  <a:cubicBezTo>
                    <a:pt x="123" y="140"/>
                    <a:pt x="131" y="148"/>
                    <a:pt x="131" y="158"/>
                  </a:cubicBezTo>
                  <a:cubicBezTo>
                    <a:pt x="131" y="168"/>
                    <a:pt x="123" y="176"/>
                    <a:pt x="113" y="1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212834"/>
                </a:solidFill>
              </a:endParaRPr>
            </a:p>
          </p:txBody>
        </p:sp>
      </p:grpSp>
      <p:grpSp>
        <p:nvGrpSpPr>
          <p:cNvPr id="19" name="Group 66">
            <a:extLst>
              <a:ext uri="{FF2B5EF4-FFF2-40B4-BE49-F238E27FC236}">
                <a16:creationId xmlns:a16="http://schemas.microsoft.com/office/drawing/2014/main" id="{8DB7D7DD-8C2E-4A99-91AF-824436473C7D}"/>
              </a:ext>
            </a:extLst>
          </p:cNvPr>
          <p:cNvGrpSpPr>
            <a:grpSpLocks noChangeAspect="1"/>
          </p:cNvGrpSpPr>
          <p:nvPr/>
        </p:nvGrpSpPr>
        <p:grpSpPr bwMode="auto">
          <a:xfrm>
            <a:off x="6418151" y="4542797"/>
            <a:ext cx="256116" cy="277284"/>
            <a:chOff x="2111" y="2322"/>
            <a:chExt cx="121" cy="131"/>
          </a:xfrm>
          <a:solidFill>
            <a:schemeClr val="bg1"/>
          </a:solidFill>
        </p:grpSpPr>
        <p:sp>
          <p:nvSpPr>
            <p:cNvPr id="20" name="Freeform 67">
              <a:extLst>
                <a:ext uri="{FF2B5EF4-FFF2-40B4-BE49-F238E27FC236}">
                  <a16:creationId xmlns:a16="http://schemas.microsoft.com/office/drawing/2014/main" id="{B81DA5CE-3648-48AA-BC46-E7EEFE7F991E}"/>
                </a:ext>
              </a:extLst>
            </p:cNvPr>
            <p:cNvSpPr/>
            <p:nvPr/>
          </p:nvSpPr>
          <p:spPr bwMode="auto">
            <a:xfrm>
              <a:off x="2159" y="2350"/>
              <a:ext cx="40" cy="37"/>
            </a:xfrm>
            <a:custGeom>
              <a:avLst/>
              <a:gdLst>
                <a:gd name="T0" fmla="*/ 89 w 213"/>
                <a:gd name="T1" fmla="*/ 19 h 198"/>
                <a:gd name="T2" fmla="*/ 196 w 213"/>
                <a:gd name="T3" fmla="*/ 143 h 198"/>
                <a:gd name="T4" fmla="*/ 208 w 213"/>
                <a:gd name="T5" fmla="*/ 189 h 198"/>
                <a:gd name="T6" fmla="*/ 206 w 213"/>
                <a:gd name="T7" fmla="*/ 191 h 198"/>
                <a:gd name="T8" fmla="*/ 158 w 213"/>
                <a:gd name="T9" fmla="*/ 186 h 198"/>
                <a:gd name="T10" fmla="*/ 22 w 213"/>
                <a:gd name="T11" fmla="*/ 92 h 198"/>
                <a:gd name="T12" fmla="*/ 13 w 213"/>
                <a:gd name="T13" fmla="*/ 44 h 198"/>
                <a:gd name="T14" fmla="*/ 40 w 213"/>
                <a:gd name="T15" fmla="*/ 15 h 198"/>
                <a:gd name="T16" fmla="*/ 89 w 213"/>
                <a:gd name="T17" fmla="*/ 1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98">
                  <a:moveTo>
                    <a:pt x="89" y="19"/>
                  </a:moveTo>
                  <a:cubicBezTo>
                    <a:pt x="196" y="143"/>
                    <a:pt x="196" y="143"/>
                    <a:pt x="196" y="143"/>
                  </a:cubicBezTo>
                  <a:cubicBezTo>
                    <a:pt x="210" y="160"/>
                    <a:pt x="213" y="183"/>
                    <a:pt x="208" y="189"/>
                  </a:cubicBezTo>
                  <a:cubicBezTo>
                    <a:pt x="206" y="191"/>
                    <a:pt x="206" y="191"/>
                    <a:pt x="206" y="191"/>
                  </a:cubicBezTo>
                  <a:cubicBezTo>
                    <a:pt x="200" y="197"/>
                    <a:pt x="176" y="198"/>
                    <a:pt x="158" y="186"/>
                  </a:cubicBezTo>
                  <a:cubicBezTo>
                    <a:pt x="22" y="92"/>
                    <a:pt x="22" y="92"/>
                    <a:pt x="22" y="92"/>
                  </a:cubicBezTo>
                  <a:cubicBezTo>
                    <a:pt x="4" y="80"/>
                    <a:pt x="0" y="58"/>
                    <a:pt x="13" y="44"/>
                  </a:cubicBezTo>
                  <a:cubicBezTo>
                    <a:pt x="40" y="15"/>
                    <a:pt x="40" y="15"/>
                    <a:pt x="40" y="15"/>
                  </a:cubicBezTo>
                  <a:cubicBezTo>
                    <a:pt x="53" y="0"/>
                    <a:pt x="74" y="2"/>
                    <a:pt x="89" y="19"/>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1" name="Freeform 68">
              <a:extLst>
                <a:ext uri="{FF2B5EF4-FFF2-40B4-BE49-F238E27FC236}">
                  <a16:creationId xmlns:a16="http://schemas.microsoft.com/office/drawing/2014/main" id="{70B9B73D-CC92-47F4-B10B-7BEF81CCB61B}"/>
                </a:ext>
              </a:extLst>
            </p:cNvPr>
            <p:cNvSpPr>
              <a:spLocks noEditPoints="1"/>
            </p:cNvSpPr>
            <p:nvPr/>
          </p:nvSpPr>
          <p:spPr bwMode="auto">
            <a:xfrm>
              <a:off x="2129" y="2322"/>
              <a:ext cx="71" cy="90"/>
            </a:xfrm>
            <a:custGeom>
              <a:avLst/>
              <a:gdLst>
                <a:gd name="T0" fmla="*/ 142 w 381"/>
                <a:gd name="T1" fmla="*/ 449 h 481"/>
                <a:gd name="T2" fmla="*/ 348 w 381"/>
                <a:gd name="T3" fmla="*/ 236 h 481"/>
                <a:gd name="T4" fmla="*/ 374 w 381"/>
                <a:gd name="T5" fmla="*/ 235 h 481"/>
                <a:gd name="T6" fmla="*/ 374 w 381"/>
                <a:gd name="T7" fmla="*/ 260 h 481"/>
                <a:gd name="T8" fmla="*/ 168 w 381"/>
                <a:gd name="T9" fmla="*/ 474 h 481"/>
                <a:gd name="T10" fmla="*/ 142 w 381"/>
                <a:gd name="T11" fmla="*/ 474 h 481"/>
                <a:gd name="T12" fmla="*/ 142 w 381"/>
                <a:gd name="T13" fmla="*/ 449 h 481"/>
                <a:gd name="T14" fmla="*/ 122 w 381"/>
                <a:gd name="T15" fmla="*/ 245 h 481"/>
                <a:gd name="T16" fmla="*/ 0 w 381"/>
                <a:gd name="T17" fmla="*/ 123 h 481"/>
                <a:gd name="T18" fmla="*/ 20 w 381"/>
                <a:gd name="T19" fmla="*/ 56 h 481"/>
                <a:gd name="T20" fmla="*/ 45 w 381"/>
                <a:gd name="T21" fmla="*/ 51 h 481"/>
                <a:gd name="T22" fmla="*/ 50 w 381"/>
                <a:gd name="T23" fmla="*/ 76 h 481"/>
                <a:gd name="T24" fmla="*/ 36 w 381"/>
                <a:gd name="T25" fmla="*/ 123 h 481"/>
                <a:gd name="T26" fmla="*/ 122 w 381"/>
                <a:gd name="T27" fmla="*/ 209 h 481"/>
                <a:gd name="T28" fmla="*/ 209 w 381"/>
                <a:gd name="T29" fmla="*/ 123 h 481"/>
                <a:gd name="T30" fmla="*/ 133 w 381"/>
                <a:gd name="T31" fmla="*/ 37 h 481"/>
                <a:gd name="T32" fmla="*/ 117 w 381"/>
                <a:gd name="T33" fmla="*/ 17 h 481"/>
                <a:gd name="T34" fmla="*/ 137 w 381"/>
                <a:gd name="T35" fmla="*/ 2 h 481"/>
                <a:gd name="T36" fmla="*/ 245 w 381"/>
                <a:gd name="T37" fmla="*/ 123 h 481"/>
                <a:gd name="T38" fmla="*/ 122 w 381"/>
                <a:gd name="T39" fmla="*/ 245 h 481"/>
                <a:gd name="T40" fmla="*/ 67 w 381"/>
                <a:gd name="T41" fmla="*/ 52 h 481"/>
                <a:gd name="T42" fmla="*/ 52 w 381"/>
                <a:gd name="T43" fmla="*/ 44 h 481"/>
                <a:gd name="T44" fmla="*/ 58 w 381"/>
                <a:gd name="T45" fmla="*/ 19 h 481"/>
                <a:gd name="T46" fmla="*/ 81 w 381"/>
                <a:gd name="T47" fmla="*/ 8 h 481"/>
                <a:gd name="T48" fmla="*/ 104 w 381"/>
                <a:gd name="T49" fmla="*/ 19 h 481"/>
                <a:gd name="T50" fmla="*/ 93 w 381"/>
                <a:gd name="T51" fmla="*/ 42 h 481"/>
                <a:gd name="T52" fmla="*/ 77 w 381"/>
                <a:gd name="T53" fmla="*/ 50 h 481"/>
                <a:gd name="T54" fmla="*/ 67 w 381"/>
                <a:gd name="T55" fmla="*/ 52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81" h="481">
                  <a:moveTo>
                    <a:pt x="142" y="449"/>
                  </a:moveTo>
                  <a:cubicBezTo>
                    <a:pt x="348" y="236"/>
                    <a:pt x="348" y="236"/>
                    <a:pt x="348" y="236"/>
                  </a:cubicBezTo>
                  <a:cubicBezTo>
                    <a:pt x="355" y="228"/>
                    <a:pt x="366" y="228"/>
                    <a:pt x="374" y="235"/>
                  </a:cubicBezTo>
                  <a:cubicBezTo>
                    <a:pt x="381" y="242"/>
                    <a:pt x="381" y="253"/>
                    <a:pt x="374" y="260"/>
                  </a:cubicBezTo>
                  <a:cubicBezTo>
                    <a:pt x="168" y="474"/>
                    <a:pt x="168" y="474"/>
                    <a:pt x="168" y="474"/>
                  </a:cubicBezTo>
                  <a:cubicBezTo>
                    <a:pt x="161" y="481"/>
                    <a:pt x="150" y="481"/>
                    <a:pt x="142" y="474"/>
                  </a:cubicBezTo>
                  <a:cubicBezTo>
                    <a:pt x="135" y="467"/>
                    <a:pt x="135" y="456"/>
                    <a:pt x="142" y="449"/>
                  </a:cubicBezTo>
                  <a:close/>
                  <a:moveTo>
                    <a:pt x="122" y="245"/>
                  </a:moveTo>
                  <a:cubicBezTo>
                    <a:pt x="55" y="245"/>
                    <a:pt x="0" y="190"/>
                    <a:pt x="0" y="123"/>
                  </a:cubicBezTo>
                  <a:cubicBezTo>
                    <a:pt x="0" y="99"/>
                    <a:pt x="7" y="76"/>
                    <a:pt x="20" y="56"/>
                  </a:cubicBezTo>
                  <a:cubicBezTo>
                    <a:pt x="26" y="48"/>
                    <a:pt x="37" y="45"/>
                    <a:pt x="45" y="51"/>
                  </a:cubicBezTo>
                  <a:cubicBezTo>
                    <a:pt x="53" y="56"/>
                    <a:pt x="56" y="67"/>
                    <a:pt x="50" y="76"/>
                  </a:cubicBezTo>
                  <a:cubicBezTo>
                    <a:pt x="41" y="90"/>
                    <a:pt x="36" y="106"/>
                    <a:pt x="36" y="123"/>
                  </a:cubicBezTo>
                  <a:cubicBezTo>
                    <a:pt x="36" y="171"/>
                    <a:pt x="75" y="209"/>
                    <a:pt x="122" y="209"/>
                  </a:cubicBezTo>
                  <a:cubicBezTo>
                    <a:pt x="170" y="209"/>
                    <a:pt x="209" y="171"/>
                    <a:pt x="209" y="123"/>
                  </a:cubicBezTo>
                  <a:cubicBezTo>
                    <a:pt x="209" y="79"/>
                    <a:pt x="176" y="42"/>
                    <a:pt x="133" y="37"/>
                  </a:cubicBezTo>
                  <a:cubicBezTo>
                    <a:pt x="123" y="36"/>
                    <a:pt x="116" y="27"/>
                    <a:pt x="117" y="17"/>
                  </a:cubicBezTo>
                  <a:cubicBezTo>
                    <a:pt x="118" y="7"/>
                    <a:pt x="127" y="0"/>
                    <a:pt x="137" y="2"/>
                  </a:cubicBezTo>
                  <a:cubicBezTo>
                    <a:pt x="198" y="9"/>
                    <a:pt x="245" y="61"/>
                    <a:pt x="245" y="123"/>
                  </a:cubicBezTo>
                  <a:cubicBezTo>
                    <a:pt x="245" y="190"/>
                    <a:pt x="190" y="245"/>
                    <a:pt x="122" y="245"/>
                  </a:cubicBezTo>
                  <a:close/>
                  <a:moveTo>
                    <a:pt x="67" y="52"/>
                  </a:moveTo>
                  <a:cubicBezTo>
                    <a:pt x="61" y="52"/>
                    <a:pt x="55" y="50"/>
                    <a:pt x="52" y="44"/>
                  </a:cubicBezTo>
                  <a:cubicBezTo>
                    <a:pt x="47" y="36"/>
                    <a:pt x="49" y="25"/>
                    <a:pt x="58" y="19"/>
                  </a:cubicBezTo>
                  <a:cubicBezTo>
                    <a:pt x="65" y="15"/>
                    <a:pt x="73" y="11"/>
                    <a:pt x="81" y="8"/>
                  </a:cubicBezTo>
                  <a:cubicBezTo>
                    <a:pt x="91" y="5"/>
                    <a:pt x="101" y="9"/>
                    <a:pt x="104" y="19"/>
                  </a:cubicBezTo>
                  <a:cubicBezTo>
                    <a:pt x="107" y="28"/>
                    <a:pt x="103" y="38"/>
                    <a:pt x="93" y="42"/>
                  </a:cubicBezTo>
                  <a:cubicBezTo>
                    <a:pt x="87" y="44"/>
                    <a:pt x="82" y="47"/>
                    <a:pt x="77" y="50"/>
                  </a:cubicBezTo>
                  <a:cubicBezTo>
                    <a:pt x="74" y="52"/>
                    <a:pt x="71" y="52"/>
                    <a:pt x="67" y="52"/>
                  </a:cubicBez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sp>
          <p:nvSpPr>
            <p:cNvPr id="22" name="Freeform 69">
              <a:extLst>
                <a:ext uri="{FF2B5EF4-FFF2-40B4-BE49-F238E27FC236}">
                  <a16:creationId xmlns:a16="http://schemas.microsoft.com/office/drawing/2014/main" id="{BB95EC14-8991-42D2-BEE7-A1D609F92B0F}"/>
                </a:ext>
              </a:extLst>
            </p:cNvPr>
            <p:cNvSpPr>
              <a:spLocks noEditPoints="1"/>
            </p:cNvSpPr>
            <p:nvPr/>
          </p:nvSpPr>
          <p:spPr bwMode="auto">
            <a:xfrm>
              <a:off x="2111" y="2406"/>
              <a:ext cx="121" cy="47"/>
            </a:xfrm>
            <a:custGeom>
              <a:avLst/>
              <a:gdLst>
                <a:gd name="T0" fmla="*/ 597 w 648"/>
                <a:gd name="T1" fmla="*/ 249 h 249"/>
                <a:gd name="T2" fmla="*/ 50 w 648"/>
                <a:gd name="T3" fmla="*/ 249 h 249"/>
                <a:gd name="T4" fmla="*/ 0 w 648"/>
                <a:gd name="T5" fmla="*/ 198 h 249"/>
                <a:gd name="T6" fmla="*/ 0 w 648"/>
                <a:gd name="T7" fmla="*/ 50 h 249"/>
                <a:gd name="T8" fmla="*/ 50 w 648"/>
                <a:gd name="T9" fmla="*/ 0 h 249"/>
                <a:gd name="T10" fmla="*/ 597 w 648"/>
                <a:gd name="T11" fmla="*/ 0 h 249"/>
                <a:gd name="T12" fmla="*/ 648 w 648"/>
                <a:gd name="T13" fmla="*/ 50 h 249"/>
                <a:gd name="T14" fmla="*/ 648 w 648"/>
                <a:gd name="T15" fmla="*/ 198 h 249"/>
                <a:gd name="T16" fmla="*/ 597 w 648"/>
                <a:gd name="T17" fmla="*/ 249 h 249"/>
                <a:gd name="T18" fmla="*/ 50 w 648"/>
                <a:gd name="T19" fmla="*/ 35 h 249"/>
                <a:gd name="T20" fmla="*/ 36 w 648"/>
                <a:gd name="T21" fmla="*/ 50 h 249"/>
                <a:gd name="T22" fmla="*/ 36 w 648"/>
                <a:gd name="T23" fmla="*/ 198 h 249"/>
                <a:gd name="T24" fmla="*/ 50 w 648"/>
                <a:gd name="T25" fmla="*/ 213 h 249"/>
                <a:gd name="T26" fmla="*/ 597 w 648"/>
                <a:gd name="T27" fmla="*/ 213 h 249"/>
                <a:gd name="T28" fmla="*/ 612 w 648"/>
                <a:gd name="T29" fmla="*/ 198 h 249"/>
                <a:gd name="T30" fmla="*/ 612 w 648"/>
                <a:gd name="T31" fmla="*/ 50 h 249"/>
                <a:gd name="T32" fmla="*/ 597 w 648"/>
                <a:gd name="T33" fmla="*/ 35 h 249"/>
                <a:gd name="T34" fmla="*/ 50 w 648"/>
                <a:gd name="T35" fmla="*/ 35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8" h="249">
                  <a:moveTo>
                    <a:pt x="597" y="249"/>
                  </a:moveTo>
                  <a:cubicBezTo>
                    <a:pt x="50" y="249"/>
                    <a:pt x="50" y="249"/>
                    <a:pt x="50" y="249"/>
                  </a:cubicBezTo>
                  <a:cubicBezTo>
                    <a:pt x="22" y="249"/>
                    <a:pt x="0" y="226"/>
                    <a:pt x="0" y="198"/>
                  </a:cubicBezTo>
                  <a:cubicBezTo>
                    <a:pt x="0" y="50"/>
                    <a:pt x="0" y="50"/>
                    <a:pt x="0" y="50"/>
                  </a:cubicBezTo>
                  <a:cubicBezTo>
                    <a:pt x="0" y="22"/>
                    <a:pt x="22" y="0"/>
                    <a:pt x="50" y="0"/>
                  </a:cubicBezTo>
                  <a:cubicBezTo>
                    <a:pt x="597" y="0"/>
                    <a:pt x="597" y="0"/>
                    <a:pt x="597" y="0"/>
                  </a:cubicBezTo>
                  <a:cubicBezTo>
                    <a:pt x="625" y="0"/>
                    <a:pt x="648" y="22"/>
                    <a:pt x="648" y="50"/>
                  </a:cubicBezTo>
                  <a:cubicBezTo>
                    <a:pt x="648" y="198"/>
                    <a:pt x="648" y="198"/>
                    <a:pt x="648" y="198"/>
                  </a:cubicBezTo>
                  <a:cubicBezTo>
                    <a:pt x="648" y="226"/>
                    <a:pt x="625" y="249"/>
                    <a:pt x="597" y="249"/>
                  </a:cubicBezTo>
                  <a:close/>
                  <a:moveTo>
                    <a:pt x="50" y="35"/>
                  </a:moveTo>
                  <a:cubicBezTo>
                    <a:pt x="42" y="35"/>
                    <a:pt x="36" y="42"/>
                    <a:pt x="36" y="50"/>
                  </a:cubicBezTo>
                  <a:cubicBezTo>
                    <a:pt x="36" y="198"/>
                    <a:pt x="36" y="198"/>
                    <a:pt x="36" y="198"/>
                  </a:cubicBezTo>
                  <a:cubicBezTo>
                    <a:pt x="36" y="206"/>
                    <a:pt x="42" y="213"/>
                    <a:pt x="50" y="213"/>
                  </a:cubicBezTo>
                  <a:cubicBezTo>
                    <a:pt x="597" y="213"/>
                    <a:pt x="597" y="213"/>
                    <a:pt x="597" y="213"/>
                  </a:cubicBezTo>
                  <a:cubicBezTo>
                    <a:pt x="605" y="213"/>
                    <a:pt x="612" y="206"/>
                    <a:pt x="612" y="198"/>
                  </a:cubicBezTo>
                  <a:cubicBezTo>
                    <a:pt x="612" y="50"/>
                    <a:pt x="612" y="50"/>
                    <a:pt x="612" y="50"/>
                  </a:cubicBezTo>
                  <a:cubicBezTo>
                    <a:pt x="612" y="42"/>
                    <a:pt x="605" y="35"/>
                    <a:pt x="597" y="35"/>
                  </a:cubicBezTo>
                  <a:lnTo>
                    <a:pt x="50" y="35"/>
                  </a:lnTo>
                  <a:close/>
                </a:path>
              </a:pathLst>
            </a:custGeom>
            <a:grpFill/>
            <a:ln w="9525">
              <a:noFill/>
              <a:round/>
            </a:ln>
          </p:spPr>
          <p:txBody>
            <a:bodyPr vert="horz" wrap="square" lIns="121920" tIns="60960" rIns="121920" bIns="60960" numCol="1" anchor="t" anchorCtr="0" compatLnSpc="1"/>
            <a:lstStyle/>
            <a:p>
              <a:endParaRPr lang="zh-CN" altLang="en-US" sz="2400">
                <a:solidFill>
                  <a:srgbClr val="212834"/>
                </a:solidFill>
              </a:endParaRPr>
            </a:p>
          </p:txBody>
        </p:sp>
      </p:grpSp>
      <p:pic>
        <p:nvPicPr>
          <p:cNvPr id="23" name="图片 22">
            <a:extLst>
              <a:ext uri="{FF2B5EF4-FFF2-40B4-BE49-F238E27FC236}">
                <a16:creationId xmlns:a16="http://schemas.microsoft.com/office/drawing/2014/main" id="{24827FE4-A38E-4098-90F1-DEDD3D57A1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58272" y="1382843"/>
            <a:ext cx="3336043" cy="1127763"/>
          </a:xfrm>
          <a:prstGeom prst="rect">
            <a:avLst/>
          </a:prstGeom>
        </p:spPr>
      </p:pic>
      <p:sp>
        <p:nvSpPr>
          <p:cNvPr id="24" name="矩形 23">
            <a:extLst>
              <a:ext uri="{FF2B5EF4-FFF2-40B4-BE49-F238E27FC236}">
                <a16:creationId xmlns:a16="http://schemas.microsoft.com/office/drawing/2014/main" id="{F3F82DFB-DABC-4C09-A048-B2D7309D498E}"/>
              </a:ext>
            </a:extLst>
          </p:cNvPr>
          <p:cNvSpPr/>
          <p:nvPr/>
        </p:nvSpPr>
        <p:spPr>
          <a:xfrm>
            <a:off x="3469024" y="3707404"/>
            <a:ext cx="5831970" cy="400110"/>
          </a:xfrm>
          <a:prstGeom prst="rect">
            <a:avLst/>
          </a:prstGeom>
          <a:noFill/>
        </p:spPr>
        <p:txBody>
          <a:bodyPr wrap="square" rtlCol="0">
            <a:spAutoFit/>
          </a:bodyPr>
          <a:lstStyle/>
          <a:p>
            <a:r>
              <a:rPr lang="zh-CN" altLang="en-US" sz="2000" spc="300">
                <a:solidFill>
                  <a:srgbClr val="345780"/>
                </a:solidFill>
                <a:latin typeface="方正宋刻本秀楷简体" panose="02000000000000000000" pitchFamily="2" charset="-122"/>
                <a:ea typeface="方正宋刻本秀楷简体" panose="02000000000000000000" pitchFamily="2" charset="-122"/>
              </a:rPr>
              <a:t>华中科技大学 </a:t>
            </a:r>
            <a:r>
              <a:rPr lang="en-US" altLang="zh-CN" sz="2000" spc="300">
                <a:solidFill>
                  <a:srgbClr val="345780"/>
                </a:solidFill>
                <a:latin typeface="方正宋刻本秀楷简体" panose="02000000000000000000" pitchFamily="2" charset="-122"/>
                <a:ea typeface="方正宋刻本秀楷简体" panose="02000000000000000000" pitchFamily="2" charset="-122"/>
              </a:rPr>
              <a:t>2021 ROS</a:t>
            </a:r>
            <a:r>
              <a:rPr lang="zh-CN" altLang="en-US" sz="2000" spc="300">
                <a:solidFill>
                  <a:srgbClr val="345780"/>
                </a:solidFill>
                <a:latin typeface="方正宋刻本秀楷简体" panose="02000000000000000000" pitchFamily="2" charset="-122"/>
                <a:ea typeface="方正宋刻本秀楷简体" panose="02000000000000000000" pitchFamily="2" charset="-122"/>
              </a:rPr>
              <a:t>创新实践教学 </a:t>
            </a:r>
          </a:p>
        </p:txBody>
      </p:sp>
      <p:pic>
        <p:nvPicPr>
          <p:cNvPr id="25" name="图片 3">
            <a:extLst>
              <a:ext uri="{FF2B5EF4-FFF2-40B4-BE49-F238E27FC236}">
                <a16:creationId xmlns:a16="http://schemas.microsoft.com/office/drawing/2014/main" id="{28D7BF33-041F-4C9E-A78A-CD7380697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1589" y="1513115"/>
            <a:ext cx="3721965" cy="104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3740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箭头: 五边形 18">
            <a:extLst>
              <a:ext uri="{FF2B5EF4-FFF2-40B4-BE49-F238E27FC236}">
                <a16:creationId xmlns:a16="http://schemas.microsoft.com/office/drawing/2014/main" id="{A972E024-6202-4FB3-B06C-155CE4F7AE80}"/>
              </a:ext>
            </a:extLst>
          </p:cNvPr>
          <p:cNvSpPr/>
          <p:nvPr/>
        </p:nvSpPr>
        <p:spPr>
          <a:xfrm flipH="1">
            <a:off x="1677296" y="3499802"/>
            <a:ext cx="2413581"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图像话题</a:t>
            </a:r>
          </a:p>
        </p:txBody>
      </p:sp>
      <p:sp>
        <p:nvSpPr>
          <p:cNvPr id="18" name="箭头: 五边形 17">
            <a:extLst>
              <a:ext uri="{FF2B5EF4-FFF2-40B4-BE49-F238E27FC236}">
                <a16:creationId xmlns:a16="http://schemas.microsoft.com/office/drawing/2014/main" id="{E5951F0E-974D-4BA3-877D-F120227A06AC}"/>
              </a:ext>
            </a:extLst>
          </p:cNvPr>
          <p:cNvSpPr/>
          <p:nvPr/>
        </p:nvSpPr>
        <p:spPr>
          <a:xfrm flipH="1">
            <a:off x="1325925" y="1675308"/>
            <a:ext cx="2203088"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a:t>
            </a:r>
            <a:r>
              <a:rPr lang="en-US" altLang="zh-CN" sz="2400">
                <a:latin typeface="微软雅黑" panose="020B0503020204020204" pitchFamily="34" charset="-122"/>
                <a:ea typeface="微软雅黑" panose="020B0503020204020204" pitchFamily="34" charset="-122"/>
              </a:rPr>
              <a:t>Gazebo</a:t>
            </a:r>
            <a:endParaRPr lang="zh-CN" altLang="en-US" sz="2400">
              <a:latin typeface="微软雅黑" panose="020B0503020204020204" pitchFamily="34" charset="-122"/>
              <a:ea typeface="微软雅黑" panose="020B0503020204020204" pitchFamily="34" charset="-122"/>
            </a:endParaRPr>
          </a:p>
        </p:txBody>
      </p:sp>
      <p:sp>
        <p:nvSpPr>
          <p:cNvPr id="5" name=" 160">
            <a:extLst>
              <a:ext uri="{FF2B5EF4-FFF2-40B4-BE49-F238E27FC236}">
                <a16:creationId xmlns:a16="http://schemas.microsoft.com/office/drawing/2014/main" id="{548E59DA-08E8-4157-B990-989FC360A838}"/>
              </a:ext>
            </a:extLst>
          </p:cNvPr>
          <p:cNvSpPr/>
          <p:nvPr/>
        </p:nvSpPr>
        <p:spPr>
          <a:xfrm rot="10800000" flipH="1">
            <a:off x="2299552" y="2657362"/>
            <a:ext cx="722630" cy="654050"/>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rgbClr val="D4F1F9">
              <a:alpha val="41000"/>
            </a:srgbClr>
          </a:solidFill>
          <a:ln>
            <a:solidFill>
              <a:srgbClr val="58B6E5"/>
            </a:solidFill>
          </a:ln>
        </p:spPr>
        <p:style>
          <a:lnRef idx="2">
            <a:schemeClr val="accent6"/>
          </a:lnRef>
          <a:fillRef idx="1">
            <a:schemeClr val="lt1"/>
          </a:fillRef>
          <a:effectRef idx="0">
            <a:schemeClr val="accent6"/>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3" name="箭头: 五边形 12">
            <a:extLst>
              <a:ext uri="{FF2B5EF4-FFF2-40B4-BE49-F238E27FC236}">
                <a16:creationId xmlns:a16="http://schemas.microsoft.com/office/drawing/2014/main" id="{56F161E6-65DE-4F69-9A0B-17B7B1168F8F}"/>
              </a:ext>
            </a:extLst>
          </p:cNvPr>
          <p:cNvSpPr/>
          <p:nvPr/>
        </p:nvSpPr>
        <p:spPr>
          <a:xfrm>
            <a:off x="1121742" y="1675308"/>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安装</a:t>
            </a:r>
          </a:p>
        </p:txBody>
      </p:sp>
      <p:sp>
        <p:nvSpPr>
          <p:cNvPr id="14" name="箭头: 五边形 13">
            <a:extLst>
              <a:ext uri="{FF2B5EF4-FFF2-40B4-BE49-F238E27FC236}">
                <a16:creationId xmlns:a16="http://schemas.microsoft.com/office/drawing/2014/main" id="{99DC91C8-FC34-48C3-8F2F-326DF1FCE2F9}"/>
              </a:ext>
            </a:extLst>
          </p:cNvPr>
          <p:cNvSpPr/>
          <p:nvPr/>
        </p:nvSpPr>
        <p:spPr>
          <a:xfrm>
            <a:off x="1499746" y="3499802"/>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订阅</a:t>
            </a:r>
          </a:p>
        </p:txBody>
      </p:sp>
      <p:sp>
        <p:nvSpPr>
          <p:cNvPr id="24" name="箭头: 五边形 23">
            <a:extLst>
              <a:ext uri="{FF2B5EF4-FFF2-40B4-BE49-F238E27FC236}">
                <a16:creationId xmlns:a16="http://schemas.microsoft.com/office/drawing/2014/main" id="{6E63A3A9-EC19-4021-82BB-B3CA9981BF0E}"/>
              </a:ext>
            </a:extLst>
          </p:cNvPr>
          <p:cNvSpPr/>
          <p:nvPr/>
        </p:nvSpPr>
        <p:spPr>
          <a:xfrm flipH="1">
            <a:off x="4706508" y="3499802"/>
            <a:ext cx="2778984"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发给</a:t>
            </a:r>
            <a:r>
              <a:rPr lang="en-US" altLang="zh-CN" sz="2400">
                <a:latin typeface="微软雅黑" panose="020B0503020204020204" pitchFamily="34" charset="-122"/>
                <a:ea typeface="微软雅黑" panose="020B0503020204020204" pitchFamily="34" charset="-122"/>
              </a:rPr>
              <a:t>Opencv</a:t>
            </a:r>
            <a:endParaRPr lang="zh-CN" altLang="en-US" sz="2400">
              <a:latin typeface="微软雅黑" panose="020B0503020204020204" pitchFamily="34" charset="-122"/>
              <a:ea typeface="微软雅黑" panose="020B0503020204020204" pitchFamily="34" charset="-122"/>
            </a:endParaRPr>
          </a:p>
        </p:txBody>
      </p:sp>
      <p:sp>
        <p:nvSpPr>
          <p:cNvPr id="25" name="箭头: 五边形 24">
            <a:extLst>
              <a:ext uri="{FF2B5EF4-FFF2-40B4-BE49-F238E27FC236}">
                <a16:creationId xmlns:a16="http://schemas.microsoft.com/office/drawing/2014/main" id="{319F14D5-D909-4117-8E8F-88C063371240}"/>
              </a:ext>
            </a:extLst>
          </p:cNvPr>
          <p:cNvSpPr/>
          <p:nvPr/>
        </p:nvSpPr>
        <p:spPr>
          <a:xfrm>
            <a:off x="4528959" y="3499802"/>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消息</a:t>
            </a:r>
          </a:p>
        </p:txBody>
      </p:sp>
      <p:sp>
        <p:nvSpPr>
          <p:cNvPr id="28" name=" 160">
            <a:extLst>
              <a:ext uri="{FF2B5EF4-FFF2-40B4-BE49-F238E27FC236}">
                <a16:creationId xmlns:a16="http://schemas.microsoft.com/office/drawing/2014/main" id="{F85EBE64-3361-4FB0-907A-C172A01672AE}"/>
              </a:ext>
            </a:extLst>
          </p:cNvPr>
          <p:cNvSpPr/>
          <p:nvPr/>
        </p:nvSpPr>
        <p:spPr>
          <a:xfrm rot="10800000" flipH="1">
            <a:off x="8533651" y="4520002"/>
            <a:ext cx="722630" cy="654050"/>
          </a:xfrm>
          <a:custGeom>
            <a:avLst/>
            <a:gdLst>
              <a:gd name="connsiteX0" fmla="*/ 2723651 w 2860172"/>
              <a:gd name="connsiteY0" fmla="*/ 817 h 2023853"/>
              <a:gd name="connsiteX1" fmla="*/ 2826935 w 2860172"/>
              <a:gd name="connsiteY1" fmla="*/ 33337 h 2023853"/>
              <a:gd name="connsiteX2" fmla="*/ 2829774 w 2860172"/>
              <a:gd name="connsiteY2" fmla="*/ 35326 h 2023853"/>
              <a:gd name="connsiteX3" fmla="*/ 2849613 w 2860172"/>
              <a:gd name="connsiteY3" fmla="*/ 185007 h 2023853"/>
              <a:gd name="connsiteX4" fmla="*/ 2807494 w 2860172"/>
              <a:gd name="connsiteY4" fmla="*/ 326285 h 2023853"/>
              <a:gd name="connsiteX5" fmla="*/ 2480152 w 2860172"/>
              <a:gd name="connsiteY5" fmla="*/ 1326140 h 2023853"/>
              <a:gd name="connsiteX6" fmla="*/ 2479216 w 2860172"/>
              <a:gd name="connsiteY6" fmla="*/ 1322755 h 2023853"/>
              <a:gd name="connsiteX7" fmla="*/ 2348905 w 2860172"/>
              <a:gd name="connsiteY7" fmla="*/ 1721466 h 2023853"/>
              <a:gd name="connsiteX8" fmla="*/ 2280556 w 2860172"/>
              <a:gd name="connsiteY8" fmla="*/ 1058272 h 2023853"/>
              <a:gd name="connsiteX9" fmla="*/ 2226338 w 2860172"/>
              <a:gd name="connsiteY9" fmla="*/ 1103673 h 2023853"/>
              <a:gd name="connsiteX10" fmla="*/ 0 w 2860172"/>
              <a:gd name="connsiteY10" fmla="*/ 2023853 h 2023853"/>
              <a:gd name="connsiteX11" fmla="*/ 1702841 w 2860172"/>
              <a:gd name="connsiteY11" fmla="*/ 735848 h 2023853"/>
              <a:gd name="connsiteX12" fmla="*/ 1811294 w 2860172"/>
              <a:gd name="connsiteY12" fmla="*/ 575004 h 2023853"/>
              <a:gd name="connsiteX13" fmla="*/ 1151281 w 2860172"/>
              <a:gd name="connsiteY13" fmla="*/ 506068 h 2023853"/>
              <a:gd name="connsiteX14" fmla="*/ 2640411 w 2860172"/>
              <a:gd name="connsiteY14" fmla="*/ 20803 h 2023853"/>
              <a:gd name="connsiteX15" fmla="*/ 2675299 w 2860172"/>
              <a:gd name="connsiteY15" fmla="*/ 10454 h 2023853"/>
              <a:gd name="connsiteX16" fmla="*/ 2723651 w 2860172"/>
              <a:gd name="connsiteY16" fmla="*/ 817 h 202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0172" h="2023853">
                <a:moveTo>
                  <a:pt x="2723651" y="817"/>
                </a:moveTo>
                <a:cubicBezTo>
                  <a:pt x="2768908" y="-3349"/>
                  <a:pt x="2804496" y="8545"/>
                  <a:pt x="2826935" y="33337"/>
                </a:cubicBezTo>
                <a:cubicBezTo>
                  <a:pt x="2828146" y="33729"/>
                  <a:pt x="2828970" y="34520"/>
                  <a:pt x="2829774" y="35326"/>
                </a:cubicBezTo>
                <a:cubicBezTo>
                  <a:pt x="2860445" y="66039"/>
                  <a:pt x="2869482" y="118360"/>
                  <a:pt x="2849613" y="185007"/>
                </a:cubicBezTo>
                <a:lnTo>
                  <a:pt x="2807494" y="326285"/>
                </a:lnTo>
                <a:lnTo>
                  <a:pt x="2480152" y="1326140"/>
                </a:lnTo>
                <a:lnTo>
                  <a:pt x="2479216" y="1322755"/>
                </a:lnTo>
                <a:lnTo>
                  <a:pt x="2348905" y="1721466"/>
                </a:lnTo>
                <a:lnTo>
                  <a:pt x="2280556" y="1058272"/>
                </a:lnTo>
                <a:lnTo>
                  <a:pt x="2226338" y="1103673"/>
                </a:lnTo>
                <a:cubicBezTo>
                  <a:pt x="1323053" y="1809646"/>
                  <a:pt x="162385" y="2005519"/>
                  <a:pt x="0" y="2023853"/>
                </a:cubicBezTo>
                <a:cubicBezTo>
                  <a:pt x="722027" y="1807246"/>
                  <a:pt x="1311081" y="1275400"/>
                  <a:pt x="1702841" y="735848"/>
                </a:cubicBezTo>
                <a:lnTo>
                  <a:pt x="1811294" y="575004"/>
                </a:lnTo>
                <a:lnTo>
                  <a:pt x="1151281" y="506068"/>
                </a:lnTo>
                <a:lnTo>
                  <a:pt x="2640411" y="20803"/>
                </a:lnTo>
                <a:lnTo>
                  <a:pt x="2675299" y="10454"/>
                </a:lnTo>
                <a:cubicBezTo>
                  <a:pt x="2692405" y="5379"/>
                  <a:pt x="2708565" y="2206"/>
                  <a:pt x="2723651" y="817"/>
                </a:cubicBezTo>
                <a:close/>
              </a:path>
            </a:pathLst>
          </a:custGeom>
          <a:solidFill>
            <a:srgbClr val="D4F1F9">
              <a:alpha val="41000"/>
            </a:srgbClr>
          </a:solidFill>
          <a:ln>
            <a:solidFill>
              <a:srgbClr val="58B6E5"/>
            </a:solidFill>
          </a:ln>
        </p:spPr>
        <p:style>
          <a:lnRef idx="2">
            <a:schemeClr val="accent6"/>
          </a:lnRef>
          <a:fillRef idx="1">
            <a:schemeClr val="lt1"/>
          </a:fillRef>
          <a:effectRef idx="0">
            <a:schemeClr val="accent6"/>
          </a:effectRef>
          <a:fontRef idx="minor">
            <a:schemeClr val="dk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0" name="箭头: 五边形 29">
            <a:extLst>
              <a:ext uri="{FF2B5EF4-FFF2-40B4-BE49-F238E27FC236}">
                <a16:creationId xmlns:a16="http://schemas.microsoft.com/office/drawing/2014/main" id="{192A7DFA-75C9-4D95-92AC-B02AB902629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0</a:t>
            </a:r>
            <a:endParaRPr lang="zh-CN" altLang="en-US" sz="2400">
              <a:latin typeface="微软雅黑" panose="020B0503020204020204" pitchFamily="34" charset="-122"/>
              <a:ea typeface="微软雅黑" panose="020B0503020204020204" pitchFamily="34" charset="-122"/>
            </a:endParaRPr>
          </a:p>
        </p:txBody>
      </p:sp>
      <p:sp>
        <p:nvSpPr>
          <p:cNvPr id="31" name="箭头: 五边形 30">
            <a:extLst>
              <a:ext uri="{FF2B5EF4-FFF2-40B4-BE49-F238E27FC236}">
                <a16:creationId xmlns:a16="http://schemas.microsoft.com/office/drawing/2014/main" id="{25A45A79-F2E6-428E-8FFA-1F5F36C3FAE3}"/>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概述</a:t>
            </a:r>
          </a:p>
        </p:txBody>
      </p:sp>
      <p:sp>
        <p:nvSpPr>
          <p:cNvPr id="12" name="箭头: 五边形 11">
            <a:extLst>
              <a:ext uri="{FF2B5EF4-FFF2-40B4-BE49-F238E27FC236}">
                <a16:creationId xmlns:a16="http://schemas.microsoft.com/office/drawing/2014/main" id="{8DD5AE71-E97D-402C-99CD-1A4D7584839D}"/>
              </a:ext>
            </a:extLst>
          </p:cNvPr>
          <p:cNvSpPr/>
          <p:nvPr/>
        </p:nvSpPr>
        <p:spPr>
          <a:xfrm flipH="1">
            <a:off x="8420721" y="5314778"/>
            <a:ext cx="3034464"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运动执行命令</a:t>
            </a:r>
          </a:p>
        </p:txBody>
      </p:sp>
      <p:sp>
        <p:nvSpPr>
          <p:cNvPr id="15" name="箭头: 五边形 14">
            <a:extLst>
              <a:ext uri="{FF2B5EF4-FFF2-40B4-BE49-F238E27FC236}">
                <a16:creationId xmlns:a16="http://schemas.microsoft.com/office/drawing/2014/main" id="{927DE2B0-D30E-4E86-B291-EF371FB7C43E}"/>
              </a:ext>
            </a:extLst>
          </p:cNvPr>
          <p:cNvSpPr/>
          <p:nvPr/>
        </p:nvSpPr>
        <p:spPr>
          <a:xfrm>
            <a:off x="8243171" y="5314778"/>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发布</a:t>
            </a:r>
          </a:p>
        </p:txBody>
      </p:sp>
      <p:sp>
        <p:nvSpPr>
          <p:cNvPr id="16" name="箭头: 五边形 15">
            <a:extLst>
              <a:ext uri="{FF2B5EF4-FFF2-40B4-BE49-F238E27FC236}">
                <a16:creationId xmlns:a16="http://schemas.microsoft.com/office/drawing/2014/main" id="{F25534E8-5990-47F3-B8E3-DA19C28F2BEB}"/>
              </a:ext>
            </a:extLst>
          </p:cNvPr>
          <p:cNvSpPr/>
          <p:nvPr/>
        </p:nvSpPr>
        <p:spPr>
          <a:xfrm flipH="1">
            <a:off x="8101125" y="3499802"/>
            <a:ext cx="2311073"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latin typeface="微软雅黑" panose="020B0503020204020204" pitchFamily="34" charset="-122"/>
                <a:ea typeface="微软雅黑" panose="020B0503020204020204" pitchFamily="34" charset="-122"/>
              </a:rPr>
              <a:t>　　路线中心</a:t>
            </a:r>
          </a:p>
        </p:txBody>
      </p:sp>
      <p:sp>
        <p:nvSpPr>
          <p:cNvPr id="17" name="箭头: 五边形 16">
            <a:extLst>
              <a:ext uri="{FF2B5EF4-FFF2-40B4-BE49-F238E27FC236}">
                <a16:creationId xmlns:a16="http://schemas.microsoft.com/office/drawing/2014/main" id="{2D7E7F0E-F399-4ECA-A338-80F7D51C75F9}"/>
              </a:ext>
            </a:extLst>
          </p:cNvPr>
          <p:cNvSpPr/>
          <p:nvPr/>
        </p:nvSpPr>
        <p:spPr>
          <a:xfrm>
            <a:off x="7923576" y="3499802"/>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latin typeface="微软雅黑" panose="020B0503020204020204" pitchFamily="34" charset="-122"/>
                <a:ea typeface="微软雅黑" panose="020B0503020204020204" pitchFamily="34" charset="-122"/>
              </a:rPr>
              <a:t>获取</a:t>
            </a:r>
          </a:p>
        </p:txBody>
      </p:sp>
    </p:spTree>
    <p:extLst>
      <p:ext uri="{BB962C8B-B14F-4D97-AF65-F5344CB8AC3E}">
        <p14:creationId xmlns:p14="http://schemas.microsoft.com/office/powerpoint/2010/main" val="338882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00"/>
                                        <p:tgtEl>
                                          <p:spTgt spid="24"/>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wipe(down)">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down)">
                                      <p:cBhvr>
                                        <p:cTn id="34" dur="500"/>
                                        <p:tgtEl>
                                          <p:spTgt spid="1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down)">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down)">
                                      <p:cBhvr>
                                        <p:cTn id="4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3" grpId="0" animBg="1"/>
      <p:bldP spid="14" grpId="0" animBg="1"/>
      <p:bldP spid="24" grpId="0" animBg="1"/>
      <p:bldP spid="25" grpId="0" animBg="1"/>
      <p:bldP spid="28" grpId="0" animBg="1"/>
      <p:bldP spid="12" grpId="0" animBg="1"/>
      <p:bldP spid="15" grpId="0" animBg="1"/>
      <p:bldP spid="16"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E2F684E-3E11-4385-BE50-392F0FB0DBDE}"/>
              </a:ext>
            </a:extLst>
          </p:cNvPr>
          <p:cNvSpPr txBox="1"/>
          <p:nvPr/>
        </p:nvSpPr>
        <p:spPr>
          <a:xfrm>
            <a:off x="0" y="1562970"/>
            <a:ext cx="12192000" cy="4459041"/>
          </a:xfrm>
          <a:prstGeom prst="rect">
            <a:avLst/>
          </a:prstGeom>
          <a:solidFill>
            <a:schemeClr val="accent1">
              <a:lumMod val="20000"/>
              <a:lumOff val="80000"/>
            </a:schemeClr>
          </a:solidFill>
        </p:spPr>
        <p:txBody>
          <a:bodyPr wrap="square" rtlCol="0">
            <a:spAutoFit/>
          </a:bodyPr>
          <a:lstStyle/>
          <a:p>
            <a:pPr indent="457200">
              <a:lnSpc>
                <a:spcPct val="150000"/>
              </a:lnSpc>
            </a:pPr>
            <a:r>
              <a:rPr lang="en-US" altLang="zh-CN" sz="2400" b="1">
                <a:latin typeface="微软雅黑" panose="020B0503020204020204" pitchFamily="34" charset="-122"/>
                <a:ea typeface="微软雅黑" panose="020B0503020204020204" pitchFamily="34" charset="-122"/>
              </a:rPr>
              <a:t>Gazebo</a:t>
            </a:r>
            <a:r>
              <a:rPr lang="en-US" altLang="zh-CN" sz="2400">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提供了在复杂的室内和室外环境中准确有效地模拟机器人群体的能力。有强大的的物理引擎，高品质的图形画面，以及方便的编程和图形界面。</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教程将在</a:t>
            </a:r>
            <a:r>
              <a:rPr lang="en-US" altLang="zh-CN" sz="2400">
                <a:latin typeface="微软雅黑" panose="020B0503020204020204" pitchFamily="34" charset="-122"/>
                <a:ea typeface="微软雅黑" panose="020B0503020204020204" pitchFamily="34" charset="-122"/>
              </a:rPr>
              <a:t>Gazebo</a:t>
            </a:r>
            <a:r>
              <a:rPr lang="zh-CN" altLang="en-US" sz="2400">
                <a:latin typeface="微软雅黑" panose="020B0503020204020204" pitchFamily="34" charset="-122"/>
                <a:ea typeface="微软雅黑" panose="020B0503020204020204" pitchFamily="34" charset="-122"/>
              </a:rPr>
              <a:t>的环境下进行，实验任务要求同学能够</a:t>
            </a:r>
            <a:r>
              <a:rPr lang="zh-CN" altLang="en-US" sz="2400" b="1">
                <a:latin typeface="微软雅黑" panose="020B0503020204020204" pitchFamily="34" charset="-122"/>
                <a:ea typeface="微软雅黑" panose="020B0503020204020204" pitchFamily="34" charset="-122"/>
              </a:rPr>
              <a:t>结合</a:t>
            </a:r>
            <a:r>
              <a:rPr lang="en-US" altLang="zh-CN" sz="2400" b="1">
                <a:latin typeface="微软雅黑" panose="020B0503020204020204" pitchFamily="34" charset="-122"/>
                <a:ea typeface="微软雅黑" panose="020B0503020204020204" pitchFamily="34" charset="-122"/>
              </a:rPr>
              <a:t>turtlebot</a:t>
            </a:r>
            <a:r>
              <a:rPr lang="zh-CN" altLang="en-US" sz="2400" b="1">
                <a:latin typeface="微软雅黑" panose="020B0503020204020204" pitchFamily="34" charset="-122"/>
                <a:ea typeface="微软雅黑" panose="020B0503020204020204" pitchFamily="34" charset="-122"/>
              </a:rPr>
              <a:t>实体</a:t>
            </a:r>
            <a:r>
              <a:rPr lang="zh-CN" altLang="en-US" sz="2400">
                <a:latin typeface="微软雅黑" panose="020B0503020204020204" pitchFamily="34" charset="-122"/>
                <a:ea typeface="微软雅黑" panose="020B0503020204020204" pitchFamily="34" charset="-122"/>
              </a:rPr>
              <a:t>进行控制。</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en-US" altLang="zh-CN" sz="2400">
                <a:latin typeface="微软雅黑" panose="020B0503020204020204" pitchFamily="34" charset="-122"/>
                <a:ea typeface="微软雅黑" panose="020B0503020204020204" pitchFamily="34" charset="-122"/>
              </a:rPr>
              <a:t>Gazebo</a:t>
            </a:r>
            <a:r>
              <a:rPr lang="zh-CN" altLang="en-US" sz="2400">
                <a:latin typeface="微软雅黑" panose="020B0503020204020204" pitchFamily="34" charset="-122"/>
                <a:ea typeface="微软雅黑" panose="020B0503020204020204" pitchFamily="34" charset="-122"/>
              </a:rPr>
              <a:t>通常在安装</a:t>
            </a:r>
            <a:r>
              <a:rPr lang="en-US" altLang="zh-CN" sz="2400">
                <a:latin typeface="微软雅黑" panose="020B0503020204020204" pitchFamily="34" charset="-122"/>
                <a:ea typeface="微软雅黑" panose="020B0503020204020204" pitchFamily="34" charset="-122"/>
              </a:rPr>
              <a:t>ROS</a:t>
            </a:r>
            <a:r>
              <a:rPr lang="zh-CN" altLang="en-US" sz="2400">
                <a:latin typeface="微软雅黑" panose="020B0503020204020204" pitchFamily="34" charset="-122"/>
                <a:ea typeface="微软雅黑" panose="020B0503020204020204" pitchFamily="34" charset="-122"/>
              </a:rPr>
              <a:t>时已经安装完毕。可运行下列指令检测安装是否成功：</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en-US" altLang="zh-CN" sz="2400" b="1">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启动</a:t>
            </a:r>
            <a:r>
              <a:rPr lang="en-US" altLang="zh-CN" sz="2400" b="1">
                <a:solidFill>
                  <a:schemeClr val="accent1">
                    <a:lumMod val="75000"/>
                  </a:schemeClr>
                </a:solidFill>
                <a:latin typeface="微软雅黑" panose="020B0503020204020204" pitchFamily="34" charset="-122"/>
                <a:ea typeface="微软雅黑" panose="020B0503020204020204" pitchFamily="34" charset="-122"/>
              </a:rPr>
              <a:t>turtlebot3_world</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仿真世界（需要提前下载</a:t>
            </a:r>
            <a:r>
              <a:rPr lang="en-US" altLang="zh-CN" sz="2400" b="1">
                <a:solidFill>
                  <a:schemeClr val="accent1">
                    <a:lumMod val="75000"/>
                  </a:schemeClr>
                </a:solidFill>
                <a:latin typeface="微软雅黑" panose="020B0503020204020204" pitchFamily="34" charset="-122"/>
                <a:ea typeface="微软雅黑" panose="020B0503020204020204" pitchFamily="34" charset="-122"/>
              </a:rPr>
              <a:t>turtlebot3</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功能包）</a:t>
            </a:r>
            <a:endParaRPr lang="en-US" altLang="zh-CN"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a:latin typeface="微软雅黑" panose="020B0503020204020204" pitchFamily="34" charset="-122"/>
                <a:ea typeface="微软雅黑" panose="020B0503020204020204" pitchFamily="34" charset="-122"/>
              </a:rPr>
              <a:t>roslaunch turtlebot3_gazebo turtlebot3_world.launch</a:t>
            </a:r>
            <a:endParaRPr lang="en-US" altLang="zh-CN"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a:solidFill>
                  <a:schemeClr val="accent1">
                    <a:lumMod val="75000"/>
                  </a:schemeClr>
                </a:solidFill>
                <a:latin typeface="微软雅黑" panose="020B0503020204020204" pitchFamily="34" charset="-122"/>
                <a:ea typeface="微软雅黑" panose="020B0503020204020204" pitchFamily="34" charset="-122"/>
              </a:rPr>
              <a:t># </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启动</a:t>
            </a:r>
            <a:r>
              <a:rPr lang="en-US" altLang="zh-CN" sz="2400" b="1">
                <a:solidFill>
                  <a:schemeClr val="accent1">
                    <a:lumMod val="75000"/>
                  </a:schemeClr>
                </a:solidFill>
                <a:latin typeface="微软雅黑" panose="020B0503020204020204" pitchFamily="34" charset="-122"/>
                <a:ea typeface="微软雅黑" panose="020B0503020204020204" pitchFamily="34" charset="-122"/>
              </a:rPr>
              <a:t>rviz</a:t>
            </a:r>
            <a:r>
              <a:rPr lang="zh-CN" altLang="en-US" sz="2400" b="1">
                <a:solidFill>
                  <a:schemeClr val="accent1">
                    <a:lumMod val="75000"/>
                  </a:schemeClr>
                </a:solidFill>
                <a:latin typeface="微软雅黑" panose="020B0503020204020204" pitchFamily="34" charset="-122"/>
                <a:ea typeface="微软雅黑" panose="020B0503020204020204" pitchFamily="34" charset="-122"/>
              </a:rPr>
              <a:t>图形化工具</a:t>
            </a:r>
            <a:endParaRPr lang="en-US" altLang="zh-CN" sz="2400" b="1">
              <a:solidFill>
                <a:schemeClr val="accent1">
                  <a:lumMod val="75000"/>
                </a:schemeClr>
              </a:solidFill>
              <a:latin typeface="微软雅黑" panose="020B0503020204020204" pitchFamily="34" charset="-122"/>
              <a:ea typeface="微软雅黑" panose="020B0503020204020204" pitchFamily="34" charset="-122"/>
            </a:endParaRPr>
          </a:p>
          <a:p>
            <a:pPr indent="457200">
              <a:lnSpc>
                <a:spcPct val="150000"/>
              </a:lnSpc>
            </a:pPr>
            <a:r>
              <a:rPr lang="en-US" altLang="zh-CN" sz="2400" b="1">
                <a:latin typeface="微软雅黑" panose="020B0503020204020204" pitchFamily="34" charset="-122"/>
                <a:ea typeface="微软雅黑" panose="020B0503020204020204" pitchFamily="34" charset="-122"/>
              </a:rPr>
              <a:t>roslaunch turtlebot3_gazebo turtlebot3_gazebo_rviz.launch </a:t>
            </a:r>
          </a:p>
        </p:txBody>
      </p:sp>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1</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第一关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安装使用</a:t>
            </a:r>
            <a:r>
              <a:rPr lang="en-US" altLang="zh-CN" sz="2400">
                <a:latin typeface="微软雅黑" panose="020B0503020204020204" pitchFamily="34" charset="-122"/>
                <a:ea typeface="微软雅黑" panose="020B0503020204020204" pitchFamily="34" charset="-122"/>
              </a:rPr>
              <a:t>Gazebo</a:t>
            </a:r>
            <a:endParaRPr lang="zh-CN" altLang="en-US"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861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500"/>
                                        <p:tgtEl>
                                          <p:spTgt spid="6">
                                            <p:txEl>
                                              <p:pRg st="1" end="1"/>
                                            </p:txEl>
                                          </p:spTgt>
                                        </p:tgtEl>
                                      </p:cBhvr>
                                    </p:animEffect>
                                    <p:anim calcmode="lin" valueType="num">
                                      <p:cBhvr>
                                        <p:cTn id="1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500"/>
                                        <p:tgtEl>
                                          <p:spTgt spid="6">
                                            <p:txEl>
                                              <p:pRg st="2" end="2"/>
                                            </p:txEl>
                                          </p:spTgt>
                                        </p:tgtEl>
                                      </p:cBhvr>
                                    </p:animEffect>
                                    <p:anim calcmode="lin" valueType="num">
                                      <p:cBhvr>
                                        <p:cTn id="2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500"/>
                                        <p:tgtEl>
                                          <p:spTgt spid="6">
                                            <p:txEl>
                                              <p:pRg st="3" end="3"/>
                                            </p:txEl>
                                          </p:spTgt>
                                        </p:tgtEl>
                                      </p:cBhvr>
                                    </p:animEffect>
                                    <p:anim calcmode="lin" valueType="num">
                                      <p:cBhvr>
                                        <p:cTn id="2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6">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500"/>
                                        <p:tgtEl>
                                          <p:spTgt spid="6">
                                            <p:txEl>
                                              <p:pRg st="4" end="4"/>
                                            </p:txEl>
                                          </p:spTgt>
                                        </p:tgtEl>
                                      </p:cBhvr>
                                    </p:animEffect>
                                    <p:anim calcmode="lin" valueType="num">
                                      <p:cBhvr>
                                        <p:cTn id="34"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5" dur="5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500"/>
                                        <p:tgtEl>
                                          <p:spTgt spid="6">
                                            <p:txEl>
                                              <p:pRg st="5" end="5"/>
                                            </p:txEl>
                                          </p:spTgt>
                                        </p:tgtEl>
                                      </p:cBhvr>
                                    </p:animEffect>
                                    <p:anim calcmode="lin" valueType="num">
                                      <p:cBhvr>
                                        <p:cTn id="4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500" fill="hold"/>
                                        <p:tgtEl>
                                          <p:spTgt spid="6">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fade">
                                      <p:cBhvr>
                                        <p:cTn id="45" dur="500"/>
                                        <p:tgtEl>
                                          <p:spTgt spid="6">
                                            <p:txEl>
                                              <p:pRg st="6" end="6"/>
                                            </p:txEl>
                                          </p:spTgt>
                                        </p:tgtEl>
                                      </p:cBhvr>
                                    </p:animEffect>
                                    <p:anim calcmode="lin" valueType="num">
                                      <p:cBhvr>
                                        <p:cTn id="46"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7" dur="5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E2F684E-3E11-4385-BE50-392F0FB0DBDE}"/>
              </a:ext>
            </a:extLst>
          </p:cNvPr>
          <p:cNvSpPr txBox="1"/>
          <p:nvPr/>
        </p:nvSpPr>
        <p:spPr>
          <a:xfrm>
            <a:off x="0" y="1225619"/>
            <a:ext cx="12192000" cy="581057"/>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a:latin typeface="微软雅黑" panose="020B0503020204020204" pitchFamily="34" charset="-122"/>
                <a:ea typeface="微软雅黑" panose="020B0503020204020204" pitchFamily="34" charset="-122"/>
              </a:rPr>
              <a:t>启动的正常结果如下图所示。</a:t>
            </a:r>
            <a:endParaRPr lang="en-US" altLang="zh-CN" sz="2400">
              <a:latin typeface="微软雅黑" panose="020B0503020204020204" pitchFamily="34" charset="-122"/>
              <a:ea typeface="微软雅黑" panose="020B0503020204020204" pitchFamily="34" charset="-122"/>
            </a:endParaRPr>
          </a:p>
        </p:txBody>
      </p:sp>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1</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第一关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安装使用</a:t>
            </a:r>
            <a:r>
              <a:rPr lang="en-US" altLang="zh-CN" sz="2400">
                <a:latin typeface="微软雅黑" panose="020B0503020204020204" pitchFamily="34" charset="-122"/>
                <a:ea typeface="微软雅黑" panose="020B0503020204020204" pitchFamily="34" charset="-122"/>
              </a:rPr>
              <a:t>Gazebo</a:t>
            </a:r>
            <a:endParaRPr lang="zh-CN" altLang="en-US" sz="240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FA216DF-8649-4BD7-9422-5BA12D0B0F67}"/>
              </a:ext>
            </a:extLst>
          </p:cNvPr>
          <p:cNvPicPr>
            <a:picLocks noChangeAspect="1"/>
          </p:cNvPicPr>
          <p:nvPr/>
        </p:nvPicPr>
        <p:blipFill rotWithShape="1">
          <a:blip r:embed="rId2">
            <a:extLst>
              <a:ext uri="{28A0092B-C50C-407E-A947-70E740481C1C}">
                <a14:useLocalDpi xmlns:a14="http://schemas.microsoft.com/office/drawing/2010/main" val="0"/>
              </a:ext>
            </a:extLst>
          </a:blip>
          <a:srcRect l="14100"/>
          <a:stretch/>
        </p:blipFill>
        <p:spPr>
          <a:xfrm>
            <a:off x="142042" y="2201661"/>
            <a:ext cx="6166398" cy="3719745"/>
          </a:xfrm>
          <a:prstGeom prst="rect">
            <a:avLst/>
          </a:prstGeom>
        </p:spPr>
      </p:pic>
      <p:pic>
        <p:nvPicPr>
          <p:cNvPr id="5" name="图片 4">
            <a:extLst>
              <a:ext uri="{FF2B5EF4-FFF2-40B4-BE49-F238E27FC236}">
                <a16:creationId xmlns:a16="http://schemas.microsoft.com/office/drawing/2014/main" id="{29FA189D-8AE7-45B6-85D4-EE1078B31A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7020" y="2569829"/>
            <a:ext cx="4840389" cy="2983407"/>
          </a:xfrm>
          <a:prstGeom prst="rect">
            <a:avLst/>
          </a:prstGeom>
        </p:spPr>
      </p:pic>
      <p:sp>
        <p:nvSpPr>
          <p:cNvPr id="10" name="箭头: 右 9">
            <a:extLst>
              <a:ext uri="{FF2B5EF4-FFF2-40B4-BE49-F238E27FC236}">
                <a16:creationId xmlns:a16="http://schemas.microsoft.com/office/drawing/2014/main" id="{4268A14B-C99B-4958-8414-E1F88460043E}"/>
              </a:ext>
            </a:extLst>
          </p:cNvPr>
          <p:cNvSpPr/>
          <p:nvPr/>
        </p:nvSpPr>
        <p:spPr>
          <a:xfrm flipH="1">
            <a:off x="3965735" y="3161235"/>
            <a:ext cx="2342705" cy="71889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Gazebo</a:t>
            </a:r>
            <a:r>
              <a:rPr lang="zh-CN" altLang="en-US"/>
              <a:t>界面</a:t>
            </a:r>
          </a:p>
        </p:txBody>
      </p:sp>
      <p:sp>
        <p:nvSpPr>
          <p:cNvPr id="11" name="箭头: 右 10">
            <a:extLst>
              <a:ext uri="{FF2B5EF4-FFF2-40B4-BE49-F238E27FC236}">
                <a16:creationId xmlns:a16="http://schemas.microsoft.com/office/drawing/2014/main" id="{4E789C31-C4A5-4263-BBF7-B684AE17F78D}"/>
              </a:ext>
            </a:extLst>
          </p:cNvPr>
          <p:cNvSpPr/>
          <p:nvPr/>
        </p:nvSpPr>
        <p:spPr>
          <a:xfrm flipH="1">
            <a:off x="9374704" y="3161235"/>
            <a:ext cx="2342705" cy="71889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Rviz</a:t>
            </a:r>
            <a:r>
              <a:rPr lang="zh-CN" altLang="en-US"/>
              <a:t>界面</a:t>
            </a:r>
          </a:p>
        </p:txBody>
      </p:sp>
    </p:spTree>
    <p:extLst>
      <p:ext uri="{BB962C8B-B14F-4D97-AF65-F5344CB8AC3E}">
        <p14:creationId xmlns:p14="http://schemas.microsoft.com/office/powerpoint/2010/main" val="193724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anim calcmode="lin" valueType="num">
                                      <p:cBhvr>
                                        <p:cTn id="15" dur="500" fill="hold"/>
                                        <p:tgtEl>
                                          <p:spTgt spid="3"/>
                                        </p:tgtEl>
                                        <p:attrNameLst>
                                          <p:attrName>ppt_x</p:attrName>
                                        </p:attrNameLst>
                                      </p:cBhvr>
                                      <p:tavLst>
                                        <p:tav tm="0">
                                          <p:val>
                                            <p:strVal val="#ppt_x"/>
                                          </p:val>
                                        </p:tav>
                                        <p:tav tm="100000">
                                          <p:val>
                                            <p:strVal val="#ppt_x"/>
                                          </p:val>
                                        </p:tav>
                                      </p:tavLst>
                                    </p:anim>
                                    <p:anim calcmode="lin" valueType="num">
                                      <p:cBhvr>
                                        <p:cTn id="16" dur="5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anim calcmode="lin" valueType="num">
                                      <p:cBhvr>
                                        <p:cTn id="20" dur="500" fill="hold"/>
                                        <p:tgtEl>
                                          <p:spTgt spid="10"/>
                                        </p:tgtEl>
                                        <p:attrNameLst>
                                          <p:attrName>ppt_x</p:attrName>
                                        </p:attrNameLst>
                                      </p:cBhvr>
                                      <p:tavLst>
                                        <p:tav tm="0">
                                          <p:val>
                                            <p:strVal val="#ppt_x"/>
                                          </p:val>
                                        </p:tav>
                                        <p:tav tm="100000">
                                          <p:val>
                                            <p:strVal val="#ppt_x"/>
                                          </p:val>
                                        </p:tav>
                                      </p:tavLst>
                                    </p:anim>
                                    <p:anim calcmode="lin" valueType="num">
                                      <p:cBhvr>
                                        <p:cTn id="21"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anim calcmode="lin" valueType="num">
                                      <p:cBhvr>
                                        <p:cTn id="27" dur="500" fill="hold"/>
                                        <p:tgtEl>
                                          <p:spTgt spid="5"/>
                                        </p:tgtEl>
                                        <p:attrNameLst>
                                          <p:attrName>ppt_x</p:attrName>
                                        </p:attrNameLst>
                                      </p:cBhvr>
                                      <p:tavLst>
                                        <p:tav tm="0">
                                          <p:val>
                                            <p:strVal val="#ppt_x"/>
                                          </p:val>
                                        </p:tav>
                                        <p:tav tm="100000">
                                          <p:val>
                                            <p:strVal val="#ppt_x"/>
                                          </p:val>
                                        </p:tav>
                                      </p:tavLst>
                                    </p:anim>
                                    <p:anim calcmode="lin" valueType="num">
                                      <p:cBhvr>
                                        <p:cTn id="28" dur="500" fill="hold"/>
                                        <p:tgtEl>
                                          <p:spTgt spid="5"/>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anim calcmode="lin" valueType="num">
                                      <p:cBhvr>
                                        <p:cTn id="32" dur="500" fill="hold"/>
                                        <p:tgtEl>
                                          <p:spTgt spid="11"/>
                                        </p:tgtEl>
                                        <p:attrNameLst>
                                          <p:attrName>ppt_x</p:attrName>
                                        </p:attrNameLst>
                                      </p:cBhvr>
                                      <p:tavLst>
                                        <p:tav tm="0">
                                          <p:val>
                                            <p:strVal val="#ppt_x"/>
                                          </p:val>
                                        </p:tav>
                                        <p:tav tm="100000">
                                          <p:val>
                                            <p:strVal val="#ppt_x"/>
                                          </p:val>
                                        </p:tav>
                                      </p:tavLst>
                                    </p:anim>
                                    <p:anim calcmode="lin" valueType="num">
                                      <p:cBhvr>
                                        <p:cTn id="33"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接收图像话题</a:t>
            </a:r>
          </a:p>
        </p:txBody>
      </p:sp>
      <p:sp>
        <p:nvSpPr>
          <p:cNvPr id="6" name="文本框 5">
            <a:extLst>
              <a:ext uri="{FF2B5EF4-FFF2-40B4-BE49-F238E27FC236}">
                <a16:creationId xmlns:a16="http://schemas.microsoft.com/office/drawing/2014/main" id="{57BB0DD0-3760-4A8F-8B51-69257219F6A9}"/>
              </a:ext>
            </a:extLst>
          </p:cNvPr>
          <p:cNvSpPr txBox="1"/>
          <p:nvPr/>
        </p:nvSpPr>
        <p:spPr>
          <a:xfrm>
            <a:off x="8878" y="1638399"/>
            <a:ext cx="12183122" cy="3905043"/>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核心思路：从相机话题提取实时的图像消息。</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第一步：查看现有的话题有哪些，找到需要订阅的话题名称。</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en-US" altLang="zh-CN" sz="2400" b="1">
                <a:latin typeface="微软雅黑" panose="020B0503020204020204" pitchFamily="34" charset="-122"/>
                <a:ea typeface="微软雅黑" panose="020B0503020204020204" pitchFamily="34" charset="-122"/>
              </a:rPr>
              <a:t>rostopic list</a:t>
            </a:r>
          </a:p>
          <a:p>
            <a:pPr indent="457200">
              <a:lnSpc>
                <a:spcPct val="150000"/>
              </a:lnSpc>
            </a:pPr>
            <a:r>
              <a:rPr lang="zh-CN" altLang="en-US" sz="2400">
                <a:latin typeface="微软雅黑" panose="020B0503020204020204" pitchFamily="34" charset="-122"/>
                <a:ea typeface="微软雅黑" panose="020B0503020204020204" pitchFamily="34" charset="-122"/>
              </a:rPr>
              <a:t>第二步：生成结点</a:t>
            </a:r>
            <a:r>
              <a:rPr lang="en-US" altLang="zh-CN" sz="2400">
                <a:latin typeface="微软雅黑" panose="020B0503020204020204" pitchFamily="34" charset="-122"/>
                <a:ea typeface="微软雅黑" panose="020B0503020204020204" pitchFamily="34" charset="-122"/>
              </a:rPr>
              <a:t>follower</a:t>
            </a:r>
            <a:r>
              <a:rPr lang="zh-CN" altLang="en-US" sz="2400">
                <a:latin typeface="微软雅黑" panose="020B0503020204020204" pitchFamily="34" charset="-122"/>
                <a:ea typeface="微软雅黑" panose="020B0503020204020204" pitchFamily="34" charset="-122"/>
              </a:rPr>
              <a:t>，用于订阅话题。</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第三步：订阅话题</a:t>
            </a:r>
            <a:r>
              <a:rPr lang="en-US" altLang="zh-CN" sz="2400" b="1">
                <a:latin typeface="微软雅黑" panose="020B0503020204020204" pitchFamily="34" charset="-122"/>
                <a:ea typeface="微软雅黑" panose="020B0503020204020204" pitchFamily="34" charset="-122"/>
              </a:rPr>
              <a:t>/camera/rgb/image_raw</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第四步：编写处理话题消息的机制。</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其中二、三、四步，我们通过</a:t>
            </a:r>
            <a:r>
              <a:rPr lang="en-US" altLang="zh-CN" sz="2400" b="1">
                <a:latin typeface="微软雅黑" panose="020B0503020204020204" pitchFamily="34" charset="-122"/>
                <a:ea typeface="微软雅黑" panose="020B0503020204020204" pitchFamily="34" charset="-122"/>
              </a:rPr>
              <a:t>python</a:t>
            </a:r>
            <a:r>
              <a:rPr lang="zh-CN" altLang="en-US" sz="2400" b="1">
                <a:latin typeface="微软雅黑" panose="020B0503020204020204" pitchFamily="34" charset="-122"/>
                <a:ea typeface="微软雅黑" panose="020B0503020204020204" pitchFamily="34" charset="-122"/>
              </a:rPr>
              <a:t>程序</a:t>
            </a:r>
            <a:r>
              <a:rPr lang="zh-CN" altLang="en-US" sz="2400">
                <a:latin typeface="微软雅黑" panose="020B0503020204020204" pitchFamily="34" charset="-122"/>
                <a:ea typeface="微软雅黑" panose="020B0503020204020204" pitchFamily="34" charset="-122"/>
              </a:rPr>
              <a:t>实现。</a:t>
            </a:r>
            <a:endParaRPr lang="en-US" altLang="zh-CN" sz="24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778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500"/>
                                        <p:tgtEl>
                                          <p:spTgt spid="6">
                                            <p:txEl>
                                              <p:pRg st="1" end="1"/>
                                            </p:txEl>
                                          </p:spTgt>
                                        </p:tgtEl>
                                      </p:cBhvr>
                                    </p:animEffect>
                                    <p:anim calcmode="lin" valueType="num">
                                      <p:cBhvr>
                                        <p:cTn id="1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500"/>
                                        <p:tgtEl>
                                          <p:spTgt spid="6">
                                            <p:txEl>
                                              <p:pRg st="2" end="2"/>
                                            </p:txEl>
                                          </p:spTgt>
                                        </p:tgtEl>
                                      </p:cBhvr>
                                    </p:animEffect>
                                    <p:anim calcmode="lin" valueType="num">
                                      <p:cBhvr>
                                        <p:cTn id="20"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5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500"/>
                                        <p:tgtEl>
                                          <p:spTgt spid="6">
                                            <p:txEl>
                                              <p:pRg st="3" end="3"/>
                                            </p:txEl>
                                          </p:spTgt>
                                        </p:tgtEl>
                                      </p:cBhvr>
                                    </p:animEffect>
                                    <p:anim calcmode="lin" valueType="num">
                                      <p:cBhvr>
                                        <p:cTn id="2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8" dur="5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500"/>
                                        <p:tgtEl>
                                          <p:spTgt spid="6">
                                            <p:txEl>
                                              <p:pRg st="4" end="4"/>
                                            </p:txEl>
                                          </p:spTgt>
                                        </p:tgtEl>
                                      </p:cBhvr>
                                    </p:animEffect>
                                    <p:anim calcmode="lin" valueType="num">
                                      <p:cBhvr>
                                        <p:cTn id="34"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5" dur="5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500"/>
                                        <p:tgtEl>
                                          <p:spTgt spid="6">
                                            <p:txEl>
                                              <p:pRg st="5" end="5"/>
                                            </p:txEl>
                                          </p:spTgt>
                                        </p:tgtEl>
                                      </p:cBhvr>
                                    </p:animEffect>
                                    <p:anim calcmode="lin" valueType="num">
                                      <p:cBhvr>
                                        <p:cTn id="4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5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fade">
                                      <p:cBhvr>
                                        <p:cTn id="47" dur="500"/>
                                        <p:tgtEl>
                                          <p:spTgt spid="6">
                                            <p:txEl>
                                              <p:pRg st="6" end="6"/>
                                            </p:txEl>
                                          </p:spTgt>
                                        </p:tgtEl>
                                      </p:cBhvr>
                                    </p:animEffect>
                                    <p:anim calcmode="lin" valueType="num">
                                      <p:cBhvr>
                                        <p:cTn id="48"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9" dur="5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E1DA150-2D34-4070-A6D7-1644336356DC}"/>
              </a:ext>
            </a:extLst>
          </p:cNvPr>
          <p:cNvPicPr>
            <a:picLocks noChangeAspect="1"/>
          </p:cNvPicPr>
          <p:nvPr/>
        </p:nvPicPr>
        <p:blipFill>
          <a:blip r:embed="rId2"/>
          <a:stretch>
            <a:fillRect/>
          </a:stretch>
        </p:blipFill>
        <p:spPr>
          <a:xfrm>
            <a:off x="337535" y="1540279"/>
            <a:ext cx="8545128" cy="4859150"/>
          </a:xfrm>
          <a:prstGeom prst="rect">
            <a:avLst/>
          </a:prstGeom>
        </p:spPr>
      </p:pic>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2</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第二关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接收图像话题</a:t>
            </a:r>
          </a:p>
        </p:txBody>
      </p:sp>
      <p:sp>
        <p:nvSpPr>
          <p:cNvPr id="7" name="箭头: 右 6">
            <a:extLst>
              <a:ext uri="{FF2B5EF4-FFF2-40B4-BE49-F238E27FC236}">
                <a16:creationId xmlns:a16="http://schemas.microsoft.com/office/drawing/2014/main" id="{69C8E318-4511-4B0C-9D53-BCF870F9E7B9}"/>
              </a:ext>
            </a:extLst>
          </p:cNvPr>
          <p:cNvSpPr/>
          <p:nvPr/>
        </p:nvSpPr>
        <p:spPr>
          <a:xfrm flipH="1">
            <a:off x="7396913" y="4583566"/>
            <a:ext cx="3111744" cy="515411"/>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1. </a:t>
            </a:r>
            <a:r>
              <a:rPr lang="zh-CN" altLang="en-US"/>
              <a:t>建立结点</a:t>
            </a:r>
            <a:r>
              <a:rPr lang="en-US" altLang="zh-CN"/>
              <a:t>follower</a:t>
            </a:r>
            <a:endParaRPr lang="zh-CN" altLang="en-US"/>
          </a:p>
        </p:txBody>
      </p:sp>
      <p:sp>
        <p:nvSpPr>
          <p:cNvPr id="10" name="箭头: 右 9">
            <a:extLst>
              <a:ext uri="{FF2B5EF4-FFF2-40B4-BE49-F238E27FC236}">
                <a16:creationId xmlns:a16="http://schemas.microsoft.com/office/drawing/2014/main" id="{517CE99B-3DFF-4F52-8365-C43AC260D87B}"/>
              </a:ext>
            </a:extLst>
          </p:cNvPr>
          <p:cNvSpPr/>
          <p:nvPr/>
        </p:nvSpPr>
        <p:spPr>
          <a:xfrm flipH="1">
            <a:off x="7396914" y="5098978"/>
            <a:ext cx="3111747" cy="57356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2. </a:t>
            </a:r>
            <a:r>
              <a:rPr lang="zh-CN" altLang="en-US"/>
              <a:t>订阅话题并设置回调函数</a:t>
            </a:r>
          </a:p>
        </p:txBody>
      </p:sp>
      <p:sp>
        <p:nvSpPr>
          <p:cNvPr id="11" name="箭头: 右 10">
            <a:extLst>
              <a:ext uri="{FF2B5EF4-FFF2-40B4-BE49-F238E27FC236}">
                <a16:creationId xmlns:a16="http://schemas.microsoft.com/office/drawing/2014/main" id="{B12A1600-8176-400A-B594-2468ADF0BB62}"/>
              </a:ext>
            </a:extLst>
          </p:cNvPr>
          <p:cNvSpPr/>
          <p:nvPr/>
        </p:nvSpPr>
        <p:spPr>
          <a:xfrm flipH="1">
            <a:off x="7396914" y="3695174"/>
            <a:ext cx="3111746" cy="549359"/>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3. </a:t>
            </a:r>
            <a:r>
              <a:rPr lang="zh-CN" altLang="en-US"/>
              <a:t>回调函数</a:t>
            </a:r>
            <a:r>
              <a:rPr lang="en-US" altLang="zh-CN"/>
              <a:t>callback</a:t>
            </a:r>
            <a:endParaRPr lang="zh-CN" altLang="en-US"/>
          </a:p>
        </p:txBody>
      </p:sp>
      <p:sp>
        <p:nvSpPr>
          <p:cNvPr id="12" name="矩形 11">
            <a:extLst>
              <a:ext uri="{FF2B5EF4-FFF2-40B4-BE49-F238E27FC236}">
                <a16:creationId xmlns:a16="http://schemas.microsoft.com/office/drawing/2014/main" id="{F69292E1-5A85-432E-A880-52A997C3461B}"/>
              </a:ext>
            </a:extLst>
          </p:cNvPr>
          <p:cNvSpPr/>
          <p:nvPr/>
        </p:nvSpPr>
        <p:spPr>
          <a:xfrm>
            <a:off x="337532" y="5098977"/>
            <a:ext cx="7059378" cy="549358"/>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6D804D94-E851-415E-99AE-D413288DE2D8}"/>
              </a:ext>
            </a:extLst>
          </p:cNvPr>
          <p:cNvSpPr/>
          <p:nvPr/>
        </p:nvSpPr>
        <p:spPr>
          <a:xfrm>
            <a:off x="337532" y="3822730"/>
            <a:ext cx="7059378" cy="549358"/>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5EEB1EC8-C737-4B51-9720-FDDA414D574E}"/>
              </a:ext>
            </a:extLst>
          </p:cNvPr>
          <p:cNvSpPr/>
          <p:nvPr/>
        </p:nvSpPr>
        <p:spPr>
          <a:xfrm>
            <a:off x="337532" y="4691625"/>
            <a:ext cx="7059378" cy="417093"/>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8460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anim calcmode="lin" valueType="num">
                                      <p:cBhvr>
                                        <p:cTn id="13" dur="500" fill="hold"/>
                                        <p:tgtEl>
                                          <p:spTgt spid="16"/>
                                        </p:tgtEl>
                                        <p:attrNameLst>
                                          <p:attrName>ppt_x</p:attrName>
                                        </p:attrNameLst>
                                      </p:cBhvr>
                                      <p:tavLst>
                                        <p:tav tm="0">
                                          <p:val>
                                            <p:strVal val="#ppt_x"/>
                                          </p:val>
                                        </p:tav>
                                        <p:tav tm="100000">
                                          <p:val>
                                            <p:strVal val="#ppt_x"/>
                                          </p:val>
                                        </p:tav>
                                      </p:tavLst>
                                    </p:anim>
                                    <p:anim calcmode="lin" valueType="num">
                                      <p:cBhvr>
                                        <p:cTn id="14"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anim calcmode="lin" valueType="num">
                                      <p:cBhvr>
                                        <p:cTn id="20" dur="500" fill="hold"/>
                                        <p:tgtEl>
                                          <p:spTgt spid="10"/>
                                        </p:tgtEl>
                                        <p:attrNameLst>
                                          <p:attrName>ppt_x</p:attrName>
                                        </p:attrNameLst>
                                      </p:cBhvr>
                                      <p:tavLst>
                                        <p:tav tm="0">
                                          <p:val>
                                            <p:strVal val="#ppt_x"/>
                                          </p:val>
                                        </p:tav>
                                        <p:tav tm="100000">
                                          <p:val>
                                            <p:strVal val="#ppt_x"/>
                                          </p:val>
                                        </p:tav>
                                      </p:tavLst>
                                    </p:anim>
                                    <p:anim calcmode="lin" valueType="num">
                                      <p:cBhvr>
                                        <p:cTn id="21" dur="500" fill="hold"/>
                                        <p:tgtEl>
                                          <p:spTgt spid="1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anim calcmode="lin" valueType="num">
                                      <p:cBhvr>
                                        <p:cTn id="25" dur="500" fill="hold"/>
                                        <p:tgtEl>
                                          <p:spTgt spid="12"/>
                                        </p:tgtEl>
                                        <p:attrNameLst>
                                          <p:attrName>ppt_x</p:attrName>
                                        </p:attrNameLst>
                                      </p:cBhvr>
                                      <p:tavLst>
                                        <p:tav tm="0">
                                          <p:val>
                                            <p:strVal val="#ppt_x"/>
                                          </p:val>
                                        </p:tav>
                                        <p:tav tm="100000">
                                          <p:val>
                                            <p:strVal val="#ppt_x"/>
                                          </p:val>
                                        </p:tav>
                                      </p:tavLst>
                                    </p:anim>
                                    <p:anim calcmode="lin" valueType="num">
                                      <p:cBhvr>
                                        <p:cTn id="26"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anim calcmode="lin" valueType="num">
                                      <p:cBhvr>
                                        <p:cTn id="32" dur="500" fill="hold"/>
                                        <p:tgtEl>
                                          <p:spTgt spid="11"/>
                                        </p:tgtEl>
                                        <p:attrNameLst>
                                          <p:attrName>ppt_x</p:attrName>
                                        </p:attrNameLst>
                                      </p:cBhvr>
                                      <p:tavLst>
                                        <p:tav tm="0">
                                          <p:val>
                                            <p:strVal val="#ppt_x"/>
                                          </p:val>
                                        </p:tav>
                                        <p:tav tm="100000">
                                          <p:val>
                                            <p:strVal val="#ppt_x"/>
                                          </p:val>
                                        </p:tav>
                                      </p:tavLst>
                                    </p:anim>
                                    <p:anim calcmode="lin" valueType="num">
                                      <p:cBhvr>
                                        <p:cTn id="33"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anim calcmode="lin" valueType="num">
                                      <p:cBhvr>
                                        <p:cTn id="37" dur="500" fill="hold"/>
                                        <p:tgtEl>
                                          <p:spTgt spid="14"/>
                                        </p:tgtEl>
                                        <p:attrNameLst>
                                          <p:attrName>ppt_x</p:attrName>
                                        </p:attrNameLst>
                                      </p:cBhvr>
                                      <p:tavLst>
                                        <p:tav tm="0">
                                          <p:val>
                                            <p:strVal val="#ppt_x"/>
                                          </p:val>
                                        </p:tav>
                                        <p:tav tm="100000">
                                          <p:val>
                                            <p:strVal val="#ppt_x"/>
                                          </p:val>
                                        </p:tav>
                                      </p:tavLst>
                                    </p:anim>
                                    <p:anim calcmode="lin" valueType="num">
                                      <p:cBhvr>
                                        <p:cTn id="38"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4"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转发图像信息给</a:t>
            </a:r>
            <a:r>
              <a:rPr lang="en-US" altLang="zh-CN" sz="2400">
                <a:latin typeface="微软雅黑" panose="020B0503020204020204" pitchFamily="34" charset="-122"/>
                <a:ea typeface="微软雅黑" panose="020B0503020204020204" pitchFamily="34" charset="-122"/>
              </a:rPr>
              <a:t>Opencv</a:t>
            </a:r>
            <a:endParaRPr lang="zh-CN" altLang="en-US" sz="240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0E152420-481E-4EE4-8037-9C3E0E0FB3F3}"/>
              </a:ext>
            </a:extLst>
          </p:cNvPr>
          <p:cNvSpPr txBox="1"/>
          <p:nvPr/>
        </p:nvSpPr>
        <p:spPr>
          <a:xfrm>
            <a:off x="8878" y="1514375"/>
            <a:ext cx="12183122" cy="2797048"/>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核心思路：通过回调函数接收并处理图像信息，转发给</a:t>
            </a:r>
            <a:r>
              <a:rPr lang="en-US" altLang="zh-CN" sz="2400" b="1">
                <a:latin typeface="微软雅黑" panose="020B0503020204020204" pitchFamily="34" charset="-122"/>
                <a:ea typeface="微软雅黑" panose="020B0503020204020204" pitchFamily="34" charset="-122"/>
              </a:rPr>
              <a:t>Opencv</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第一步：创建</a:t>
            </a:r>
            <a:r>
              <a:rPr lang="en-US" altLang="zh-CN" sz="2400">
                <a:latin typeface="微软雅黑" panose="020B0503020204020204" pitchFamily="34" charset="-122"/>
                <a:ea typeface="微软雅黑" panose="020B0503020204020204" pitchFamily="34" charset="-122"/>
              </a:rPr>
              <a:t>CvBridge</a:t>
            </a:r>
            <a:r>
              <a:rPr lang="zh-CN" altLang="en-US" sz="2400">
                <a:latin typeface="微软雅黑" panose="020B0503020204020204" pitchFamily="34" charset="-122"/>
                <a:ea typeface="微软雅黑" panose="020B0503020204020204" pitchFamily="34" charset="-122"/>
              </a:rPr>
              <a:t>对象。</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第二步：将消息中的</a:t>
            </a:r>
            <a:r>
              <a:rPr lang="en-US" altLang="zh-CN" sz="2400">
                <a:latin typeface="微软雅黑" panose="020B0503020204020204" pitchFamily="34" charset="-122"/>
                <a:ea typeface="微软雅黑" panose="020B0503020204020204" pitchFamily="34" charset="-122"/>
              </a:rPr>
              <a:t>Image</a:t>
            </a:r>
            <a:r>
              <a:rPr lang="zh-CN" altLang="en-US" sz="2400">
                <a:latin typeface="微软雅黑" panose="020B0503020204020204" pitchFamily="34" charset="-122"/>
                <a:ea typeface="微软雅黑" panose="020B0503020204020204" pitchFamily="34" charset="-122"/>
              </a:rPr>
              <a:t>数据类型转成</a:t>
            </a:r>
            <a:r>
              <a:rPr lang="en-US" altLang="zh-CN" sz="2400">
                <a:latin typeface="微软雅黑" panose="020B0503020204020204" pitchFamily="34" charset="-122"/>
                <a:ea typeface="微软雅黑" panose="020B0503020204020204" pitchFamily="34" charset="-122"/>
              </a:rPr>
              <a:t>OpenCV</a:t>
            </a:r>
            <a:r>
              <a:rPr lang="zh-CN" altLang="en-US" sz="2400">
                <a:latin typeface="微软雅黑" panose="020B0503020204020204" pitchFamily="34" charset="-122"/>
                <a:ea typeface="微软雅黑" panose="020B0503020204020204" pitchFamily="34" charset="-122"/>
              </a:rPr>
              <a:t>图像的数据类型。</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第三步：用</a:t>
            </a:r>
            <a:r>
              <a:rPr lang="en-US" altLang="zh-CN" sz="2400">
                <a:latin typeface="微软雅黑" panose="020B0503020204020204" pitchFamily="34" charset="-122"/>
                <a:ea typeface="微软雅黑" panose="020B0503020204020204" pitchFamily="34" charset="-122"/>
              </a:rPr>
              <a:t>Opencv</a:t>
            </a:r>
            <a:r>
              <a:rPr lang="zh-CN" altLang="en-US" sz="2400">
                <a:latin typeface="微软雅黑" panose="020B0503020204020204" pitchFamily="34" charset="-122"/>
                <a:ea typeface="微软雅黑" panose="020B0503020204020204" pitchFamily="34" charset="-122"/>
              </a:rPr>
              <a:t>库的函数显示带有图像的窗口。</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期望结果如下。</a:t>
            </a:r>
            <a:endParaRPr lang="en-US" altLang="zh-CN" sz="240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EAA62EF2-96BD-48C8-B628-9FE7EC6A5F8D}"/>
              </a:ext>
            </a:extLst>
          </p:cNvPr>
          <p:cNvPicPr>
            <a:picLocks noChangeAspect="1"/>
          </p:cNvPicPr>
          <p:nvPr/>
        </p:nvPicPr>
        <p:blipFill>
          <a:blip r:embed="rId2"/>
          <a:stretch>
            <a:fillRect/>
          </a:stretch>
        </p:blipFill>
        <p:spPr>
          <a:xfrm>
            <a:off x="508615" y="4311423"/>
            <a:ext cx="5213644" cy="2331351"/>
          </a:xfrm>
          <a:prstGeom prst="rect">
            <a:avLst/>
          </a:prstGeom>
        </p:spPr>
      </p:pic>
    </p:spTree>
    <p:extLst>
      <p:ext uri="{BB962C8B-B14F-4D97-AF65-F5344CB8AC3E}">
        <p14:creationId xmlns:p14="http://schemas.microsoft.com/office/powerpoint/2010/main" val="422713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anim calcmode="lin" valueType="num">
                                      <p:cBhvr>
                                        <p:cTn id="8"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xEl>
                                              <p:pRg st="1" end="1"/>
                                            </p:txEl>
                                          </p:spTgt>
                                        </p:tgtEl>
                                        <p:attrNameLst>
                                          <p:attrName>style.visibility</p:attrName>
                                        </p:attrNameLst>
                                      </p:cBhvr>
                                      <p:to>
                                        <p:strVal val="visible"/>
                                      </p:to>
                                    </p:set>
                                    <p:animEffect transition="in" filter="fade">
                                      <p:cBhvr>
                                        <p:cTn id="14" dur="500"/>
                                        <p:tgtEl>
                                          <p:spTgt spid="13">
                                            <p:txEl>
                                              <p:pRg st="1" end="1"/>
                                            </p:txEl>
                                          </p:spTgt>
                                        </p:tgtEl>
                                      </p:cBhvr>
                                    </p:animEffect>
                                    <p:anim calcmode="lin" valueType="num">
                                      <p:cBhvr>
                                        <p:cTn id="15"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fade">
                                      <p:cBhvr>
                                        <p:cTn id="21" dur="500"/>
                                        <p:tgtEl>
                                          <p:spTgt spid="13">
                                            <p:txEl>
                                              <p:pRg st="2" end="2"/>
                                            </p:txEl>
                                          </p:spTgt>
                                        </p:tgtEl>
                                      </p:cBhvr>
                                    </p:animEffect>
                                    <p:anim calcmode="lin" valueType="num">
                                      <p:cBhvr>
                                        <p:cTn id="22"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xEl>
                                              <p:pRg st="3" end="3"/>
                                            </p:txEl>
                                          </p:spTgt>
                                        </p:tgtEl>
                                        <p:attrNameLst>
                                          <p:attrName>style.visibility</p:attrName>
                                        </p:attrNameLst>
                                      </p:cBhvr>
                                      <p:to>
                                        <p:strVal val="visible"/>
                                      </p:to>
                                    </p:set>
                                    <p:animEffect transition="in" filter="fade">
                                      <p:cBhvr>
                                        <p:cTn id="28" dur="500"/>
                                        <p:tgtEl>
                                          <p:spTgt spid="13">
                                            <p:txEl>
                                              <p:pRg st="3" end="3"/>
                                            </p:txEl>
                                          </p:spTgt>
                                        </p:tgtEl>
                                      </p:cBhvr>
                                    </p:animEffect>
                                    <p:anim calcmode="lin" valueType="num">
                                      <p:cBhvr>
                                        <p:cTn id="29"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1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3">
                                            <p:txEl>
                                              <p:pRg st="4" end="4"/>
                                            </p:txEl>
                                          </p:spTgt>
                                        </p:tgtEl>
                                        <p:attrNameLst>
                                          <p:attrName>style.visibility</p:attrName>
                                        </p:attrNameLst>
                                      </p:cBhvr>
                                      <p:to>
                                        <p:strVal val="visible"/>
                                      </p:to>
                                    </p:set>
                                    <p:animEffect transition="in" filter="fade">
                                      <p:cBhvr>
                                        <p:cTn id="35" dur="500"/>
                                        <p:tgtEl>
                                          <p:spTgt spid="13">
                                            <p:txEl>
                                              <p:pRg st="4" end="4"/>
                                            </p:txEl>
                                          </p:spTgt>
                                        </p:tgtEl>
                                      </p:cBhvr>
                                    </p:animEffect>
                                    <p:anim calcmode="lin" valueType="num">
                                      <p:cBhvr>
                                        <p:cTn id="36"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1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anim calcmode="lin" valueType="num">
                                      <p:cBhvr>
                                        <p:cTn id="41" dur="500" fill="hold"/>
                                        <p:tgtEl>
                                          <p:spTgt spid="3"/>
                                        </p:tgtEl>
                                        <p:attrNameLst>
                                          <p:attrName>ppt_x</p:attrName>
                                        </p:attrNameLst>
                                      </p:cBhvr>
                                      <p:tavLst>
                                        <p:tav tm="0">
                                          <p:val>
                                            <p:strVal val="#ppt_x"/>
                                          </p:val>
                                        </p:tav>
                                        <p:tav tm="100000">
                                          <p:val>
                                            <p:strVal val="#ppt_x"/>
                                          </p:val>
                                        </p:tav>
                                      </p:tavLst>
                                    </p:anim>
                                    <p:anim calcmode="lin" valueType="num">
                                      <p:cBhvr>
                                        <p:cTn id="42"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箭头: 五边形 7">
            <a:extLst>
              <a:ext uri="{FF2B5EF4-FFF2-40B4-BE49-F238E27FC236}">
                <a16:creationId xmlns:a16="http://schemas.microsoft.com/office/drawing/2014/main" id="{468C25B5-FBBF-4ED5-BACB-5A26DB89EC25}"/>
              </a:ext>
            </a:extLst>
          </p:cNvPr>
          <p:cNvSpPr/>
          <p:nvPr/>
        </p:nvSpPr>
        <p:spPr>
          <a:xfrm>
            <a:off x="0" y="339264"/>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3</a:t>
            </a:r>
            <a:endParaRPr lang="zh-CN" altLang="en-US" sz="2400">
              <a:latin typeface="微软雅黑" panose="020B0503020204020204" pitchFamily="34" charset="-122"/>
              <a:ea typeface="微软雅黑" panose="020B0503020204020204" pitchFamily="34" charset="-122"/>
            </a:endParaRPr>
          </a:p>
        </p:txBody>
      </p:sp>
      <p:sp>
        <p:nvSpPr>
          <p:cNvPr id="9" name="箭头: 五边形 8">
            <a:extLst>
              <a:ext uri="{FF2B5EF4-FFF2-40B4-BE49-F238E27FC236}">
                <a16:creationId xmlns:a16="http://schemas.microsoft.com/office/drawing/2014/main" id="{09C25CE1-0637-4A01-9E64-885CB5A753CF}"/>
              </a:ext>
            </a:extLst>
          </p:cNvPr>
          <p:cNvSpPr/>
          <p:nvPr/>
        </p:nvSpPr>
        <p:spPr>
          <a:xfrm flipH="1">
            <a:off x="1313895" y="339264"/>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第三关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转发图像信息给</a:t>
            </a:r>
            <a:r>
              <a:rPr lang="en-US" altLang="zh-CN" sz="2400">
                <a:latin typeface="微软雅黑" panose="020B0503020204020204" pitchFamily="34" charset="-122"/>
                <a:ea typeface="微软雅黑" panose="020B0503020204020204" pitchFamily="34" charset="-122"/>
              </a:rPr>
              <a:t>Opencv</a:t>
            </a:r>
            <a:endParaRPr lang="zh-CN" altLang="en-US" sz="240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FDF4DAA-1562-4A31-ACB4-41048D91725B}"/>
              </a:ext>
            </a:extLst>
          </p:cNvPr>
          <p:cNvPicPr>
            <a:picLocks noChangeAspect="1"/>
          </p:cNvPicPr>
          <p:nvPr/>
        </p:nvPicPr>
        <p:blipFill>
          <a:blip r:embed="rId2"/>
          <a:stretch>
            <a:fillRect/>
          </a:stretch>
        </p:blipFill>
        <p:spPr>
          <a:xfrm>
            <a:off x="234395" y="1261026"/>
            <a:ext cx="10084318" cy="5353325"/>
          </a:xfrm>
          <a:prstGeom prst="rect">
            <a:avLst/>
          </a:prstGeom>
        </p:spPr>
      </p:pic>
      <p:sp>
        <p:nvSpPr>
          <p:cNvPr id="14" name="箭头: 右 13">
            <a:extLst>
              <a:ext uri="{FF2B5EF4-FFF2-40B4-BE49-F238E27FC236}">
                <a16:creationId xmlns:a16="http://schemas.microsoft.com/office/drawing/2014/main" id="{8D65AEA8-3276-48A8-8A80-1BA0D666D737}"/>
              </a:ext>
            </a:extLst>
          </p:cNvPr>
          <p:cNvSpPr/>
          <p:nvPr/>
        </p:nvSpPr>
        <p:spPr>
          <a:xfrm flipH="1">
            <a:off x="7689014" y="5383070"/>
            <a:ext cx="3111744" cy="515411"/>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1. </a:t>
            </a:r>
            <a:r>
              <a:rPr lang="zh-CN" altLang="en-US"/>
              <a:t>创建</a:t>
            </a:r>
            <a:r>
              <a:rPr lang="en-US" altLang="zh-CN"/>
              <a:t>CvBridge</a:t>
            </a:r>
            <a:r>
              <a:rPr lang="zh-CN" altLang="en-US"/>
              <a:t>对象</a:t>
            </a:r>
          </a:p>
        </p:txBody>
      </p:sp>
      <p:sp>
        <p:nvSpPr>
          <p:cNvPr id="15" name="箭头: 右 14">
            <a:extLst>
              <a:ext uri="{FF2B5EF4-FFF2-40B4-BE49-F238E27FC236}">
                <a16:creationId xmlns:a16="http://schemas.microsoft.com/office/drawing/2014/main" id="{B2B6A782-E3B6-4F5A-A2F7-9D266CEB60A9}"/>
              </a:ext>
            </a:extLst>
          </p:cNvPr>
          <p:cNvSpPr/>
          <p:nvPr/>
        </p:nvSpPr>
        <p:spPr>
          <a:xfrm flipH="1">
            <a:off x="7689011" y="2459126"/>
            <a:ext cx="3111747" cy="107787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2. </a:t>
            </a:r>
            <a:r>
              <a:rPr lang="zh-CN" altLang="en-US"/>
              <a:t>将消息中的</a:t>
            </a:r>
            <a:r>
              <a:rPr lang="en-US" altLang="zh-CN"/>
              <a:t>Image</a:t>
            </a:r>
            <a:r>
              <a:rPr lang="zh-CN" altLang="en-US"/>
              <a:t>数据类型转成</a:t>
            </a:r>
            <a:r>
              <a:rPr lang="en-US" altLang="zh-CN"/>
              <a:t>OpenCV</a:t>
            </a:r>
            <a:r>
              <a:rPr lang="zh-CN" altLang="en-US"/>
              <a:t>图像</a:t>
            </a:r>
          </a:p>
        </p:txBody>
      </p:sp>
      <p:sp>
        <p:nvSpPr>
          <p:cNvPr id="16" name="箭头: 右 15">
            <a:extLst>
              <a:ext uri="{FF2B5EF4-FFF2-40B4-BE49-F238E27FC236}">
                <a16:creationId xmlns:a16="http://schemas.microsoft.com/office/drawing/2014/main" id="{4E2BA11D-78C3-4099-B332-900279DAFE4B}"/>
              </a:ext>
            </a:extLst>
          </p:cNvPr>
          <p:cNvSpPr/>
          <p:nvPr/>
        </p:nvSpPr>
        <p:spPr>
          <a:xfrm flipH="1">
            <a:off x="7689012" y="4102100"/>
            <a:ext cx="3111746" cy="973574"/>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3. </a:t>
            </a:r>
            <a:r>
              <a:rPr lang="zh-CN" altLang="en-US"/>
              <a:t>用</a:t>
            </a:r>
            <a:r>
              <a:rPr lang="en-US" altLang="zh-CN"/>
              <a:t>Opencv</a:t>
            </a:r>
            <a:r>
              <a:rPr lang="zh-CN" altLang="en-US"/>
              <a:t>库的函数显示带有图像的窗口</a:t>
            </a:r>
          </a:p>
        </p:txBody>
      </p:sp>
      <p:sp>
        <p:nvSpPr>
          <p:cNvPr id="6" name="矩形 5">
            <a:extLst>
              <a:ext uri="{FF2B5EF4-FFF2-40B4-BE49-F238E27FC236}">
                <a16:creationId xmlns:a16="http://schemas.microsoft.com/office/drawing/2014/main" id="{167E17C8-C771-4C69-877A-AB310FCEC306}"/>
              </a:ext>
            </a:extLst>
          </p:cNvPr>
          <p:cNvSpPr/>
          <p:nvPr/>
        </p:nvSpPr>
        <p:spPr>
          <a:xfrm>
            <a:off x="368300" y="5499100"/>
            <a:ext cx="7320711" cy="30480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5D3CC031-ABEB-433F-AD63-10CCE92B5515}"/>
              </a:ext>
            </a:extLst>
          </p:cNvPr>
          <p:cNvSpPr/>
          <p:nvPr/>
        </p:nvSpPr>
        <p:spPr>
          <a:xfrm>
            <a:off x="346964" y="2807716"/>
            <a:ext cx="7320711" cy="28731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078B0555-7487-4BB2-B337-476F750B4B7C}"/>
              </a:ext>
            </a:extLst>
          </p:cNvPr>
          <p:cNvSpPr/>
          <p:nvPr/>
        </p:nvSpPr>
        <p:spPr>
          <a:xfrm>
            <a:off x="368300" y="4285034"/>
            <a:ext cx="7320711" cy="772097"/>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6171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anim calcmode="lin" valueType="num">
                                      <p:cBhvr>
                                        <p:cTn id="20" dur="500" fill="hold"/>
                                        <p:tgtEl>
                                          <p:spTgt spid="15"/>
                                        </p:tgtEl>
                                        <p:attrNameLst>
                                          <p:attrName>ppt_x</p:attrName>
                                        </p:attrNameLst>
                                      </p:cBhvr>
                                      <p:tavLst>
                                        <p:tav tm="0">
                                          <p:val>
                                            <p:strVal val="#ppt_x"/>
                                          </p:val>
                                        </p:tav>
                                        <p:tav tm="100000">
                                          <p:val>
                                            <p:strVal val="#ppt_x"/>
                                          </p:val>
                                        </p:tav>
                                      </p:tavLst>
                                    </p:anim>
                                    <p:anim calcmode="lin" valueType="num">
                                      <p:cBhvr>
                                        <p:cTn id="21" dur="500" fill="hold"/>
                                        <p:tgtEl>
                                          <p:spTgt spid="1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anim calcmode="lin" valueType="num">
                                      <p:cBhvr>
                                        <p:cTn id="25" dur="500" fill="hold"/>
                                        <p:tgtEl>
                                          <p:spTgt spid="17"/>
                                        </p:tgtEl>
                                        <p:attrNameLst>
                                          <p:attrName>ppt_x</p:attrName>
                                        </p:attrNameLst>
                                      </p:cBhvr>
                                      <p:tavLst>
                                        <p:tav tm="0">
                                          <p:val>
                                            <p:strVal val="#ppt_x"/>
                                          </p:val>
                                        </p:tav>
                                        <p:tav tm="100000">
                                          <p:val>
                                            <p:strVal val="#ppt_x"/>
                                          </p:val>
                                        </p:tav>
                                      </p:tavLst>
                                    </p:anim>
                                    <p:anim calcmode="lin" valueType="num">
                                      <p:cBhvr>
                                        <p:cTn id="26"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anim calcmode="lin" valueType="num">
                                      <p:cBhvr>
                                        <p:cTn id="32" dur="500" fill="hold"/>
                                        <p:tgtEl>
                                          <p:spTgt spid="16"/>
                                        </p:tgtEl>
                                        <p:attrNameLst>
                                          <p:attrName>ppt_x</p:attrName>
                                        </p:attrNameLst>
                                      </p:cBhvr>
                                      <p:tavLst>
                                        <p:tav tm="0">
                                          <p:val>
                                            <p:strVal val="#ppt_x"/>
                                          </p:val>
                                        </p:tav>
                                        <p:tav tm="100000">
                                          <p:val>
                                            <p:strVal val="#ppt_x"/>
                                          </p:val>
                                        </p:tav>
                                      </p:tavLst>
                                    </p:anim>
                                    <p:anim calcmode="lin" valueType="num">
                                      <p:cBhvr>
                                        <p:cTn id="33" dur="500" fill="hold"/>
                                        <p:tgtEl>
                                          <p:spTgt spid="1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anim calcmode="lin" valueType="num">
                                      <p:cBhvr>
                                        <p:cTn id="37" dur="500" fill="hold"/>
                                        <p:tgtEl>
                                          <p:spTgt spid="18"/>
                                        </p:tgtEl>
                                        <p:attrNameLst>
                                          <p:attrName>ppt_x</p:attrName>
                                        </p:attrNameLst>
                                      </p:cBhvr>
                                      <p:tavLst>
                                        <p:tav tm="0">
                                          <p:val>
                                            <p:strVal val="#ppt_x"/>
                                          </p:val>
                                        </p:tav>
                                        <p:tav tm="100000">
                                          <p:val>
                                            <p:strVal val="#ppt_x"/>
                                          </p:val>
                                        </p:tav>
                                      </p:tavLst>
                                    </p:anim>
                                    <p:anim calcmode="lin" valueType="num">
                                      <p:cBhvr>
                                        <p:cTn id="38" dur="5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创建自己的仿真世界</a:t>
            </a:r>
          </a:p>
        </p:txBody>
      </p:sp>
      <p:sp>
        <p:nvSpPr>
          <p:cNvPr id="9" name="文本框 8">
            <a:extLst>
              <a:ext uri="{FF2B5EF4-FFF2-40B4-BE49-F238E27FC236}">
                <a16:creationId xmlns:a16="http://schemas.microsoft.com/office/drawing/2014/main" id="{738ECAF6-5992-46ED-8197-7C236AFA7347}"/>
              </a:ext>
            </a:extLst>
          </p:cNvPr>
          <p:cNvSpPr txBox="1"/>
          <p:nvPr/>
        </p:nvSpPr>
        <p:spPr>
          <a:xfrm>
            <a:off x="8878" y="1514375"/>
            <a:ext cx="12183122" cy="2797048"/>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核心思路：用模块</a:t>
            </a:r>
            <a:r>
              <a:rPr lang="en-US" altLang="zh-CN" sz="2400" b="1">
                <a:latin typeface="微软雅黑" panose="020B0503020204020204" pitchFamily="34" charset="-122"/>
                <a:ea typeface="微软雅黑" panose="020B0503020204020204" pitchFamily="34" charset="-122"/>
              </a:rPr>
              <a:t>model</a:t>
            </a:r>
            <a:r>
              <a:rPr lang="zh-CN" altLang="en-US" sz="2400" b="1">
                <a:latin typeface="微软雅黑" panose="020B0503020204020204" pitchFamily="34" charset="-122"/>
                <a:ea typeface="微软雅黑" panose="020B0503020204020204" pitchFamily="34" charset="-122"/>
              </a:rPr>
              <a:t>拼接世界，并用</a:t>
            </a:r>
            <a:r>
              <a:rPr lang="en-US" altLang="zh-CN" sz="2400" b="1">
                <a:latin typeface="微软雅黑" panose="020B0503020204020204" pitchFamily="34" charset="-122"/>
                <a:ea typeface="微软雅黑" panose="020B0503020204020204" pitchFamily="34" charset="-122"/>
              </a:rPr>
              <a:t>launch</a:t>
            </a:r>
            <a:r>
              <a:rPr lang="zh-CN" altLang="en-US" sz="2400" b="1">
                <a:latin typeface="微软雅黑" panose="020B0503020204020204" pitchFamily="34" charset="-122"/>
                <a:ea typeface="微软雅黑" panose="020B0503020204020204" pitchFamily="34" charset="-122"/>
              </a:rPr>
              <a:t>启动。</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第一步：导入需要的模块。</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第二步：在</a:t>
            </a:r>
            <a:r>
              <a:rPr lang="en-US" altLang="zh-CN" sz="2400">
                <a:latin typeface="微软雅黑" panose="020B0503020204020204" pitchFamily="34" charset="-122"/>
                <a:ea typeface="微软雅黑" panose="020B0503020204020204" pitchFamily="34" charset="-122"/>
              </a:rPr>
              <a:t>world</a:t>
            </a:r>
            <a:r>
              <a:rPr lang="zh-CN" altLang="en-US" sz="2400">
                <a:latin typeface="微软雅黑" panose="020B0503020204020204" pitchFamily="34" charset="-122"/>
                <a:ea typeface="微软雅黑" panose="020B0503020204020204" pitchFamily="34" charset="-122"/>
              </a:rPr>
              <a:t>文件中调用模块。</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第三步：在</a:t>
            </a:r>
            <a:r>
              <a:rPr lang="en-US" altLang="zh-CN" sz="2400">
                <a:latin typeface="微软雅黑" panose="020B0503020204020204" pitchFamily="34" charset="-122"/>
                <a:ea typeface="微软雅黑" panose="020B0503020204020204" pitchFamily="34" charset="-122"/>
              </a:rPr>
              <a:t>launch</a:t>
            </a:r>
            <a:r>
              <a:rPr lang="zh-CN" altLang="en-US" sz="2400">
                <a:latin typeface="微软雅黑" panose="020B0503020204020204" pitchFamily="34" charset="-122"/>
                <a:ea typeface="微软雅黑" panose="020B0503020204020204" pitchFamily="34" charset="-122"/>
              </a:rPr>
              <a:t>文件中调用</a:t>
            </a:r>
            <a:r>
              <a:rPr lang="en-US" altLang="zh-CN" sz="2400">
                <a:latin typeface="微软雅黑" panose="020B0503020204020204" pitchFamily="34" charset="-122"/>
                <a:ea typeface="微软雅黑" panose="020B0503020204020204" pitchFamily="34" charset="-122"/>
              </a:rPr>
              <a:t>world</a:t>
            </a:r>
            <a:r>
              <a:rPr lang="zh-CN" altLang="en-US" sz="2400">
                <a:latin typeface="微软雅黑" panose="020B0503020204020204" pitchFamily="34" charset="-122"/>
                <a:ea typeface="微软雅黑" panose="020B0503020204020204" pitchFamily="34" charset="-122"/>
              </a:rPr>
              <a:t>文件。</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期望结果如下。</a:t>
            </a:r>
            <a:endParaRPr lang="en-US" altLang="zh-CN" sz="240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C584436-1ABB-421B-A9FF-F20FF2797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213" y="4311423"/>
            <a:ext cx="4672013" cy="2408958"/>
          </a:xfrm>
          <a:prstGeom prst="rect">
            <a:avLst/>
          </a:prstGeom>
        </p:spPr>
      </p:pic>
    </p:spTree>
    <p:extLst>
      <p:ext uri="{BB962C8B-B14F-4D97-AF65-F5344CB8AC3E}">
        <p14:creationId xmlns:p14="http://schemas.microsoft.com/office/powerpoint/2010/main" val="359433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anim calcmode="lin" valueType="num">
                                      <p:cBhvr>
                                        <p:cTn id="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500"/>
                                        <p:tgtEl>
                                          <p:spTgt spid="9">
                                            <p:txEl>
                                              <p:pRg st="1" end="1"/>
                                            </p:txEl>
                                          </p:spTgt>
                                        </p:tgtEl>
                                      </p:cBhvr>
                                    </p:animEffect>
                                    <p:anim calcmode="lin" valueType="num">
                                      <p:cBhvr>
                                        <p:cTn id="1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500"/>
                                        <p:tgtEl>
                                          <p:spTgt spid="9">
                                            <p:txEl>
                                              <p:pRg st="2" end="2"/>
                                            </p:txEl>
                                          </p:spTgt>
                                        </p:tgtEl>
                                      </p:cBhvr>
                                    </p:animEffect>
                                    <p:anim calcmode="lin" valueType="num">
                                      <p:cBhvr>
                                        <p:cTn id="22"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3" end="3"/>
                                            </p:txEl>
                                          </p:spTgt>
                                        </p:tgtEl>
                                        <p:attrNameLst>
                                          <p:attrName>style.visibility</p:attrName>
                                        </p:attrNameLst>
                                      </p:cBhvr>
                                      <p:to>
                                        <p:strVal val="visible"/>
                                      </p:to>
                                    </p:set>
                                    <p:animEffect transition="in" filter="fade">
                                      <p:cBhvr>
                                        <p:cTn id="28" dur="500"/>
                                        <p:tgtEl>
                                          <p:spTgt spid="9">
                                            <p:txEl>
                                              <p:pRg st="3" end="3"/>
                                            </p:txEl>
                                          </p:spTgt>
                                        </p:tgtEl>
                                      </p:cBhvr>
                                    </p:animEffect>
                                    <p:anim calcmode="lin" valueType="num">
                                      <p:cBhvr>
                                        <p:cTn id="2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animEffect transition="in" filter="fade">
                                      <p:cBhvr>
                                        <p:cTn id="35" dur="500"/>
                                        <p:tgtEl>
                                          <p:spTgt spid="9">
                                            <p:txEl>
                                              <p:pRg st="4" end="4"/>
                                            </p:txEl>
                                          </p:spTgt>
                                        </p:tgtEl>
                                      </p:cBhvr>
                                    </p:animEffect>
                                    <p:anim calcmode="lin" valueType="num">
                                      <p:cBhvr>
                                        <p:cTn id="36"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9">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anim calcmode="lin" valueType="num">
                                      <p:cBhvr>
                                        <p:cTn id="41" dur="500" fill="hold"/>
                                        <p:tgtEl>
                                          <p:spTgt spid="4"/>
                                        </p:tgtEl>
                                        <p:attrNameLst>
                                          <p:attrName>ppt_x</p:attrName>
                                        </p:attrNameLst>
                                      </p:cBhvr>
                                      <p:tavLst>
                                        <p:tav tm="0">
                                          <p:val>
                                            <p:strVal val="#ppt_x"/>
                                          </p:val>
                                        </p:tav>
                                        <p:tav tm="100000">
                                          <p:val>
                                            <p:strVal val="#ppt_x"/>
                                          </p:val>
                                        </p:tav>
                                      </p:tavLst>
                                    </p:anim>
                                    <p:anim calcmode="lin" valueType="num">
                                      <p:cBhvr>
                                        <p:cTn id="42"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创建自己的仿真世界</a:t>
            </a:r>
          </a:p>
        </p:txBody>
      </p:sp>
      <p:sp>
        <p:nvSpPr>
          <p:cNvPr id="9" name="文本框 8">
            <a:extLst>
              <a:ext uri="{FF2B5EF4-FFF2-40B4-BE49-F238E27FC236}">
                <a16:creationId xmlns:a16="http://schemas.microsoft.com/office/drawing/2014/main" id="{738ECAF6-5992-46ED-8197-7C236AFA7347}"/>
              </a:ext>
            </a:extLst>
          </p:cNvPr>
          <p:cNvSpPr txBox="1"/>
          <p:nvPr/>
        </p:nvSpPr>
        <p:spPr>
          <a:xfrm>
            <a:off x="8878" y="1514375"/>
            <a:ext cx="12183122" cy="2243050"/>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第一步：教程所用的模块是</a:t>
            </a:r>
            <a:r>
              <a:rPr lang="en-US" altLang="zh-CN" sz="2400" b="1">
                <a:latin typeface="微软雅黑" panose="020B0503020204020204" pitchFamily="34" charset="-122"/>
                <a:ea typeface="微软雅黑" panose="020B0503020204020204" pitchFamily="34" charset="-122"/>
              </a:rPr>
              <a:t>turtlebot3_simulation</a:t>
            </a:r>
            <a:r>
              <a:rPr lang="zh-CN" altLang="en-US" sz="2400" b="1">
                <a:latin typeface="微软雅黑" panose="020B0503020204020204" pitchFamily="34" charset="-122"/>
                <a:ea typeface="微软雅黑" panose="020B0503020204020204" pitchFamily="34" charset="-122"/>
              </a:rPr>
              <a:t>库中的</a:t>
            </a:r>
            <a:r>
              <a:rPr lang="en-US" altLang="zh-CN" sz="2400" b="1">
                <a:latin typeface="微软雅黑" panose="020B0503020204020204" pitchFamily="34" charset="-122"/>
                <a:ea typeface="微软雅黑" panose="020B0503020204020204" pitchFamily="34" charset="-122"/>
              </a:rPr>
              <a:t>course</a:t>
            </a:r>
            <a:r>
              <a:rPr lang="zh-CN" altLang="en-US" sz="2400" b="1">
                <a:latin typeface="微软雅黑" panose="020B0503020204020204" pitchFamily="34" charset="-122"/>
                <a:ea typeface="微软雅黑" panose="020B0503020204020204" pitchFamily="34" charset="-122"/>
              </a:rPr>
              <a:t>。</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找到</a:t>
            </a:r>
            <a:r>
              <a:rPr lang="en-US" altLang="zh-CN" sz="2400">
                <a:latin typeface="微软雅黑" panose="020B0503020204020204" pitchFamily="34" charset="-122"/>
                <a:ea typeface="微软雅黑" panose="020B0503020204020204" pitchFamily="34" charset="-122"/>
              </a:rPr>
              <a:t>~/catkin_ws/turtlebot3_simulations/turtlebot3_gazebo/models/</a:t>
            </a:r>
            <a:r>
              <a:rPr lang="zh-CN" altLang="en-US" sz="2400">
                <a:latin typeface="微软雅黑" panose="020B0503020204020204" pitchFamily="34" charset="-122"/>
                <a:ea typeface="微软雅黑" panose="020B0503020204020204" pitchFamily="34" charset="-122"/>
              </a:rPr>
              <a:t>，把所有的模块拷贝到自己的功能包目录下。</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期望的功能包目录结构如下。</a:t>
            </a:r>
            <a:endParaRPr lang="en-US" altLang="zh-CN" sz="240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24F88198-6B04-4B1F-A4F6-920CD9603826}"/>
              </a:ext>
            </a:extLst>
          </p:cNvPr>
          <p:cNvPicPr>
            <a:picLocks noChangeAspect="1"/>
          </p:cNvPicPr>
          <p:nvPr/>
        </p:nvPicPr>
        <p:blipFill>
          <a:blip r:embed="rId2"/>
          <a:stretch>
            <a:fillRect/>
          </a:stretch>
        </p:blipFill>
        <p:spPr>
          <a:xfrm>
            <a:off x="501213" y="3757425"/>
            <a:ext cx="2561235" cy="2995344"/>
          </a:xfrm>
          <a:prstGeom prst="rect">
            <a:avLst/>
          </a:prstGeom>
        </p:spPr>
      </p:pic>
      <p:sp>
        <p:nvSpPr>
          <p:cNvPr id="10" name="箭头: 右 9">
            <a:extLst>
              <a:ext uri="{FF2B5EF4-FFF2-40B4-BE49-F238E27FC236}">
                <a16:creationId xmlns:a16="http://schemas.microsoft.com/office/drawing/2014/main" id="{2239CD86-1CE2-469A-86ED-22E236788810}"/>
              </a:ext>
            </a:extLst>
          </p:cNvPr>
          <p:cNvSpPr/>
          <p:nvPr/>
        </p:nvSpPr>
        <p:spPr>
          <a:xfrm flipH="1">
            <a:off x="7843260" y="4573676"/>
            <a:ext cx="3111747" cy="107787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需要用到的模块</a:t>
            </a:r>
          </a:p>
        </p:txBody>
      </p:sp>
      <p:sp>
        <p:nvSpPr>
          <p:cNvPr id="11" name="矩形 10">
            <a:extLst>
              <a:ext uri="{FF2B5EF4-FFF2-40B4-BE49-F238E27FC236}">
                <a16:creationId xmlns:a16="http://schemas.microsoft.com/office/drawing/2014/main" id="{173E932F-6404-4D82-A317-98571E328148}"/>
              </a:ext>
            </a:extLst>
          </p:cNvPr>
          <p:cNvSpPr/>
          <p:nvPr/>
        </p:nvSpPr>
        <p:spPr>
          <a:xfrm>
            <a:off x="501213" y="4922266"/>
            <a:ext cx="7320711" cy="28731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9811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anim calcmode="lin" valueType="num">
                                      <p:cBhvr>
                                        <p:cTn id="13" dur="500" fill="hold"/>
                                        <p:tgtEl>
                                          <p:spTgt spid="11"/>
                                        </p:tgtEl>
                                        <p:attrNameLst>
                                          <p:attrName>ppt_x</p:attrName>
                                        </p:attrNameLst>
                                      </p:cBhvr>
                                      <p:tavLst>
                                        <p:tav tm="0">
                                          <p:val>
                                            <p:strVal val="#ppt_x"/>
                                          </p:val>
                                        </p:tav>
                                        <p:tav tm="100000">
                                          <p:val>
                                            <p:strVal val="#ppt_x"/>
                                          </p:val>
                                        </p:tav>
                                      </p:tavLst>
                                    </p:anim>
                                    <p:anim calcmode="lin" valueType="num">
                                      <p:cBhvr>
                                        <p:cTn id="1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57928B8-F87B-489F-8D5D-D8EF4836C757}"/>
              </a:ext>
            </a:extLst>
          </p:cNvPr>
          <p:cNvPicPr>
            <a:picLocks noChangeAspect="1"/>
          </p:cNvPicPr>
          <p:nvPr/>
        </p:nvPicPr>
        <p:blipFill>
          <a:blip r:embed="rId2"/>
          <a:stretch>
            <a:fillRect/>
          </a:stretch>
        </p:blipFill>
        <p:spPr>
          <a:xfrm>
            <a:off x="-5410" y="3997701"/>
            <a:ext cx="8237855" cy="1928663"/>
          </a:xfrm>
          <a:prstGeom prst="rect">
            <a:avLst/>
          </a:prstGeom>
        </p:spPr>
      </p:pic>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创建自己的仿真世界</a:t>
            </a:r>
          </a:p>
        </p:txBody>
      </p:sp>
      <p:sp>
        <p:nvSpPr>
          <p:cNvPr id="9" name="文本框 8">
            <a:extLst>
              <a:ext uri="{FF2B5EF4-FFF2-40B4-BE49-F238E27FC236}">
                <a16:creationId xmlns:a16="http://schemas.microsoft.com/office/drawing/2014/main" id="{738ECAF6-5992-46ED-8197-7C236AFA7347}"/>
              </a:ext>
            </a:extLst>
          </p:cNvPr>
          <p:cNvSpPr txBox="1"/>
          <p:nvPr/>
        </p:nvSpPr>
        <p:spPr>
          <a:xfrm>
            <a:off x="8878" y="1514375"/>
            <a:ext cx="12183122" cy="1689052"/>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第二步：在</a:t>
            </a:r>
            <a:r>
              <a:rPr lang="en-US" altLang="zh-CN" sz="2400" b="1">
                <a:latin typeface="微软雅黑" panose="020B0503020204020204" pitchFamily="34" charset="-122"/>
                <a:ea typeface="微软雅黑" panose="020B0503020204020204" pitchFamily="34" charset="-122"/>
              </a:rPr>
              <a:t>world</a:t>
            </a:r>
            <a:r>
              <a:rPr lang="zh-CN" altLang="en-US" sz="2400" b="1">
                <a:latin typeface="微软雅黑" panose="020B0503020204020204" pitchFamily="34" charset="-122"/>
                <a:ea typeface="微软雅黑" panose="020B0503020204020204" pitchFamily="34" charset="-122"/>
              </a:rPr>
              <a:t>文件中调用模块。</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找到</a:t>
            </a:r>
            <a:r>
              <a:rPr lang="en-US" altLang="zh-CN" sz="2400">
                <a:latin typeface="微软雅黑" panose="020B0503020204020204" pitchFamily="34" charset="-122"/>
                <a:ea typeface="微软雅黑" panose="020B0503020204020204" pitchFamily="34" charset="-122"/>
              </a:rPr>
              <a:t>~/catkin_ws/turtlebot3_simulations/turtlebot3_gazebo/worlds</a:t>
            </a:r>
            <a:r>
              <a:rPr lang="zh-CN" altLang="en-US" sz="2400">
                <a:latin typeface="微软雅黑" panose="020B0503020204020204" pitchFamily="34" charset="-122"/>
                <a:ea typeface="微软雅黑" panose="020B0503020204020204" pitchFamily="34" charset="-122"/>
              </a:rPr>
              <a:t>中的</a:t>
            </a:r>
            <a:r>
              <a:rPr lang="en-US" altLang="zh-CN" sz="2400">
                <a:latin typeface="微软雅黑" panose="020B0503020204020204" pitchFamily="34" charset="-122"/>
                <a:ea typeface="微软雅黑" panose="020B0503020204020204" pitchFamily="34" charset="-122"/>
              </a:rPr>
              <a:t>empty.world</a:t>
            </a:r>
            <a:r>
              <a:rPr lang="zh-CN" altLang="en-US" sz="2400">
                <a:latin typeface="微软雅黑" panose="020B0503020204020204" pitchFamily="34" charset="-122"/>
                <a:ea typeface="微软雅黑" panose="020B0503020204020204" pitchFamily="34" charset="-122"/>
              </a:rPr>
              <a:t>，复制到自己的</a:t>
            </a:r>
            <a:r>
              <a:rPr lang="en-US" altLang="zh-CN" sz="2400">
                <a:latin typeface="微软雅黑" panose="020B0503020204020204" pitchFamily="34" charset="-122"/>
                <a:ea typeface="微软雅黑" panose="020B0503020204020204" pitchFamily="34" charset="-122"/>
              </a:rPr>
              <a:t>worlds</a:t>
            </a:r>
            <a:r>
              <a:rPr lang="zh-CN" altLang="en-US" sz="2400">
                <a:latin typeface="微软雅黑" panose="020B0503020204020204" pitchFamily="34" charset="-122"/>
                <a:ea typeface="微软雅黑" panose="020B0503020204020204" pitchFamily="34" charset="-122"/>
              </a:rPr>
              <a:t>文件夹下，并增加对</a:t>
            </a:r>
            <a:r>
              <a:rPr lang="en-US" altLang="zh-CN" sz="2400">
                <a:latin typeface="微软雅黑" panose="020B0503020204020204" pitchFamily="34" charset="-122"/>
                <a:ea typeface="微软雅黑" panose="020B0503020204020204" pitchFamily="34" charset="-122"/>
              </a:rPr>
              <a:t>course</a:t>
            </a:r>
            <a:r>
              <a:rPr lang="zh-CN" altLang="en-US" sz="2400">
                <a:latin typeface="微软雅黑" panose="020B0503020204020204" pitchFamily="34" charset="-122"/>
                <a:ea typeface="微软雅黑" panose="020B0503020204020204" pitchFamily="34" charset="-122"/>
              </a:rPr>
              <a:t>模块的调用。</a:t>
            </a:r>
            <a:endParaRPr lang="en-US" altLang="zh-CN" sz="240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2239CD86-1CE2-469A-86ED-22E236788810}"/>
              </a:ext>
            </a:extLst>
          </p:cNvPr>
          <p:cNvSpPr/>
          <p:nvPr/>
        </p:nvSpPr>
        <p:spPr>
          <a:xfrm flipH="1">
            <a:off x="8009095" y="4437385"/>
            <a:ext cx="3111747" cy="107787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根据路径调用</a:t>
            </a:r>
            <a:r>
              <a:rPr lang="en-US" altLang="zh-CN"/>
              <a:t>course</a:t>
            </a:r>
            <a:r>
              <a:rPr lang="zh-CN" altLang="en-US"/>
              <a:t>模块</a:t>
            </a:r>
          </a:p>
        </p:txBody>
      </p:sp>
      <p:sp>
        <p:nvSpPr>
          <p:cNvPr id="11" name="矩形 10">
            <a:extLst>
              <a:ext uri="{FF2B5EF4-FFF2-40B4-BE49-F238E27FC236}">
                <a16:creationId xmlns:a16="http://schemas.microsoft.com/office/drawing/2014/main" id="{173E932F-6404-4D82-A317-98571E328148}"/>
              </a:ext>
            </a:extLst>
          </p:cNvPr>
          <p:cNvSpPr/>
          <p:nvPr/>
        </p:nvSpPr>
        <p:spPr>
          <a:xfrm>
            <a:off x="688384" y="4832664"/>
            <a:ext cx="7320711" cy="28731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00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anim calcmode="lin" valueType="num">
                                      <p:cBhvr>
                                        <p:cTn id="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500"/>
                                        <p:tgtEl>
                                          <p:spTgt spid="9">
                                            <p:txEl>
                                              <p:pRg st="1" end="1"/>
                                            </p:txEl>
                                          </p:spTgt>
                                        </p:tgtEl>
                                      </p:cBhvr>
                                    </p:animEffect>
                                    <p:anim calcmode="lin" valueType="num">
                                      <p:cBhvr>
                                        <p:cTn id="1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anim calcmode="lin" valueType="num">
                                      <p:cBhvr>
                                        <p:cTn id="22" dur="500" fill="hold"/>
                                        <p:tgtEl>
                                          <p:spTgt spid="3"/>
                                        </p:tgtEl>
                                        <p:attrNameLst>
                                          <p:attrName>ppt_x</p:attrName>
                                        </p:attrNameLst>
                                      </p:cBhvr>
                                      <p:tavLst>
                                        <p:tav tm="0">
                                          <p:val>
                                            <p:strVal val="#ppt_x"/>
                                          </p:val>
                                        </p:tav>
                                        <p:tav tm="100000">
                                          <p:val>
                                            <p:strVal val="#ppt_x"/>
                                          </p:val>
                                        </p:tav>
                                      </p:tavLst>
                                    </p:anim>
                                    <p:anim calcmode="lin" valueType="num">
                                      <p:cBhvr>
                                        <p:cTn id="23"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p:cTn id="29" dur="500" fill="hold"/>
                                        <p:tgtEl>
                                          <p:spTgt spid="10"/>
                                        </p:tgtEl>
                                        <p:attrNameLst>
                                          <p:attrName>ppt_x</p:attrName>
                                        </p:attrNameLst>
                                      </p:cBhvr>
                                      <p:tavLst>
                                        <p:tav tm="0">
                                          <p:val>
                                            <p:strVal val="#ppt_x"/>
                                          </p:val>
                                        </p:tav>
                                        <p:tav tm="100000">
                                          <p:val>
                                            <p:strVal val="#ppt_x"/>
                                          </p:val>
                                        </p:tav>
                                      </p:tavLst>
                                    </p:anim>
                                    <p:anim calcmode="lin" valueType="num">
                                      <p:cBhvr>
                                        <p:cTn id="30"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FCEB5AB7-E45B-42C1-AB33-B5DDE12CE8FB}"/>
              </a:ext>
            </a:extLst>
          </p:cNvPr>
          <p:cNvPicPr>
            <a:picLocks noChangeAspect="1"/>
          </p:cNvPicPr>
          <p:nvPr/>
        </p:nvPicPr>
        <p:blipFill>
          <a:blip r:embed="rId2"/>
          <a:stretch>
            <a:fillRect/>
          </a:stretch>
        </p:blipFill>
        <p:spPr>
          <a:xfrm>
            <a:off x="501213" y="5541006"/>
            <a:ext cx="6128065" cy="1295467"/>
          </a:xfrm>
          <a:prstGeom prst="rect">
            <a:avLst/>
          </a:prstGeom>
        </p:spPr>
      </p:pic>
      <p:pic>
        <p:nvPicPr>
          <p:cNvPr id="8" name="图片 7">
            <a:extLst>
              <a:ext uri="{FF2B5EF4-FFF2-40B4-BE49-F238E27FC236}">
                <a16:creationId xmlns:a16="http://schemas.microsoft.com/office/drawing/2014/main" id="{F623396B-1946-4974-8F65-6EC9E4912DF3}"/>
              </a:ext>
            </a:extLst>
          </p:cNvPr>
          <p:cNvPicPr>
            <a:picLocks noChangeAspect="1"/>
          </p:cNvPicPr>
          <p:nvPr/>
        </p:nvPicPr>
        <p:blipFill>
          <a:blip r:embed="rId3"/>
          <a:stretch>
            <a:fillRect/>
          </a:stretch>
        </p:blipFill>
        <p:spPr>
          <a:xfrm>
            <a:off x="501213" y="4743827"/>
            <a:ext cx="6934556" cy="749339"/>
          </a:xfrm>
          <a:prstGeom prst="rect">
            <a:avLst/>
          </a:prstGeom>
        </p:spPr>
      </p:pic>
      <p:pic>
        <p:nvPicPr>
          <p:cNvPr id="5" name="图片 4">
            <a:extLst>
              <a:ext uri="{FF2B5EF4-FFF2-40B4-BE49-F238E27FC236}">
                <a16:creationId xmlns:a16="http://schemas.microsoft.com/office/drawing/2014/main" id="{BAF69C15-FDEA-459E-813F-760BDB21899D}"/>
              </a:ext>
            </a:extLst>
          </p:cNvPr>
          <p:cNvPicPr>
            <a:picLocks noChangeAspect="1"/>
          </p:cNvPicPr>
          <p:nvPr/>
        </p:nvPicPr>
        <p:blipFill>
          <a:blip r:embed="rId4"/>
          <a:stretch>
            <a:fillRect/>
          </a:stretch>
        </p:blipFill>
        <p:spPr>
          <a:xfrm>
            <a:off x="501213" y="3815595"/>
            <a:ext cx="6890104" cy="958899"/>
          </a:xfrm>
          <a:prstGeom prst="rect">
            <a:avLst/>
          </a:prstGeom>
        </p:spPr>
      </p:pic>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4</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第四关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创建自己的仿真世界</a:t>
            </a:r>
          </a:p>
        </p:txBody>
      </p:sp>
      <p:sp>
        <p:nvSpPr>
          <p:cNvPr id="9" name="文本框 8">
            <a:extLst>
              <a:ext uri="{FF2B5EF4-FFF2-40B4-BE49-F238E27FC236}">
                <a16:creationId xmlns:a16="http://schemas.microsoft.com/office/drawing/2014/main" id="{738ECAF6-5992-46ED-8197-7C236AFA7347}"/>
              </a:ext>
            </a:extLst>
          </p:cNvPr>
          <p:cNvSpPr txBox="1"/>
          <p:nvPr/>
        </p:nvSpPr>
        <p:spPr>
          <a:xfrm>
            <a:off x="8878" y="1514375"/>
            <a:ext cx="12183122" cy="2243050"/>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第三步：在</a:t>
            </a:r>
            <a:r>
              <a:rPr lang="en-US" altLang="zh-CN" sz="2400" b="1">
                <a:latin typeface="微软雅黑" panose="020B0503020204020204" pitchFamily="34" charset="-122"/>
                <a:ea typeface="微软雅黑" panose="020B0503020204020204" pitchFamily="34" charset="-122"/>
              </a:rPr>
              <a:t>launch</a:t>
            </a:r>
            <a:r>
              <a:rPr lang="zh-CN" altLang="en-US" sz="2400" b="1">
                <a:latin typeface="微软雅黑" panose="020B0503020204020204" pitchFamily="34" charset="-122"/>
                <a:ea typeface="微软雅黑" panose="020B0503020204020204" pitchFamily="34" charset="-122"/>
              </a:rPr>
              <a:t>文件中调用</a:t>
            </a:r>
            <a:r>
              <a:rPr lang="en-US" altLang="zh-CN" sz="2400" b="1">
                <a:latin typeface="微软雅黑" panose="020B0503020204020204" pitchFamily="34" charset="-122"/>
                <a:ea typeface="微软雅黑" panose="020B0503020204020204" pitchFamily="34" charset="-122"/>
              </a:rPr>
              <a:t>world</a:t>
            </a:r>
            <a:r>
              <a:rPr lang="zh-CN" altLang="en-US" sz="2400" b="1">
                <a:latin typeface="微软雅黑" panose="020B0503020204020204" pitchFamily="34" charset="-122"/>
                <a:ea typeface="微软雅黑" panose="020B0503020204020204" pitchFamily="34" charset="-122"/>
              </a:rPr>
              <a:t>文件。</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找到</a:t>
            </a:r>
            <a:r>
              <a:rPr lang="en-US" altLang="zh-CN" sz="2400">
                <a:latin typeface="微软雅黑" panose="020B0503020204020204" pitchFamily="34" charset="-122"/>
                <a:ea typeface="微软雅黑" panose="020B0503020204020204" pitchFamily="34" charset="-122"/>
              </a:rPr>
              <a:t>~/catkin_ws/turtlebot3_simulations/turtlebot3_gazebo/launch</a:t>
            </a:r>
            <a:r>
              <a:rPr lang="zh-CN" altLang="en-US" sz="2400">
                <a:latin typeface="微软雅黑" panose="020B0503020204020204" pitchFamily="34" charset="-122"/>
                <a:ea typeface="微软雅黑" panose="020B0503020204020204" pitchFamily="34" charset="-122"/>
              </a:rPr>
              <a:t>中的</a:t>
            </a:r>
            <a:r>
              <a:rPr lang="en-US" altLang="zh-CN" sz="2400">
                <a:latin typeface="微软雅黑" panose="020B0503020204020204" pitchFamily="34" charset="-122"/>
                <a:ea typeface="微软雅黑" panose="020B0503020204020204" pitchFamily="34" charset="-122"/>
              </a:rPr>
              <a:t>turtlebot3_empty_world.launch</a:t>
            </a:r>
            <a:r>
              <a:rPr lang="zh-CN" altLang="en-US" sz="2400">
                <a:latin typeface="微软雅黑" panose="020B0503020204020204" pitchFamily="34" charset="-122"/>
                <a:ea typeface="微软雅黑" panose="020B0503020204020204" pitchFamily="34" charset="-122"/>
              </a:rPr>
              <a:t>，复制到自己的</a:t>
            </a:r>
            <a:r>
              <a:rPr lang="en-US" altLang="zh-CN" sz="2400">
                <a:latin typeface="微软雅黑" panose="020B0503020204020204" pitchFamily="34" charset="-122"/>
                <a:ea typeface="微软雅黑" panose="020B0503020204020204" pitchFamily="34" charset="-122"/>
              </a:rPr>
              <a:t>launch</a:t>
            </a:r>
            <a:r>
              <a:rPr lang="zh-CN" altLang="en-US" sz="2400">
                <a:latin typeface="微软雅黑" panose="020B0503020204020204" pitchFamily="34" charset="-122"/>
                <a:ea typeface="微软雅黑" panose="020B0503020204020204" pitchFamily="34" charset="-122"/>
              </a:rPr>
              <a:t>文件夹下，并修改</a:t>
            </a:r>
            <a:r>
              <a:rPr lang="en-US" altLang="zh-CN" sz="2400">
                <a:latin typeface="微软雅黑" panose="020B0503020204020204" pitchFamily="34" charset="-122"/>
                <a:ea typeface="微软雅黑" panose="020B0503020204020204" pitchFamily="34" charset="-122"/>
              </a:rPr>
              <a:t>world</a:t>
            </a:r>
            <a:r>
              <a:rPr lang="zh-CN" altLang="en-US" sz="2400">
                <a:latin typeface="微软雅黑" panose="020B0503020204020204" pitchFamily="34" charset="-122"/>
                <a:ea typeface="微软雅黑" panose="020B0503020204020204" pitchFamily="34" charset="-122"/>
              </a:rPr>
              <a:t>模块的调用路径、增加模块调用路径、增加状态发布结点。</a:t>
            </a:r>
            <a:endParaRPr lang="en-US" altLang="zh-CN" sz="240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2239CD86-1CE2-469A-86ED-22E236788810}"/>
              </a:ext>
            </a:extLst>
          </p:cNvPr>
          <p:cNvSpPr/>
          <p:nvPr/>
        </p:nvSpPr>
        <p:spPr>
          <a:xfrm flipH="1">
            <a:off x="7700206" y="4579560"/>
            <a:ext cx="3111747" cy="107787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将</a:t>
            </a:r>
            <a:r>
              <a:rPr lang="en-US" altLang="zh-CN"/>
              <a:t>world</a:t>
            </a:r>
            <a:r>
              <a:rPr lang="zh-CN" altLang="en-US"/>
              <a:t>路径改成自己的</a:t>
            </a:r>
          </a:p>
        </p:txBody>
      </p:sp>
      <p:sp>
        <p:nvSpPr>
          <p:cNvPr id="11" name="矩形 10">
            <a:extLst>
              <a:ext uri="{FF2B5EF4-FFF2-40B4-BE49-F238E27FC236}">
                <a16:creationId xmlns:a16="http://schemas.microsoft.com/office/drawing/2014/main" id="{173E932F-6404-4D82-A317-98571E328148}"/>
              </a:ext>
            </a:extLst>
          </p:cNvPr>
          <p:cNvSpPr/>
          <p:nvPr/>
        </p:nvSpPr>
        <p:spPr>
          <a:xfrm>
            <a:off x="379495" y="4770536"/>
            <a:ext cx="7320711" cy="708342"/>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a:extLst>
              <a:ext uri="{FF2B5EF4-FFF2-40B4-BE49-F238E27FC236}">
                <a16:creationId xmlns:a16="http://schemas.microsoft.com/office/drawing/2014/main" id="{35A27DE4-1F2D-467C-8433-D8C746579A9D}"/>
              </a:ext>
            </a:extLst>
          </p:cNvPr>
          <p:cNvSpPr/>
          <p:nvPr/>
        </p:nvSpPr>
        <p:spPr>
          <a:xfrm flipH="1">
            <a:off x="7700206" y="3629557"/>
            <a:ext cx="3111747" cy="107787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添加模块调用的路径</a:t>
            </a:r>
          </a:p>
        </p:txBody>
      </p:sp>
      <p:sp>
        <p:nvSpPr>
          <p:cNvPr id="19" name="矩形 18">
            <a:extLst>
              <a:ext uri="{FF2B5EF4-FFF2-40B4-BE49-F238E27FC236}">
                <a16:creationId xmlns:a16="http://schemas.microsoft.com/office/drawing/2014/main" id="{DFB1F4AA-34F8-45D8-B436-AF957CA423C8}"/>
              </a:ext>
            </a:extLst>
          </p:cNvPr>
          <p:cNvSpPr/>
          <p:nvPr/>
        </p:nvSpPr>
        <p:spPr>
          <a:xfrm>
            <a:off x="379495" y="3808110"/>
            <a:ext cx="7320711" cy="966383"/>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893E187A-3941-47C9-96AF-A5F6B40EB6F9}"/>
              </a:ext>
            </a:extLst>
          </p:cNvPr>
          <p:cNvSpPr/>
          <p:nvPr/>
        </p:nvSpPr>
        <p:spPr>
          <a:xfrm>
            <a:off x="379495" y="5494236"/>
            <a:ext cx="7320711" cy="1295467"/>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A9A76D01-65EB-4AF4-AB6D-722D123CB03E}"/>
              </a:ext>
            </a:extLst>
          </p:cNvPr>
          <p:cNvSpPr/>
          <p:nvPr/>
        </p:nvSpPr>
        <p:spPr>
          <a:xfrm flipH="1">
            <a:off x="7700205" y="5541986"/>
            <a:ext cx="3111747" cy="1077872"/>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增加状态发布结点</a:t>
            </a:r>
          </a:p>
        </p:txBody>
      </p:sp>
    </p:spTree>
    <p:extLst>
      <p:ext uri="{BB962C8B-B14F-4D97-AF65-F5344CB8AC3E}">
        <p14:creationId xmlns:p14="http://schemas.microsoft.com/office/powerpoint/2010/main" val="115932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anim calcmode="lin" valueType="num">
                                      <p:cBhvr>
                                        <p:cTn id="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500"/>
                                        <p:tgtEl>
                                          <p:spTgt spid="9">
                                            <p:txEl>
                                              <p:pRg st="1" end="1"/>
                                            </p:txEl>
                                          </p:spTgt>
                                        </p:tgtEl>
                                      </p:cBhvr>
                                    </p:animEffect>
                                    <p:anim calcmode="lin" valueType="num">
                                      <p:cBhvr>
                                        <p:cTn id="15"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p:cTn id="29" dur="500" fill="hold"/>
                                        <p:tgtEl>
                                          <p:spTgt spid="10"/>
                                        </p:tgtEl>
                                        <p:attrNameLst>
                                          <p:attrName>ppt_x</p:attrName>
                                        </p:attrNameLst>
                                      </p:cBhvr>
                                      <p:tavLst>
                                        <p:tav tm="0">
                                          <p:val>
                                            <p:strVal val="#ppt_x"/>
                                          </p:val>
                                        </p:tav>
                                        <p:tav tm="100000">
                                          <p:val>
                                            <p:strVal val="#ppt_x"/>
                                          </p:val>
                                        </p:tav>
                                      </p:tavLst>
                                    </p:anim>
                                    <p:anim calcmode="lin" valueType="num">
                                      <p:cBhvr>
                                        <p:cTn id="30" dur="500" fill="hold"/>
                                        <p:tgtEl>
                                          <p:spTgt spid="10"/>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anim calcmode="lin" valueType="num">
                                      <p:cBhvr>
                                        <p:cTn id="34" dur="500" fill="hold"/>
                                        <p:tgtEl>
                                          <p:spTgt spid="11"/>
                                        </p:tgtEl>
                                        <p:attrNameLst>
                                          <p:attrName>ppt_x</p:attrName>
                                        </p:attrNameLst>
                                      </p:cBhvr>
                                      <p:tavLst>
                                        <p:tav tm="0">
                                          <p:val>
                                            <p:strVal val="#ppt_x"/>
                                          </p:val>
                                        </p:tav>
                                        <p:tav tm="100000">
                                          <p:val>
                                            <p:strVal val="#ppt_x"/>
                                          </p:val>
                                        </p:tav>
                                      </p:tavLst>
                                    </p:anim>
                                    <p:anim calcmode="lin" valueType="num">
                                      <p:cBhvr>
                                        <p:cTn id="35" dur="5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anim calcmode="lin" valueType="num">
                                      <p:cBhvr>
                                        <p:cTn id="41" dur="500" fill="hold"/>
                                        <p:tgtEl>
                                          <p:spTgt spid="5"/>
                                        </p:tgtEl>
                                        <p:attrNameLst>
                                          <p:attrName>ppt_x</p:attrName>
                                        </p:attrNameLst>
                                      </p:cBhvr>
                                      <p:tavLst>
                                        <p:tav tm="0">
                                          <p:val>
                                            <p:strVal val="#ppt_x"/>
                                          </p:val>
                                        </p:tav>
                                        <p:tav tm="100000">
                                          <p:val>
                                            <p:strVal val="#ppt_x"/>
                                          </p:val>
                                        </p:tav>
                                      </p:tavLst>
                                    </p:anim>
                                    <p:anim calcmode="lin" valueType="num">
                                      <p:cBhvr>
                                        <p:cTn id="42"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anim calcmode="lin" valueType="num">
                                      <p:cBhvr>
                                        <p:cTn id="48" dur="500" fill="hold"/>
                                        <p:tgtEl>
                                          <p:spTgt spid="16"/>
                                        </p:tgtEl>
                                        <p:attrNameLst>
                                          <p:attrName>ppt_x</p:attrName>
                                        </p:attrNameLst>
                                      </p:cBhvr>
                                      <p:tavLst>
                                        <p:tav tm="0">
                                          <p:val>
                                            <p:strVal val="#ppt_x"/>
                                          </p:val>
                                        </p:tav>
                                        <p:tav tm="100000">
                                          <p:val>
                                            <p:strVal val="#ppt_x"/>
                                          </p:val>
                                        </p:tav>
                                      </p:tavLst>
                                    </p:anim>
                                    <p:anim calcmode="lin" valueType="num">
                                      <p:cBhvr>
                                        <p:cTn id="49" dur="500" fill="hold"/>
                                        <p:tgtEl>
                                          <p:spTgt spid="16"/>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anim calcmode="lin" valueType="num">
                                      <p:cBhvr>
                                        <p:cTn id="53" dur="500" fill="hold"/>
                                        <p:tgtEl>
                                          <p:spTgt spid="19"/>
                                        </p:tgtEl>
                                        <p:attrNameLst>
                                          <p:attrName>ppt_x</p:attrName>
                                        </p:attrNameLst>
                                      </p:cBhvr>
                                      <p:tavLst>
                                        <p:tav tm="0">
                                          <p:val>
                                            <p:strVal val="#ppt_x"/>
                                          </p:val>
                                        </p:tav>
                                        <p:tav tm="100000">
                                          <p:val>
                                            <p:strVal val="#ppt_x"/>
                                          </p:val>
                                        </p:tav>
                                      </p:tavLst>
                                    </p:anim>
                                    <p:anim calcmode="lin" valueType="num">
                                      <p:cBhvr>
                                        <p:cTn id="5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fill="hold"/>
                                        <p:tgtEl>
                                          <p:spTgt spid="13"/>
                                        </p:tgtEl>
                                        <p:attrNameLst>
                                          <p:attrName>ppt_x</p:attrName>
                                        </p:attrNameLst>
                                      </p:cBhvr>
                                      <p:tavLst>
                                        <p:tav tm="0">
                                          <p:val>
                                            <p:strVal val="#ppt_x"/>
                                          </p:val>
                                        </p:tav>
                                        <p:tav tm="100000">
                                          <p:val>
                                            <p:strVal val="#ppt_x"/>
                                          </p:val>
                                        </p:tav>
                                      </p:tavLst>
                                    </p:anim>
                                    <p:anim calcmode="lin" valueType="num">
                                      <p:cBhvr>
                                        <p:cTn id="61"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anim calcmode="lin" valueType="num">
                                      <p:cBhvr>
                                        <p:cTn id="67" dur="500" fill="hold"/>
                                        <p:tgtEl>
                                          <p:spTgt spid="21"/>
                                        </p:tgtEl>
                                        <p:attrNameLst>
                                          <p:attrName>ppt_x</p:attrName>
                                        </p:attrNameLst>
                                      </p:cBhvr>
                                      <p:tavLst>
                                        <p:tav tm="0">
                                          <p:val>
                                            <p:strVal val="#ppt_x"/>
                                          </p:val>
                                        </p:tav>
                                        <p:tav tm="100000">
                                          <p:val>
                                            <p:strVal val="#ppt_x"/>
                                          </p:val>
                                        </p:tav>
                                      </p:tavLst>
                                    </p:anim>
                                    <p:anim calcmode="lin" valueType="num">
                                      <p:cBhvr>
                                        <p:cTn id="68" dur="500" fill="hold"/>
                                        <p:tgtEl>
                                          <p:spTgt spid="2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anim calcmode="lin" valueType="num">
                                      <p:cBhvr>
                                        <p:cTn id="72" dur="500" fill="hold"/>
                                        <p:tgtEl>
                                          <p:spTgt spid="20"/>
                                        </p:tgtEl>
                                        <p:attrNameLst>
                                          <p:attrName>ppt_x</p:attrName>
                                        </p:attrNameLst>
                                      </p:cBhvr>
                                      <p:tavLst>
                                        <p:tav tm="0">
                                          <p:val>
                                            <p:strVal val="#ppt_x"/>
                                          </p:val>
                                        </p:tav>
                                        <p:tav tm="100000">
                                          <p:val>
                                            <p:strVal val="#ppt_x"/>
                                          </p:val>
                                        </p:tav>
                                      </p:tavLst>
                                    </p:anim>
                                    <p:anim calcmode="lin" valueType="num">
                                      <p:cBhvr>
                                        <p:cTn id="73"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6" grpId="0" animBg="1"/>
      <p:bldP spid="19"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5</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第五关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对图像建立颜色蒙版</a:t>
            </a:r>
          </a:p>
        </p:txBody>
      </p:sp>
      <p:sp>
        <p:nvSpPr>
          <p:cNvPr id="5" name="文本框 4">
            <a:extLst>
              <a:ext uri="{FF2B5EF4-FFF2-40B4-BE49-F238E27FC236}">
                <a16:creationId xmlns:a16="http://schemas.microsoft.com/office/drawing/2014/main" id="{2B9B2FA2-1D56-4B72-8188-D829EFA3ECA0}"/>
              </a:ext>
            </a:extLst>
          </p:cNvPr>
          <p:cNvSpPr txBox="1"/>
          <p:nvPr/>
        </p:nvSpPr>
        <p:spPr>
          <a:xfrm>
            <a:off x="8878" y="1514375"/>
            <a:ext cx="12183122" cy="2797048"/>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核心思路：设置颜色上下限，设置蒙版并显示。</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第一步：获取图像</a:t>
            </a:r>
            <a:r>
              <a:rPr lang="en-US" altLang="zh-CN" sz="2400">
                <a:latin typeface="微软雅黑" panose="020B0503020204020204" pitchFamily="34" charset="-122"/>
                <a:ea typeface="微软雅黑" panose="020B0503020204020204" pitchFamily="34" charset="-122"/>
              </a:rPr>
              <a:t>hsv</a:t>
            </a:r>
            <a:r>
              <a:rPr lang="zh-CN" altLang="en-US" sz="2400">
                <a:latin typeface="微软雅黑" panose="020B0503020204020204" pitchFamily="34" charset="-122"/>
                <a:ea typeface="微软雅黑" panose="020B0503020204020204" pitchFamily="34" charset="-122"/>
              </a:rPr>
              <a:t>格式的颜色信息。</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第二步：设置</a:t>
            </a:r>
            <a:r>
              <a:rPr lang="en-US" altLang="zh-CN" sz="2400">
                <a:latin typeface="微软雅黑" panose="020B0503020204020204" pitchFamily="34" charset="-122"/>
                <a:ea typeface="微软雅黑" panose="020B0503020204020204" pitchFamily="34" charset="-122"/>
              </a:rPr>
              <a:t>hsv</a:t>
            </a:r>
            <a:r>
              <a:rPr lang="zh-CN" altLang="en-US" sz="2400">
                <a:latin typeface="微软雅黑" panose="020B0503020204020204" pitchFamily="34" charset="-122"/>
                <a:ea typeface="微软雅黑" panose="020B0503020204020204" pitchFamily="34" charset="-122"/>
              </a:rPr>
              <a:t>格式颜色上下限。</a:t>
            </a:r>
          </a:p>
          <a:p>
            <a:pPr indent="457200">
              <a:lnSpc>
                <a:spcPct val="150000"/>
              </a:lnSpc>
            </a:pPr>
            <a:r>
              <a:rPr lang="zh-CN" altLang="en-US" sz="2400">
                <a:latin typeface="微软雅黑" panose="020B0503020204020204" pitchFamily="34" charset="-122"/>
                <a:ea typeface="微软雅黑" panose="020B0503020204020204" pitchFamily="34" charset="-122"/>
              </a:rPr>
              <a:t>第三步：根据颜色上下限建立蒙版。</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期望结果如下。</a:t>
            </a:r>
            <a:endParaRPr lang="en-US" altLang="zh-CN" sz="240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59D8121-981D-4ADA-8E4F-1E77DD2E30FB}"/>
              </a:ext>
            </a:extLst>
          </p:cNvPr>
          <p:cNvPicPr>
            <a:picLocks noChangeAspect="1"/>
          </p:cNvPicPr>
          <p:nvPr/>
        </p:nvPicPr>
        <p:blipFill rotWithShape="1">
          <a:blip r:embed="rId2"/>
          <a:srcRect b="10208"/>
          <a:stretch/>
        </p:blipFill>
        <p:spPr>
          <a:xfrm>
            <a:off x="501213" y="4311423"/>
            <a:ext cx="3491560" cy="2427861"/>
          </a:xfrm>
          <a:prstGeom prst="rect">
            <a:avLst/>
          </a:prstGeom>
        </p:spPr>
      </p:pic>
    </p:spTree>
    <p:extLst>
      <p:ext uri="{BB962C8B-B14F-4D97-AF65-F5344CB8AC3E}">
        <p14:creationId xmlns:p14="http://schemas.microsoft.com/office/powerpoint/2010/main" val="213466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anim calcmode="lin" valueType="num">
                                      <p:cBhvr>
                                        <p:cTn id="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500"/>
                                        <p:tgtEl>
                                          <p:spTgt spid="5">
                                            <p:txEl>
                                              <p:pRg st="1" end="1"/>
                                            </p:txEl>
                                          </p:spTgt>
                                        </p:tgtEl>
                                      </p:cBhvr>
                                    </p:animEffect>
                                    <p:anim calcmode="lin" valueType="num">
                                      <p:cBhvr>
                                        <p:cTn id="1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anim calcmode="lin" valueType="num">
                                      <p:cBhvr>
                                        <p:cTn id="2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500"/>
                                        <p:tgtEl>
                                          <p:spTgt spid="5">
                                            <p:txEl>
                                              <p:pRg st="3" end="3"/>
                                            </p:txEl>
                                          </p:spTgt>
                                        </p:tgtEl>
                                      </p:cBhvr>
                                    </p:animEffect>
                                    <p:anim calcmode="lin" valueType="num">
                                      <p:cBhvr>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500"/>
                                        <p:tgtEl>
                                          <p:spTgt spid="5">
                                            <p:txEl>
                                              <p:pRg st="4" end="4"/>
                                            </p:txEl>
                                          </p:spTgt>
                                        </p:tgtEl>
                                      </p:cBhvr>
                                    </p:animEffect>
                                    <p:anim calcmode="lin" valueType="num">
                                      <p:cBhvr>
                                        <p:cTn id="36"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5">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anim calcmode="lin" valueType="num">
                                      <p:cBhvr>
                                        <p:cTn id="41" dur="500" fill="hold"/>
                                        <p:tgtEl>
                                          <p:spTgt spid="4"/>
                                        </p:tgtEl>
                                        <p:attrNameLst>
                                          <p:attrName>ppt_x</p:attrName>
                                        </p:attrNameLst>
                                      </p:cBhvr>
                                      <p:tavLst>
                                        <p:tav tm="0">
                                          <p:val>
                                            <p:strVal val="#ppt_x"/>
                                          </p:val>
                                        </p:tav>
                                        <p:tav tm="100000">
                                          <p:val>
                                            <p:strVal val="#ppt_x"/>
                                          </p:val>
                                        </p:tav>
                                      </p:tavLst>
                                    </p:anim>
                                    <p:anim calcmode="lin" valueType="num">
                                      <p:cBhvr>
                                        <p:cTn id="42"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5</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第五关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对图像建立颜色蒙版</a:t>
            </a:r>
          </a:p>
        </p:txBody>
      </p:sp>
      <p:pic>
        <p:nvPicPr>
          <p:cNvPr id="3" name="图片 2">
            <a:extLst>
              <a:ext uri="{FF2B5EF4-FFF2-40B4-BE49-F238E27FC236}">
                <a16:creationId xmlns:a16="http://schemas.microsoft.com/office/drawing/2014/main" id="{24075A8B-11EE-47D0-90AD-7E57BE7A6C4A}"/>
              </a:ext>
            </a:extLst>
          </p:cNvPr>
          <p:cNvPicPr>
            <a:picLocks noChangeAspect="1"/>
          </p:cNvPicPr>
          <p:nvPr/>
        </p:nvPicPr>
        <p:blipFill>
          <a:blip r:embed="rId2"/>
          <a:stretch>
            <a:fillRect/>
          </a:stretch>
        </p:blipFill>
        <p:spPr>
          <a:xfrm>
            <a:off x="7402" y="1143280"/>
            <a:ext cx="8376080" cy="5747045"/>
          </a:xfrm>
          <a:prstGeom prst="rect">
            <a:avLst/>
          </a:prstGeom>
        </p:spPr>
      </p:pic>
      <p:sp>
        <p:nvSpPr>
          <p:cNvPr id="17" name="箭头: 右 16">
            <a:extLst>
              <a:ext uri="{FF2B5EF4-FFF2-40B4-BE49-F238E27FC236}">
                <a16:creationId xmlns:a16="http://schemas.microsoft.com/office/drawing/2014/main" id="{0B27639D-13D6-4750-A65B-1022C995D47E}"/>
              </a:ext>
            </a:extLst>
          </p:cNvPr>
          <p:cNvSpPr/>
          <p:nvPr/>
        </p:nvSpPr>
        <p:spPr>
          <a:xfrm flipH="1">
            <a:off x="7674721" y="2993121"/>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1. </a:t>
            </a:r>
            <a:r>
              <a:rPr lang="zh-CN" altLang="en-US"/>
              <a:t>获取图像</a:t>
            </a:r>
            <a:r>
              <a:rPr lang="en-US" altLang="zh-CN"/>
              <a:t>hsv</a:t>
            </a:r>
            <a:r>
              <a:rPr lang="zh-CN" altLang="en-US"/>
              <a:t>格式的颜色信息</a:t>
            </a:r>
          </a:p>
        </p:txBody>
      </p:sp>
      <p:sp>
        <p:nvSpPr>
          <p:cNvPr id="18" name="矩形 17">
            <a:extLst>
              <a:ext uri="{FF2B5EF4-FFF2-40B4-BE49-F238E27FC236}">
                <a16:creationId xmlns:a16="http://schemas.microsoft.com/office/drawing/2014/main" id="{097C3C40-59F6-48AF-BC8B-B24C3B920913}"/>
              </a:ext>
            </a:extLst>
          </p:cNvPr>
          <p:cNvSpPr/>
          <p:nvPr/>
        </p:nvSpPr>
        <p:spPr>
          <a:xfrm>
            <a:off x="332676" y="3093465"/>
            <a:ext cx="7320711" cy="492697"/>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1070F48D-F7C3-4F62-BDC9-98A2B59EDE54}"/>
              </a:ext>
            </a:extLst>
          </p:cNvPr>
          <p:cNvSpPr/>
          <p:nvPr/>
        </p:nvSpPr>
        <p:spPr>
          <a:xfrm flipH="1">
            <a:off x="7674721" y="3660631"/>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2. </a:t>
            </a:r>
            <a:r>
              <a:rPr lang="zh-CN" altLang="en-US"/>
              <a:t>设置</a:t>
            </a:r>
            <a:r>
              <a:rPr lang="en-US" altLang="zh-CN"/>
              <a:t>hsv</a:t>
            </a:r>
            <a:r>
              <a:rPr lang="zh-CN" altLang="en-US"/>
              <a:t>格式颜色上下限</a:t>
            </a:r>
          </a:p>
        </p:txBody>
      </p:sp>
      <p:sp>
        <p:nvSpPr>
          <p:cNvPr id="25" name="矩形 24">
            <a:extLst>
              <a:ext uri="{FF2B5EF4-FFF2-40B4-BE49-F238E27FC236}">
                <a16:creationId xmlns:a16="http://schemas.microsoft.com/office/drawing/2014/main" id="{E3E911E0-A0FA-4336-AFCA-C6B0A291E7C1}"/>
              </a:ext>
            </a:extLst>
          </p:cNvPr>
          <p:cNvSpPr/>
          <p:nvPr/>
        </p:nvSpPr>
        <p:spPr>
          <a:xfrm>
            <a:off x="339723" y="3586163"/>
            <a:ext cx="7320711" cy="741978"/>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a:extLst>
              <a:ext uri="{FF2B5EF4-FFF2-40B4-BE49-F238E27FC236}">
                <a16:creationId xmlns:a16="http://schemas.microsoft.com/office/drawing/2014/main" id="{664B74F8-C918-41F9-BABD-FA81228E1E96}"/>
              </a:ext>
            </a:extLst>
          </p:cNvPr>
          <p:cNvSpPr/>
          <p:nvPr/>
        </p:nvSpPr>
        <p:spPr>
          <a:xfrm flipH="1">
            <a:off x="7674720" y="4402609"/>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3. </a:t>
            </a:r>
            <a:r>
              <a:rPr lang="zh-CN" altLang="en-US"/>
              <a:t>根据颜色上下限建立蒙版</a:t>
            </a:r>
          </a:p>
        </p:txBody>
      </p:sp>
      <p:sp>
        <p:nvSpPr>
          <p:cNvPr id="27" name="矩形 26">
            <a:extLst>
              <a:ext uri="{FF2B5EF4-FFF2-40B4-BE49-F238E27FC236}">
                <a16:creationId xmlns:a16="http://schemas.microsoft.com/office/drawing/2014/main" id="{B9F9EA0E-6DF3-4F72-AF38-55D157B7A2A8}"/>
              </a:ext>
            </a:extLst>
          </p:cNvPr>
          <p:cNvSpPr/>
          <p:nvPr/>
        </p:nvSpPr>
        <p:spPr>
          <a:xfrm>
            <a:off x="339722" y="4328141"/>
            <a:ext cx="7320711" cy="741978"/>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B1557CDB-05EC-440A-A29D-9F9CA2A14A6D}"/>
              </a:ext>
            </a:extLst>
          </p:cNvPr>
          <p:cNvSpPr/>
          <p:nvPr/>
        </p:nvSpPr>
        <p:spPr>
          <a:xfrm flipH="1">
            <a:off x="7667674" y="5196273"/>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4. </a:t>
            </a:r>
            <a:r>
              <a:rPr lang="zh-CN" altLang="en-US"/>
              <a:t>只显示蒙版部分</a:t>
            </a:r>
          </a:p>
        </p:txBody>
      </p:sp>
      <p:sp>
        <p:nvSpPr>
          <p:cNvPr id="29" name="矩形 28">
            <a:extLst>
              <a:ext uri="{FF2B5EF4-FFF2-40B4-BE49-F238E27FC236}">
                <a16:creationId xmlns:a16="http://schemas.microsoft.com/office/drawing/2014/main" id="{C16C60D4-C786-443E-A048-F36C7F55FA72}"/>
              </a:ext>
            </a:extLst>
          </p:cNvPr>
          <p:cNvSpPr/>
          <p:nvPr/>
        </p:nvSpPr>
        <p:spPr>
          <a:xfrm>
            <a:off x="332676" y="5121805"/>
            <a:ext cx="7320711" cy="741978"/>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17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anim calcmode="lin" valueType="num">
                                      <p:cBhvr>
                                        <p:cTn id="8" dur="500" fill="hold"/>
                                        <p:tgtEl>
                                          <p:spTgt spid="17"/>
                                        </p:tgtEl>
                                        <p:attrNameLst>
                                          <p:attrName>ppt_x</p:attrName>
                                        </p:attrNameLst>
                                      </p:cBhvr>
                                      <p:tavLst>
                                        <p:tav tm="0">
                                          <p:val>
                                            <p:strVal val="#ppt_x"/>
                                          </p:val>
                                        </p:tav>
                                        <p:tav tm="100000">
                                          <p:val>
                                            <p:strVal val="#ppt_x"/>
                                          </p:val>
                                        </p:tav>
                                      </p:tavLst>
                                    </p:anim>
                                    <p:anim calcmode="lin" valueType="num">
                                      <p:cBhvr>
                                        <p:cTn id="9" dur="5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anim calcmode="lin" valueType="num">
                                      <p:cBhvr>
                                        <p:cTn id="13" dur="500" fill="hold"/>
                                        <p:tgtEl>
                                          <p:spTgt spid="18"/>
                                        </p:tgtEl>
                                        <p:attrNameLst>
                                          <p:attrName>ppt_x</p:attrName>
                                        </p:attrNameLst>
                                      </p:cBhvr>
                                      <p:tavLst>
                                        <p:tav tm="0">
                                          <p:val>
                                            <p:strVal val="#ppt_x"/>
                                          </p:val>
                                        </p:tav>
                                        <p:tav tm="100000">
                                          <p:val>
                                            <p:strVal val="#ppt_x"/>
                                          </p:val>
                                        </p:tav>
                                      </p:tavLst>
                                    </p:anim>
                                    <p:anim calcmode="lin" valueType="num">
                                      <p:cBhvr>
                                        <p:cTn id="14"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anim calcmode="lin" valueType="num">
                                      <p:cBhvr>
                                        <p:cTn id="20" dur="500" fill="hold"/>
                                        <p:tgtEl>
                                          <p:spTgt spid="24"/>
                                        </p:tgtEl>
                                        <p:attrNameLst>
                                          <p:attrName>ppt_x</p:attrName>
                                        </p:attrNameLst>
                                      </p:cBhvr>
                                      <p:tavLst>
                                        <p:tav tm="0">
                                          <p:val>
                                            <p:strVal val="#ppt_x"/>
                                          </p:val>
                                        </p:tav>
                                        <p:tav tm="100000">
                                          <p:val>
                                            <p:strVal val="#ppt_x"/>
                                          </p:val>
                                        </p:tav>
                                      </p:tavLst>
                                    </p:anim>
                                    <p:anim calcmode="lin" valueType="num">
                                      <p:cBhvr>
                                        <p:cTn id="21" dur="500" fill="hold"/>
                                        <p:tgtEl>
                                          <p:spTgt spid="2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anim calcmode="lin" valueType="num">
                                      <p:cBhvr>
                                        <p:cTn id="25" dur="500" fill="hold"/>
                                        <p:tgtEl>
                                          <p:spTgt spid="25"/>
                                        </p:tgtEl>
                                        <p:attrNameLst>
                                          <p:attrName>ppt_x</p:attrName>
                                        </p:attrNameLst>
                                      </p:cBhvr>
                                      <p:tavLst>
                                        <p:tav tm="0">
                                          <p:val>
                                            <p:strVal val="#ppt_x"/>
                                          </p:val>
                                        </p:tav>
                                        <p:tav tm="100000">
                                          <p:val>
                                            <p:strVal val="#ppt_x"/>
                                          </p:val>
                                        </p:tav>
                                      </p:tavLst>
                                    </p:anim>
                                    <p:anim calcmode="lin" valueType="num">
                                      <p:cBhvr>
                                        <p:cTn id="26"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anim calcmode="lin" valueType="num">
                                      <p:cBhvr>
                                        <p:cTn id="32" dur="500" fill="hold"/>
                                        <p:tgtEl>
                                          <p:spTgt spid="26"/>
                                        </p:tgtEl>
                                        <p:attrNameLst>
                                          <p:attrName>ppt_x</p:attrName>
                                        </p:attrNameLst>
                                      </p:cBhvr>
                                      <p:tavLst>
                                        <p:tav tm="0">
                                          <p:val>
                                            <p:strVal val="#ppt_x"/>
                                          </p:val>
                                        </p:tav>
                                        <p:tav tm="100000">
                                          <p:val>
                                            <p:strVal val="#ppt_x"/>
                                          </p:val>
                                        </p:tav>
                                      </p:tavLst>
                                    </p:anim>
                                    <p:anim calcmode="lin" valueType="num">
                                      <p:cBhvr>
                                        <p:cTn id="33" dur="50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anim calcmode="lin" valueType="num">
                                      <p:cBhvr>
                                        <p:cTn id="37" dur="500" fill="hold"/>
                                        <p:tgtEl>
                                          <p:spTgt spid="27"/>
                                        </p:tgtEl>
                                        <p:attrNameLst>
                                          <p:attrName>ppt_x</p:attrName>
                                        </p:attrNameLst>
                                      </p:cBhvr>
                                      <p:tavLst>
                                        <p:tav tm="0">
                                          <p:val>
                                            <p:strVal val="#ppt_x"/>
                                          </p:val>
                                        </p:tav>
                                        <p:tav tm="100000">
                                          <p:val>
                                            <p:strVal val="#ppt_x"/>
                                          </p:val>
                                        </p:tav>
                                      </p:tavLst>
                                    </p:anim>
                                    <p:anim calcmode="lin" valueType="num">
                                      <p:cBhvr>
                                        <p:cTn id="38"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anim calcmode="lin" valueType="num">
                                      <p:cBhvr>
                                        <p:cTn id="44" dur="500" fill="hold"/>
                                        <p:tgtEl>
                                          <p:spTgt spid="28"/>
                                        </p:tgtEl>
                                        <p:attrNameLst>
                                          <p:attrName>ppt_x</p:attrName>
                                        </p:attrNameLst>
                                      </p:cBhvr>
                                      <p:tavLst>
                                        <p:tav tm="0">
                                          <p:val>
                                            <p:strVal val="#ppt_x"/>
                                          </p:val>
                                        </p:tav>
                                        <p:tav tm="100000">
                                          <p:val>
                                            <p:strVal val="#ppt_x"/>
                                          </p:val>
                                        </p:tav>
                                      </p:tavLst>
                                    </p:anim>
                                    <p:anim calcmode="lin" valueType="num">
                                      <p:cBhvr>
                                        <p:cTn id="45" dur="500" fill="hold"/>
                                        <p:tgtEl>
                                          <p:spTgt spid="2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anim calcmode="lin" valueType="num">
                                      <p:cBhvr>
                                        <p:cTn id="49" dur="500" fill="hold"/>
                                        <p:tgtEl>
                                          <p:spTgt spid="29"/>
                                        </p:tgtEl>
                                        <p:attrNameLst>
                                          <p:attrName>ppt_x</p:attrName>
                                        </p:attrNameLst>
                                      </p:cBhvr>
                                      <p:tavLst>
                                        <p:tav tm="0">
                                          <p:val>
                                            <p:strVal val="#ppt_x"/>
                                          </p:val>
                                        </p:tav>
                                        <p:tav tm="100000">
                                          <p:val>
                                            <p:strVal val="#ppt_x"/>
                                          </p:val>
                                        </p:tav>
                                      </p:tavLst>
                                    </p:anim>
                                    <p:anim calcmode="lin" valueType="num">
                                      <p:cBhvr>
                                        <p:cTn id="50" dur="5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4" grpId="0" animBg="1"/>
      <p:bldP spid="25" grpId="0" animBg="1"/>
      <p:bldP spid="26"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6</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第六关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获取路线中心</a:t>
            </a:r>
          </a:p>
        </p:txBody>
      </p:sp>
      <p:sp>
        <p:nvSpPr>
          <p:cNvPr id="5" name="文本框 4">
            <a:extLst>
              <a:ext uri="{FF2B5EF4-FFF2-40B4-BE49-F238E27FC236}">
                <a16:creationId xmlns:a16="http://schemas.microsoft.com/office/drawing/2014/main" id="{2B9B2FA2-1D56-4B72-8188-D829EFA3ECA0}"/>
              </a:ext>
            </a:extLst>
          </p:cNvPr>
          <p:cNvSpPr txBox="1"/>
          <p:nvPr/>
        </p:nvSpPr>
        <p:spPr>
          <a:xfrm>
            <a:off x="8878" y="1514375"/>
            <a:ext cx="12183122" cy="2797048"/>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核心思路：根据蒙版对图像进行切片，并用</a:t>
            </a:r>
            <a:r>
              <a:rPr lang="en-US" altLang="zh-CN" sz="2400" b="1">
                <a:latin typeface="微软雅黑" panose="020B0503020204020204" pitchFamily="34" charset="-122"/>
                <a:ea typeface="微软雅黑" panose="020B0503020204020204" pitchFamily="34" charset="-122"/>
              </a:rPr>
              <a:t>Opencv</a:t>
            </a:r>
            <a:r>
              <a:rPr lang="zh-CN" altLang="en-US" sz="2400" b="1">
                <a:latin typeface="微软雅黑" panose="020B0503020204020204" pitchFamily="34" charset="-122"/>
                <a:ea typeface="微软雅黑" panose="020B0503020204020204" pitchFamily="34" charset="-122"/>
              </a:rPr>
              <a:t>的</a:t>
            </a:r>
            <a:r>
              <a:rPr lang="en-US" altLang="zh-CN" sz="2400" b="1">
                <a:latin typeface="微软雅黑" panose="020B0503020204020204" pitchFamily="34" charset="-122"/>
                <a:ea typeface="微软雅黑" panose="020B0503020204020204" pitchFamily="34" charset="-122"/>
              </a:rPr>
              <a:t>moments</a:t>
            </a:r>
            <a:r>
              <a:rPr lang="zh-CN" altLang="en-US" sz="2400" b="1">
                <a:latin typeface="微软雅黑" panose="020B0503020204020204" pitchFamily="34" charset="-122"/>
                <a:ea typeface="微软雅黑" panose="020B0503020204020204" pitchFamily="34" charset="-122"/>
              </a:rPr>
              <a:t>函数计算路线中心。</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第一步：对颜色蒙版切片。</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第二步：计算路线中心并标记圆圈。</a:t>
            </a:r>
          </a:p>
          <a:p>
            <a:pPr indent="457200">
              <a:lnSpc>
                <a:spcPct val="150000"/>
              </a:lnSpc>
            </a:pPr>
            <a:r>
              <a:rPr lang="zh-CN" altLang="en-US" sz="2400">
                <a:latin typeface="微软雅黑" panose="020B0503020204020204" pitchFamily="34" charset="-122"/>
                <a:ea typeface="微软雅黑" panose="020B0503020204020204" pitchFamily="34" charset="-122"/>
              </a:rPr>
              <a:t>第三步：显示原图以及路线中心两窗口。</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期望结果如下。</a:t>
            </a:r>
            <a:endParaRPr lang="en-US" altLang="zh-CN" sz="240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C8CCD8A-6F8E-490C-9DDA-AE300C899183}"/>
              </a:ext>
            </a:extLst>
          </p:cNvPr>
          <p:cNvPicPr>
            <a:picLocks noChangeAspect="1"/>
          </p:cNvPicPr>
          <p:nvPr/>
        </p:nvPicPr>
        <p:blipFill>
          <a:blip r:embed="rId2"/>
          <a:stretch>
            <a:fillRect/>
          </a:stretch>
        </p:blipFill>
        <p:spPr>
          <a:xfrm>
            <a:off x="501213" y="4311423"/>
            <a:ext cx="7358325" cy="2441675"/>
          </a:xfrm>
          <a:prstGeom prst="rect">
            <a:avLst/>
          </a:prstGeom>
        </p:spPr>
      </p:pic>
    </p:spTree>
    <p:extLst>
      <p:ext uri="{BB962C8B-B14F-4D97-AF65-F5344CB8AC3E}">
        <p14:creationId xmlns:p14="http://schemas.microsoft.com/office/powerpoint/2010/main" val="172479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anim calcmode="lin" valueType="num">
                                      <p:cBhvr>
                                        <p:cTn id="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500"/>
                                        <p:tgtEl>
                                          <p:spTgt spid="5">
                                            <p:txEl>
                                              <p:pRg st="1" end="1"/>
                                            </p:txEl>
                                          </p:spTgt>
                                        </p:tgtEl>
                                      </p:cBhvr>
                                    </p:animEffect>
                                    <p:anim calcmode="lin" valueType="num">
                                      <p:cBhvr>
                                        <p:cTn id="1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500"/>
                                        <p:tgtEl>
                                          <p:spTgt spid="5">
                                            <p:txEl>
                                              <p:pRg st="2" end="2"/>
                                            </p:txEl>
                                          </p:spTgt>
                                        </p:tgtEl>
                                      </p:cBhvr>
                                    </p:animEffect>
                                    <p:anim calcmode="lin" valueType="num">
                                      <p:cBhvr>
                                        <p:cTn id="2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500"/>
                                        <p:tgtEl>
                                          <p:spTgt spid="5">
                                            <p:txEl>
                                              <p:pRg st="3" end="3"/>
                                            </p:txEl>
                                          </p:spTgt>
                                        </p:tgtEl>
                                      </p:cBhvr>
                                    </p:animEffect>
                                    <p:anim calcmode="lin" valueType="num">
                                      <p:cBhvr>
                                        <p:cTn id="2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500"/>
                                        <p:tgtEl>
                                          <p:spTgt spid="5">
                                            <p:txEl>
                                              <p:pRg st="4" end="4"/>
                                            </p:txEl>
                                          </p:spTgt>
                                        </p:tgtEl>
                                      </p:cBhvr>
                                    </p:animEffect>
                                    <p:anim calcmode="lin" valueType="num">
                                      <p:cBhvr>
                                        <p:cTn id="36"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5">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anim calcmode="lin" valueType="num">
                                      <p:cBhvr>
                                        <p:cTn id="41" dur="500" fill="hold"/>
                                        <p:tgtEl>
                                          <p:spTgt spid="3"/>
                                        </p:tgtEl>
                                        <p:attrNameLst>
                                          <p:attrName>ppt_x</p:attrName>
                                        </p:attrNameLst>
                                      </p:cBhvr>
                                      <p:tavLst>
                                        <p:tav tm="0">
                                          <p:val>
                                            <p:strVal val="#ppt_x"/>
                                          </p:val>
                                        </p:tav>
                                        <p:tav tm="100000">
                                          <p:val>
                                            <p:strVal val="#ppt_x"/>
                                          </p:val>
                                        </p:tav>
                                      </p:tavLst>
                                    </p:anim>
                                    <p:anim calcmode="lin" valueType="num">
                                      <p:cBhvr>
                                        <p:cTn id="42"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BC497AB-839D-4BA1-8C53-5A8449520958}"/>
              </a:ext>
            </a:extLst>
          </p:cNvPr>
          <p:cNvPicPr>
            <a:picLocks noChangeAspect="1"/>
          </p:cNvPicPr>
          <p:nvPr/>
        </p:nvPicPr>
        <p:blipFill rotWithShape="1">
          <a:blip r:embed="rId2"/>
          <a:srcRect t="31177"/>
          <a:stretch/>
        </p:blipFill>
        <p:spPr>
          <a:xfrm>
            <a:off x="131017" y="1811418"/>
            <a:ext cx="6121715" cy="4440403"/>
          </a:xfrm>
          <a:prstGeom prst="rect">
            <a:avLst/>
          </a:prstGeom>
        </p:spPr>
      </p:pic>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6</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第六关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获取路线中心</a:t>
            </a:r>
          </a:p>
        </p:txBody>
      </p:sp>
      <p:sp>
        <p:nvSpPr>
          <p:cNvPr id="7" name="箭头: 右 6">
            <a:extLst>
              <a:ext uri="{FF2B5EF4-FFF2-40B4-BE49-F238E27FC236}">
                <a16:creationId xmlns:a16="http://schemas.microsoft.com/office/drawing/2014/main" id="{1C238A67-9E04-472B-BF40-5ACE2EB8BAB3}"/>
              </a:ext>
            </a:extLst>
          </p:cNvPr>
          <p:cNvSpPr/>
          <p:nvPr/>
        </p:nvSpPr>
        <p:spPr>
          <a:xfrm flipH="1">
            <a:off x="7674721" y="1719662"/>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1. </a:t>
            </a:r>
            <a:r>
              <a:rPr lang="zh-CN" altLang="en-US"/>
              <a:t>获取基础的常数</a:t>
            </a:r>
          </a:p>
        </p:txBody>
      </p:sp>
      <p:sp>
        <p:nvSpPr>
          <p:cNvPr id="8" name="矩形 7">
            <a:extLst>
              <a:ext uri="{FF2B5EF4-FFF2-40B4-BE49-F238E27FC236}">
                <a16:creationId xmlns:a16="http://schemas.microsoft.com/office/drawing/2014/main" id="{56B40E08-EFAD-4013-B98E-D773EA53D70A}"/>
              </a:ext>
            </a:extLst>
          </p:cNvPr>
          <p:cNvSpPr/>
          <p:nvPr/>
        </p:nvSpPr>
        <p:spPr>
          <a:xfrm>
            <a:off x="332676" y="1820006"/>
            <a:ext cx="7320711" cy="709853"/>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C8DAFC69-765E-4280-8631-8EC8E1A3E456}"/>
              </a:ext>
            </a:extLst>
          </p:cNvPr>
          <p:cNvSpPr/>
          <p:nvPr/>
        </p:nvSpPr>
        <p:spPr>
          <a:xfrm flipH="1">
            <a:off x="7667675" y="2604288"/>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2. </a:t>
            </a:r>
            <a:r>
              <a:rPr lang="zh-CN" altLang="en-US"/>
              <a:t>对颜色蒙版切片</a:t>
            </a:r>
          </a:p>
        </p:txBody>
      </p:sp>
      <p:sp>
        <p:nvSpPr>
          <p:cNvPr id="10" name="矩形 9">
            <a:extLst>
              <a:ext uri="{FF2B5EF4-FFF2-40B4-BE49-F238E27FC236}">
                <a16:creationId xmlns:a16="http://schemas.microsoft.com/office/drawing/2014/main" id="{4F6528B3-026F-44F7-8CB5-AD7561743BF8}"/>
              </a:ext>
            </a:extLst>
          </p:cNvPr>
          <p:cNvSpPr/>
          <p:nvPr/>
        </p:nvSpPr>
        <p:spPr>
          <a:xfrm>
            <a:off x="332677" y="2558396"/>
            <a:ext cx="7320711" cy="1205406"/>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右 10">
            <a:extLst>
              <a:ext uri="{FF2B5EF4-FFF2-40B4-BE49-F238E27FC236}">
                <a16:creationId xmlns:a16="http://schemas.microsoft.com/office/drawing/2014/main" id="{128B2B53-35DE-49FD-9E5B-404118A2188A}"/>
              </a:ext>
            </a:extLst>
          </p:cNvPr>
          <p:cNvSpPr/>
          <p:nvPr/>
        </p:nvSpPr>
        <p:spPr>
          <a:xfrm flipH="1">
            <a:off x="7653386" y="3866846"/>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3. </a:t>
            </a:r>
            <a:r>
              <a:rPr lang="zh-CN" altLang="en-US"/>
              <a:t>计算路线中心并标记圆圈</a:t>
            </a:r>
          </a:p>
        </p:txBody>
      </p:sp>
      <p:sp>
        <p:nvSpPr>
          <p:cNvPr id="12" name="矩形 11">
            <a:extLst>
              <a:ext uri="{FF2B5EF4-FFF2-40B4-BE49-F238E27FC236}">
                <a16:creationId xmlns:a16="http://schemas.microsoft.com/office/drawing/2014/main" id="{B1BB1B1E-739D-4235-8464-EC5F7B4E6367}"/>
              </a:ext>
            </a:extLst>
          </p:cNvPr>
          <p:cNvSpPr/>
          <p:nvPr/>
        </p:nvSpPr>
        <p:spPr>
          <a:xfrm>
            <a:off x="332676" y="3792378"/>
            <a:ext cx="7320711" cy="1205406"/>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右 12">
            <a:extLst>
              <a:ext uri="{FF2B5EF4-FFF2-40B4-BE49-F238E27FC236}">
                <a16:creationId xmlns:a16="http://schemas.microsoft.com/office/drawing/2014/main" id="{FA27F49A-C699-4ABC-AFD9-2ED9BFA3F0ED}"/>
              </a:ext>
            </a:extLst>
          </p:cNvPr>
          <p:cNvSpPr/>
          <p:nvPr/>
        </p:nvSpPr>
        <p:spPr>
          <a:xfrm flipH="1">
            <a:off x="7660433" y="5086501"/>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4. </a:t>
            </a:r>
            <a:r>
              <a:rPr lang="zh-CN" altLang="en-US"/>
              <a:t>显示原图以及路线中心两窗口</a:t>
            </a:r>
          </a:p>
        </p:txBody>
      </p:sp>
      <p:sp>
        <p:nvSpPr>
          <p:cNvPr id="14" name="矩形 13">
            <a:extLst>
              <a:ext uri="{FF2B5EF4-FFF2-40B4-BE49-F238E27FC236}">
                <a16:creationId xmlns:a16="http://schemas.microsoft.com/office/drawing/2014/main" id="{5714B8AC-888D-4C18-9A1A-947AB1D69513}"/>
              </a:ext>
            </a:extLst>
          </p:cNvPr>
          <p:cNvSpPr/>
          <p:nvPr/>
        </p:nvSpPr>
        <p:spPr>
          <a:xfrm>
            <a:off x="325435" y="5012033"/>
            <a:ext cx="7320711" cy="1248270"/>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1946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ppt_x</p:attrName>
                                        </p:attrNameLst>
                                      </p:cBhvr>
                                      <p:tavLst>
                                        <p:tav tm="0">
                                          <p:val>
                                            <p:strVal val="#ppt_x"/>
                                          </p:val>
                                        </p:tav>
                                        <p:tav tm="100000">
                                          <p:val>
                                            <p:strVal val="#ppt_x"/>
                                          </p:val>
                                        </p:tav>
                                      </p:tavLst>
                                    </p:anim>
                                    <p:anim calcmode="lin" valueType="num">
                                      <p:cBhvr>
                                        <p:cTn id="21" dur="5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anim calcmode="lin" valueType="num">
                                      <p:cBhvr>
                                        <p:cTn id="25" dur="500" fill="hold"/>
                                        <p:tgtEl>
                                          <p:spTgt spid="10"/>
                                        </p:tgtEl>
                                        <p:attrNameLst>
                                          <p:attrName>ppt_x</p:attrName>
                                        </p:attrNameLst>
                                      </p:cBhvr>
                                      <p:tavLst>
                                        <p:tav tm="0">
                                          <p:val>
                                            <p:strVal val="#ppt_x"/>
                                          </p:val>
                                        </p:tav>
                                        <p:tav tm="100000">
                                          <p:val>
                                            <p:strVal val="#ppt_x"/>
                                          </p:val>
                                        </p:tav>
                                      </p:tavLst>
                                    </p:anim>
                                    <p:anim calcmode="lin" valueType="num">
                                      <p:cBhvr>
                                        <p:cTn id="26"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anim calcmode="lin" valueType="num">
                                      <p:cBhvr>
                                        <p:cTn id="32" dur="500" fill="hold"/>
                                        <p:tgtEl>
                                          <p:spTgt spid="11"/>
                                        </p:tgtEl>
                                        <p:attrNameLst>
                                          <p:attrName>ppt_x</p:attrName>
                                        </p:attrNameLst>
                                      </p:cBhvr>
                                      <p:tavLst>
                                        <p:tav tm="0">
                                          <p:val>
                                            <p:strVal val="#ppt_x"/>
                                          </p:val>
                                        </p:tav>
                                        <p:tav tm="100000">
                                          <p:val>
                                            <p:strVal val="#ppt_x"/>
                                          </p:val>
                                        </p:tav>
                                      </p:tavLst>
                                    </p:anim>
                                    <p:anim calcmode="lin" valueType="num">
                                      <p:cBhvr>
                                        <p:cTn id="33"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anim calcmode="lin" valueType="num">
                                      <p:cBhvr>
                                        <p:cTn id="37" dur="500" fill="hold"/>
                                        <p:tgtEl>
                                          <p:spTgt spid="12"/>
                                        </p:tgtEl>
                                        <p:attrNameLst>
                                          <p:attrName>ppt_x</p:attrName>
                                        </p:attrNameLst>
                                      </p:cBhvr>
                                      <p:tavLst>
                                        <p:tav tm="0">
                                          <p:val>
                                            <p:strVal val="#ppt_x"/>
                                          </p:val>
                                        </p:tav>
                                        <p:tav tm="100000">
                                          <p:val>
                                            <p:strVal val="#ppt_x"/>
                                          </p:val>
                                        </p:tav>
                                      </p:tavLst>
                                    </p:anim>
                                    <p:anim calcmode="lin" valueType="num">
                                      <p:cBhvr>
                                        <p:cTn id="38"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anim calcmode="lin" valueType="num">
                                      <p:cBhvr>
                                        <p:cTn id="44" dur="500" fill="hold"/>
                                        <p:tgtEl>
                                          <p:spTgt spid="13"/>
                                        </p:tgtEl>
                                        <p:attrNameLst>
                                          <p:attrName>ppt_x</p:attrName>
                                        </p:attrNameLst>
                                      </p:cBhvr>
                                      <p:tavLst>
                                        <p:tav tm="0">
                                          <p:val>
                                            <p:strVal val="#ppt_x"/>
                                          </p:val>
                                        </p:tav>
                                        <p:tav tm="100000">
                                          <p:val>
                                            <p:strVal val="#ppt_x"/>
                                          </p:val>
                                        </p:tav>
                                      </p:tavLst>
                                    </p:anim>
                                    <p:anim calcmode="lin" valueType="num">
                                      <p:cBhvr>
                                        <p:cTn id="45" dur="500" fill="hold"/>
                                        <p:tgtEl>
                                          <p:spTgt spid="1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anim calcmode="lin" valueType="num">
                                      <p:cBhvr>
                                        <p:cTn id="49" dur="500" fill="hold"/>
                                        <p:tgtEl>
                                          <p:spTgt spid="14"/>
                                        </p:tgtEl>
                                        <p:attrNameLst>
                                          <p:attrName>ppt_x</p:attrName>
                                        </p:attrNameLst>
                                      </p:cBhvr>
                                      <p:tavLst>
                                        <p:tav tm="0">
                                          <p:val>
                                            <p:strVal val="#ppt_x"/>
                                          </p:val>
                                        </p:tav>
                                        <p:tav tm="100000">
                                          <p:val>
                                            <p:strVal val="#ppt_x"/>
                                          </p:val>
                                        </p:tav>
                                      </p:tavLst>
                                    </p:anim>
                                    <p:anim calcmode="lin" valueType="num">
                                      <p:cBhvr>
                                        <p:cTn id="5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7</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第七关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发布运动命令</a:t>
            </a:r>
          </a:p>
        </p:txBody>
      </p:sp>
      <p:sp>
        <p:nvSpPr>
          <p:cNvPr id="5" name="文本框 4">
            <a:extLst>
              <a:ext uri="{FF2B5EF4-FFF2-40B4-BE49-F238E27FC236}">
                <a16:creationId xmlns:a16="http://schemas.microsoft.com/office/drawing/2014/main" id="{2B9B2FA2-1D56-4B72-8188-D829EFA3ECA0}"/>
              </a:ext>
            </a:extLst>
          </p:cNvPr>
          <p:cNvSpPr txBox="1"/>
          <p:nvPr/>
        </p:nvSpPr>
        <p:spPr>
          <a:xfrm>
            <a:off x="8878" y="1514375"/>
            <a:ext cx="12183122" cy="2243050"/>
          </a:xfrm>
          <a:prstGeom prst="rect">
            <a:avLst/>
          </a:prstGeom>
          <a:solidFill>
            <a:schemeClr val="accent1">
              <a:lumMod val="20000"/>
              <a:lumOff val="80000"/>
            </a:schemeClr>
          </a:solidFill>
        </p:spPr>
        <p:txBody>
          <a:bodyPr wrap="square" rtlCol="0">
            <a:spAutoFit/>
          </a:bodyPr>
          <a:lstStyle/>
          <a:p>
            <a:pPr indent="457200">
              <a:lnSpc>
                <a:spcPct val="150000"/>
              </a:lnSpc>
            </a:pPr>
            <a:r>
              <a:rPr lang="zh-CN" altLang="en-US" sz="2400" b="1">
                <a:latin typeface="微软雅黑" panose="020B0503020204020204" pitchFamily="34" charset="-122"/>
                <a:ea typeface="微软雅黑" panose="020B0503020204020204" pitchFamily="34" charset="-122"/>
              </a:rPr>
              <a:t>核心思路：基于路线中心，向仿真的小车发布消息使其向着路线中心运动。</a:t>
            </a:r>
            <a:endParaRPr lang="en-US" altLang="zh-CN" sz="2400" b="1">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第一步：获取运动相关的话题。</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第二步：根据路线中心，发布运动消息。</a:t>
            </a:r>
            <a:endParaRPr lang="en-US" altLang="zh-CN" sz="2400">
              <a:latin typeface="微软雅黑" panose="020B0503020204020204" pitchFamily="34" charset="-122"/>
              <a:ea typeface="微软雅黑" panose="020B0503020204020204" pitchFamily="34" charset="-122"/>
            </a:endParaRPr>
          </a:p>
          <a:p>
            <a:pPr indent="457200">
              <a:lnSpc>
                <a:spcPct val="150000"/>
              </a:lnSpc>
            </a:pPr>
            <a:r>
              <a:rPr lang="zh-CN" altLang="en-US" sz="2400">
                <a:latin typeface="微软雅黑" panose="020B0503020204020204" pitchFamily="34" charset="-122"/>
                <a:ea typeface="微软雅黑" panose="020B0503020204020204" pitchFamily="34" charset="-122"/>
              </a:rPr>
              <a:t>期望结果：小车成功地沿着黄线运动。</a:t>
            </a:r>
            <a:endParaRPr lang="en-US" altLang="zh-CN" sz="240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225C1BF0-F81F-491E-9CE6-A3045BAC89C4}"/>
              </a:ext>
            </a:extLst>
          </p:cNvPr>
          <p:cNvPicPr>
            <a:picLocks noChangeAspect="1"/>
          </p:cNvPicPr>
          <p:nvPr/>
        </p:nvPicPr>
        <p:blipFill>
          <a:blip r:embed="rId2"/>
          <a:stretch>
            <a:fillRect/>
          </a:stretch>
        </p:blipFill>
        <p:spPr>
          <a:xfrm>
            <a:off x="495176" y="3757425"/>
            <a:ext cx="3562476" cy="2929147"/>
          </a:xfrm>
          <a:prstGeom prst="rect">
            <a:avLst/>
          </a:prstGeom>
        </p:spPr>
      </p:pic>
    </p:spTree>
    <p:extLst>
      <p:ext uri="{BB962C8B-B14F-4D97-AF65-F5344CB8AC3E}">
        <p14:creationId xmlns:p14="http://schemas.microsoft.com/office/powerpoint/2010/main" val="2068818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500"/>
                                        <p:tgtEl>
                                          <p:spTgt spid="4"/>
                                        </p:tgtEl>
                                      </p:cBhvr>
                                    </p:animEffect>
                                    <p:anim calcmode="lin" valueType="num">
                                      <p:cBhvr>
                                        <p:cTn id="34" dur="500" fill="hold"/>
                                        <p:tgtEl>
                                          <p:spTgt spid="4"/>
                                        </p:tgtEl>
                                        <p:attrNameLst>
                                          <p:attrName>ppt_x</p:attrName>
                                        </p:attrNameLst>
                                      </p:cBhvr>
                                      <p:tavLst>
                                        <p:tav tm="0">
                                          <p:val>
                                            <p:strVal val="#ppt_x"/>
                                          </p:val>
                                        </p:tav>
                                        <p:tav tm="100000">
                                          <p:val>
                                            <p:strVal val="#ppt_x"/>
                                          </p:val>
                                        </p:tav>
                                      </p:tavLst>
                                    </p:anim>
                                    <p:anim calcmode="lin" valueType="num">
                                      <p:cBhvr>
                                        <p:cTn id="35"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5A091EF-6E37-4523-AE92-BA422D0A3A03}"/>
              </a:ext>
            </a:extLst>
          </p:cNvPr>
          <p:cNvPicPr>
            <a:picLocks noChangeAspect="1"/>
          </p:cNvPicPr>
          <p:nvPr/>
        </p:nvPicPr>
        <p:blipFill>
          <a:blip r:embed="rId2"/>
          <a:stretch>
            <a:fillRect/>
          </a:stretch>
        </p:blipFill>
        <p:spPr>
          <a:xfrm>
            <a:off x="2333" y="1584023"/>
            <a:ext cx="8052214" cy="1276416"/>
          </a:xfrm>
          <a:prstGeom prst="rect">
            <a:avLst/>
          </a:prstGeom>
        </p:spPr>
      </p:pic>
      <p:pic>
        <p:nvPicPr>
          <p:cNvPr id="4" name="图片 3">
            <a:extLst>
              <a:ext uri="{FF2B5EF4-FFF2-40B4-BE49-F238E27FC236}">
                <a16:creationId xmlns:a16="http://schemas.microsoft.com/office/drawing/2014/main" id="{67E69E8F-334B-4897-9EA1-E72B21A9FA3D}"/>
              </a:ext>
            </a:extLst>
          </p:cNvPr>
          <p:cNvPicPr>
            <a:picLocks noChangeAspect="1"/>
          </p:cNvPicPr>
          <p:nvPr/>
        </p:nvPicPr>
        <p:blipFill>
          <a:blip r:embed="rId3"/>
          <a:stretch>
            <a:fillRect/>
          </a:stretch>
        </p:blipFill>
        <p:spPr>
          <a:xfrm>
            <a:off x="0" y="3536013"/>
            <a:ext cx="7207620" cy="2724290"/>
          </a:xfrm>
          <a:prstGeom prst="rect">
            <a:avLst/>
          </a:prstGeom>
        </p:spPr>
      </p:pic>
      <p:sp>
        <p:nvSpPr>
          <p:cNvPr id="22" name="箭头: 五边形 21">
            <a:extLst>
              <a:ext uri="{FF2B5EF4-FFF2-40B4-BE49-F238E27FC236}">
                <a16:creationId xmlns:a16="http://schemas.microsoft.com/office/drawing/2014/main" id="{A8FE8FFF-D157-4704-9B26-ACF68878BBFD}"/>
              </a:ext>
            </a:extLst>
          </p:cNvPr>
          <p:cNvSpPr/>
          <p:nvPr/>
        </p:nvSpPr>
        <p:spPr>
          <a:xfrm>
            <a:off x="-7402" y="349616"/>
            <a:ext cx="1017231" cy="793664"/>
          </a:xfrm>
          <a:prstGeom prst="homePlat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latin typeface="微软雅黑" panose="020B0503020204020204" pitchFamily="34" charset="-122"/>
                <a:ea typeface="微软雅黑" panose="020B0503020204020204" pitchFamily="34" charset="-122"/>
              </a:rPr>
              <a:t>7</a:t>
            </a:r>
            <a:endParaRPr lang="zh-CN" altLang="en-US" sz="2400">
              <a:latin typeface="微软雅黑" panose="020B0503020204020204" pitchFamily="34" charset="-122"/>
              <a:ea typeface="微软雅黑" panose="020B0503020204020204" pitchFamily="34" charset="-122"/>
            </a:endParaRPr>
          </a:p>
        </p:txBody>
      </p:sp>
      <p:sp>
        <p:nvSpPr>
          <p:cNvPr id="23" name="箭头: 五边形 22">
            <a:extLst>
              <a:ext uri="{FF2B5EF4-FFF2-40B4-BE49-F238E27FC236}">
                <a16:creationId xmlns:a16="http://schemas.microsoft.com/office/drawing/2014/main" id="{31B45A3B-3FCA-4BF0-A022-2D03DD48D4F9}"/>
              </a:ext>
            </a:extLst>
          </p:cNvPr>
          <p:cNvSpPr/>
          <p:nvPr/>
        </p:nvSpPr>
        <p:spPr>
          <a:xfrm flipH="1">
            <a:off x="1306493" y="349616"/>
            <a:ext cx="10878105" cy="793664"/>
          </a:xfrm>
          <a:prstGeom prst="homePlate">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a:t>　　</a:t>
            </a:r>
            <a:r>
              <a:rPr lang="zh-CN" altLang="en-US" sz="2400">
                <a:latin typeface="微软雅黑" panose="020B0503020204020204" pitchFamily="34" charset="-122"/>
                <a:ea typeface="微软雅黑" panose="020B0503020204020204" pitchFamily="34" charset="-122"/>
              </a:rPr>
              <a:t>第七关</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发布运动命令</a:t>
            </a:r>
          </a:p>
        </p:txBody>
      </p:sp>
      <p:sp>
        <p:nvSpPr>
          <p:cNvPr id="7" name="箭头: 右 6">
            <a:extLst>
              <a:ext uri="{FF2B5EF4-FFF2-40B4-BE49-F238E27FC236}">
                <a16:creationId xmlns:a16="http://schemas.microsoft.com/office/drawing/2014/main" id="{1C238A67-9E04-472B-BF40-5ACE2EB8BAB3}"/>
              </a:ext>
            </a:extLst>
          </p:cNvPr>
          <p:cNvSpPr/>
          <p:nvPr/>
        </p:nvSpPr>
        <p:spPr>
          <a:xfrm flipH="1">
            <a:off x="8051048" y="2134074"/>
            <a:ext cx="3926727"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1. </a:t>
            </a:r>
            <a:r>
              <a:rPr lang="zh-CN" altLang="en-US"/>
              <a:t>获取话题，准备向它</a:t>
            </a:r>
            <a:r>
              <a:rPr lang="en-US" altLang="zh-CN"/>
              <a:t>Publish</a:t>
            </a:r>
            <a:r>
              <a:rPr lang="zh-CN" altLang="en-US"/>
              <a:t>消息</a:t>
            </a:r>
          </a:p>
        </p:txBody>
      </p:sp>
      <p:sp>
        <p:nvSpPr>
          <p:cNvPr id="9" name="箭头: 右 8">
            <a:extLst>
              <a:ext uri="{FF2B5EF4-FFF2-40B4-BE49-F238E27FC236}">
                <a16:creationId xmlns:a16="http://schemas.microsoft.com/office/drawing/2014/main" id="{C8DAFC69-765E-4280-8631-8EC8E1A3E456}"/>
              </a:ext>
            </a:extLst>
          </p:cNvPr>
          <p:cNvSpPr/>
          <p:nvPr/>
        </p:nvSpPr>
        <p:spPr>
          <a:xfrm flipH="1">
            <a:off x="8056117" y="4664439"/>
            <a:ext cx="3921658" cy="741978"/>
          </a:xfrm>
          <a:prstGeom prst="rightArrow">
            <a:avLst>
              <a:gd name="adj1" fmla="val 59613"/>
              <a:gd name="adj2" fmla="val 50000"/>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CN"/>
              <a:t>2. </a:t>
            </a:r>
            <a:r>
              <a:rPr lang="zh-CN" altLang="en-US"/>
              <a:t>根据路线中心，发布运动消息</a:t>
            </a:r>
          </a:p>
        </p:txBody>
      </p:sp>
      <p:sp>
        <p:nvSpPr>
          <p:cNvPr id="10" name="矩形 9">
            <a:extLst>
              <a:ext uri="{FF2B5EF4-FFF2-40B4-BE49-F238E27FC236}">
                <a16:creationId xmlns:a16="http://schemas.microsoft.com/office/drawing/2014/main" id="{4F6528B3-026F-44F7-8CB5-AD7561743BF8}"/>
              </a:ext>
            </a:extLst>
          </p:cNvPr>
          <p:cNvSpPr/>
          <p:nvPr/>
        </p:nvSpPr>
        <p:spPr>
          <a:xfrm>
            <a:off x="0" y="1619528"/>
            <a:ext cx="8052214" cy="1205406"/>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B1BB1B1E-739D-4235-8464-EC5F7B4E6367}"/>
              </a:ext>
            </a:extLst>
          </p:cNvPr>
          <p:cNvSpPr/>
          <p:nvPr/>
        </p:nvSpPr>
        <p:spPr>
          <a:xfrm>
            <a:off x="-7402" y="3498363"/>
            <a:ext cx="8059616" cy="2761939"/>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714B8AC-888D-4C18-9A1A-947AB1D69513}"/>
              </a:ext>
            </a:extLst>
          </p:cNvPr>
          <p:cNvSpPr/>
          <p:nvPr/>
        </p:nvSpPr>
        <p:spPr>
          <a:xfrm>
            <a:off x="-7402" y="4527306"/>
            <a:ext cx="8056117" cy="101624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F4EF1B39-C857-4218-887D-1394640B2138}"/>
              </a:ext>
            </a:extLst>
          </p:cNvPr>
          <p:cNvSpPr/>
          <p:nvPr/>
        </p:nvSpPr>
        <p:spPr>
          <a:xfrm>
            <a:off x="9574" y="2330608"/>
            <a:ext cx="8039141" cy="508576"/>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605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p:cTn id="20" dur="500" fill="hold"/>
                                        <p:tgtEl>
                                          <p:spTgt spid="17"/>
                                        </p:tgtEl>
                                        <p:attrNameLst>
                                          <p:attrName>ppt_x</p:attrName>
                                        </p:attrNameLst>
                                      </p:cBhvr>
                                      <p:tavLst>
                                        <p:tav tm="0">
                                          <p:val>
                                            <p:strVal val="#ppt_x"/>
                                          </p:val>
                                        </p:tav>
                                        <p:tav tm="100000">
                                          <p:val>
                                            <p:strVal val="#ppt_x"/>
                                          </p:val>
                                        </p:tav>
                                      </p:tavLst>
                                    </p:anim>
                                    <p:anim calcmode="lin" valueType="num">
                                      <p:cBhvr>
                                        <p:cTn id="21"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anim calcmode="lin" valueType="num">
                                      <p:cBhvr>
                                        <p:cTn id="34" dur="500" fill="hold"/>
                                        <p:tgtEl>
                                          <p:spTgt spid="9"/>
                                        </p:tgtEl>
                                        <p:attrNameLst>
                                          <p:attrName>ppt_x</p:attrName>
                                        </p:attrNameLst>
                                      </p:cBhvr>
                                      <p:tavLst>
                                        <p:tav tm="0">
                                          <p:val>
                                            <p:strVal val="#ppt_x"/>
                                          </p:val>
                                        </p:tav>
                                        <p:tav tm="100000">
                                          <p:val>
                                            <p:strVal val="#ppt_x"/>
                                          </p:val>
                                        </p:tav>
                                      </p:tavLst>
                                    </p:anim>
                                    <p:anim calcmode="lin" valueType="num">
                                      <p:cBhvr>
                                        <p:cTn id="35" dur="50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anim calcmode="lin" valueType="num">
                                      <p:cBhvr>
                                        <p:cTn id="39" dur="500" fill="hold"/>
                                        <p:tgtEl>
                                          <p:spTgt spid="14"/>
                                        </p:tgtEl>
                                        <p:attrNameLst>
                                          <p:attrName>ppt_x</p:attrName>
                                        </p:attrNameLst>
                                      </p:cBhvr>
                                      <p:tavLst>
                                        <p:tav tm="0">
                                          <p:val>
                                            <p:strVal val="#ppt_x"/>
                                          </p:val>
                                        </p:tav>
                                        <p:tav tm="100000">
                                          <p:val>
                                            <p:strVal val="#ppt_x"/>
                                          </p:val>
                                        </p:tav>
                                      </p:tavLst>
                                    </p:anim>
                                    <p:anim calcmode="lin" valueType="num">
                                      <p:cBhvr>
                                        <p:cTn id="40"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P spid="14"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F0181567-F7D0-4343-B7C1-211F743C570C}"/>
              </a:ext>
            </a:extLst>
          </p:cNvPr>
          <p:cNvSpPr/>
          <p:nvPr/>
        </p:nvSpPr>
        <p:spPr>
          <a:xfrm>
            <a:off x="2541588" y="0"/>
            <a:ext cx="6907213" cy="5676900"/>
          </a:xfrm>
          <a:prstGeom prst="triangle">
            <a:avLst/>
          </a:prstGeom>
          <a:noFill/>
          <a:ln>
            <a:solidFill>
              <a:schemeClr val="accent1">
                <a:lumMod val="75000"/>
                <a:alpha val="39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5" name="等腰三角形 4">
            <a:extLst>
              <a:ext uri="{FF2B5EF4-FFF2-40B4-BE49-F238E27FC236}">
                <a16:creationId xmlns:a16="http://schemas.microsoft.com/office/drawing/2014/main" id="{8A816B2B-96F0-4A05-A735-0D991F8E5595}"/>
              </a:ext>
            </a:extLst>
          </p:cNvPr>
          <p:cNvSpPr/>
          <p:nvPr/>
        </p:nvSpPr>
        <p:spPr>
          <a:xfrm rot="10800000">
            <a:off x="3059113" y="1319213"/>
            <a:ext cx="6008688" cy="4416425"/>
          </a:xfrm>
          <a:prstGeom prst="triangle">
            <a:avLst/>
          </a:prstGeom>
          <a:noFill/>
          <a:ln w="206375">
            <a:solidFill>
              <a:schemeClr val="accent1">
                <a:lumMod val="60000"/>
                <a:lumOff val="4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6" name="等腰三角形 10">
            <a:extLst>
              <a:ext uri="{FF2B5EF4-FFF2-40B4-BE49-F238E27FC236}">
                <a16:creationId xmlns:a16="http://schemas.microsoft.com/office/drawing/2014/main" id="{3B034A26-43F6-4F69-9BE0-2D399A996E2A}"/>
              </a:ext>
            </a:extLst>
          </p:cNvPr>
          <p:cNvSpPr/>
          <p:nvPr/>
        </p:nvSpPr>
        <p:spPr>
          <a:xfrm rot="7016274">
            <a:off x="1935163" y="454025"/>
            <a:ext cx="3770313" cy="6859588"/>
          </a:xfrm>
          <a:custGeom>
            <a:avLst/>
            <a:gdLst>
              <a:gd name="connsiteX0" fmla="*/ 0 w 7540399"/>
              <a:gd name="connsiteY0" fmla="*/ 6859430 h 6859430"/>
              <a:gd name="connsiteX1" fmla="*/ 3770200 w 7540399"/>
              <a:gd name="connsiteY1" fmla="*/ 0 h 6859430"/>
              <a:gd name="connsiteX2" fmla="*/ 7540399 w 7540399"/>
              <a:gd name="connsiteY2" fmla="*/ 6859430 h 6859430"/>
              <a:gd name="connsiteX3" fmla="*/ 0 w 7540399"/>
              <a:gd name="connsiteY3" fmla="*/ 6859430 h 6859430"/>
              <a:gd name="connsiteX0-1" fmla="*/ 0 w 3770200"/>
              <a:gd name="connsiteY0-2" fmla="*/ 6859430 h 6859430"/>
              <a:gd name="connsiteX1-3" fmla="*/ 3770200 w 3770200"/>
              <a:gd name="connsiteY1-4" fmla="*/ 0 h 6859430"/>
              <a:gd name="connsiteX2-5" fmla="*/ 0 w 3770200"/>
              <a:gd name="connsiteY2-6" fmla="*/ 6859430 h 6859430"/>
            </a:gdLst>
            <a:ahLst/>
            <a:cxnLst>
              <a:cxn ang="0">
                <a:pos x="connsiteX0-1" y="connsiteY0-2"/>
              </a:cxn>
              <a:cxn ang="0">
                <a:pos x="connsiteX1-3" y="connsiteY1-4"/>
              </a:cxn>
              <a:cxn ang="0">
                <a:pos x="connsiteX2-5" y="connsiteY2-6"/>
              </a:cxn>
            </a:cxnLst>
            <a:rect l="l" t="t" r="r" b="b"/>
            <a:pathLst>
              <a:path w="3770200" h="6859430">
                <a:moveTo>
                  <a:pt x="0" y="6859430"/>
                </a:moveTo>
                <a:lnTo>
                  <a:pt x="3770200" y="0"/>
                </a:lnTo>
                <a:lnTo>
                  <a:pt x="0" y="6859430"/>
                </a:lnTo>
                <a:close/>
              </a:path>
            </a:pathLst>
          </a:custGeom>
          <a:solidFill>
            <a:schemeClr val="accent1"/>
          </a:solidFill>
          <a:ln w="206375">
            <a:solidFill>
              <a:schemeClr val="accent1">
                <a:lumMod val="60000"/>
                <a:lumOff val="40000"/>
                <a:alpha val="3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7" name="任意多边形 2">
            <a:extLst>
              <a:ext uri="{FF2B5EF4-FFF2-40B4-BE49-F238E27FC236}">
                <a16:creationId xmlns:a16="http://schemas.microsoft.com/office/drawing/2014/main" id="{B3DB9AA0-A04A-46A5-9CE6-6652CFE84DB2}"/>
              </a:ext>
            </a:extLst>
          </p:cNvPr>
          <p:cNvSpPr/>
          <p:nvPr/>
        </p:nvSpPr>
        <p:spPr>
          <a:xfrm rot="11211390">
            <a:off x="5659438" y="3959225"/>
            <a:ext cx="922338" cy="866775"/>
          </a:xfrm>
          <a:custGeom>
            <a:avLst/>
            <a:gdLst>
              <a:gd name="connsiteX0" fmla="*/ 0 w 2002971"/>
              <a:gd name="connsiteY0" fmla="*/ 1335314 h 1944914"/>
              <a:gd name="connsiteX1" fmla="*/ 783771 w 2002971"/>
              <a:gd name="connsiteY1" fmla="*/ 0 h 1944914"/>
              <a:gd name="connsiteX2" fmla="*/ 2002971 w 2002971"/>
              <a:gd name="connsiteY2" fmla="*/ 1944914 h 1944914"/>
              <a:gd name="connsiteX0-1" fmla="*/ 0 w 1416184"/>
              <a:gd name="connsiteY0-2" fmla="*/ 1335314 h 1335314"/>
              <a:gd name="connsiteX1-3" fmla="*/ 783771 w 1416184"/>
              <a:gd name="connsiteY1-4" fmla="*/ 0 h 1335314"/>
              <a:gd name="connsiteX2-5" fmla="*/ 1416184 w 1416184"/>
              <a:gd name="connsiteY2-6" fmla="*/ 970990 h 1335314"/>
            </a:gdLst>
            <a:ahLst/>
            <a:cxnLst>
              <a:cxn ang="0">
                <a:pos x="connsiteX0-1" y="connsiteY0-2"/>
              </a:cxn>
              <a:cxn ang="0">
                <a:pos x="connsiteX1-3" y="connsiteY1-4"/>
              </a:cxn>
              <a:cxn ang="0">
                <a:pos x="connsiteX2-5" y="connsiteY2-6"/>
              </a:cxn>
            </a:cxnLst>
            <a:rect l="l" t="t" r="r" b="b"/>
            <a:pathLst>
              <a:path w="1416184" h="1335314">
                <a:moveTo>
                  <a:pt x="0" y="1335314"/>
                </a:moveTo>
                <a:lnTo>
                  <a:pt x="783771" y="0"/>
                </a:lnTo>
                <a:lnTo>
                  <a:pt x="1416184" y="970990"/>
                </a:lnTo>
              </a:path>
            </a:pathLst>
          </a:custGeom>
          <a:noFill/>
          <a:ln w="1270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8" name="任意多边形 20">
            <a:extLst>
              <a:ext uri="{FF2B5EF4-FFF2-40B4-BE49-F238E27FC236}">
                <a16:creationId xmlns:a16="http://schemas.microsoft.com/office/drawing/2014/main" id="{BE6523AF-051A-4B4A-8B17-B5BBFFAEAC0E}"/>
              </a:ext>
            </a:extLst>
          </p:cNvPr>
          <p:cNvSpPr/>
          <p:nvPr/>
        </p:nvSpPr>
        <p:spPr>
          <a:xfrm rot="11211631">
            <a:off x="4587875" y="2082800"/>
            <a:ext cx="2930525" cy="1257300"/>
          </a:xfrm>
          <a:custGeom>
            <a:avLst/>
            <a:gdLst>
              <a:gd name="connsiteX0" fmla="*/ 4209143 w 5297714"/>
              <a:gd name="connsiteY0" fmla="*/ 0 h 1770743"/>
              <a:gd name="connsiteX1" fmla="*/ 5297714 w 5297714"/>
              <a:gd name="connsiteY1" fmla="*/ 1770743 h 1770743"/>
              <a:gd name="connsiteX2" fmla="*/ 0 w 5297714"/>
              <a:gd name="connsiteY2" fmla="*/ 1306286 h 1770743"/>
              <a:gd name="connsiteX3" fmla="*/ 769257 w 5297714"/>
              <a:gd name="connsiteY3" fmla="*/ 29029 h 1770743"/>
              <a:gd name="connsiteX0-1" fmla="*/ 4209143 w 5297714"/>
              <a:gd name="connsiteY0-2" fmla="*/ 0 h 1770743"/>
              <a:gd name="connsiteX1-3" fmla="*/ 5297714 w 5297714"/>
              <a:gd name="connsiteY1-4" fmla="*/ 1770743 h 1770743"/>
              <a:gd name="connsiteX2-5" fmla="*/ 0 w 5297714"/>
              <a:gd name="connsiteY2-6" fmla="*/ 1306286 h 1770743"/>
              <a:gd name="connsiteX3-7" fmla="*/ 562856 w 5297714"/>
              <a:gd name="connsiteY3-8" fmla="*/ 395863 h 1770743"/>
              <a:gd name="connsiteX0-9" fmla="*/ 3872553 w 5297714"/>
              <a:gd name="connsiteY0-10" fmla="*/ 0 h 2274831"/>
              <a:gd name="connsiteX1-11" fmla="*/ 5297714 w 5297714"/>
              <a:gd name="connsiteY1-12" fmla="*/ 2274831 h 2274831"/>
              <a:gd name="connsiteX2-13" fmla="*/ 0 w 5297714"/>
              <a:gd name="connsiteY2-14" fmla="*/ 1810374 h 2274831"/>
              <a:gd name="connsiteX3-15" fmla="*/ 562856 w 5297714"/>
              <a:gd name="connsiteY3-16" fmla="*/ 899951 h 2274831"/>
            </a:gdLst>
            <a:ahLst/>
            <a:cxnLst>
              <a:cxn ang="0">
                <a:pos x="connsiteX0-1" y="connsiteY0-2"/>
              </a:cxn>
              <a:cxn ang="0">
                <a:pos x="connsiteX1-3" y="connsiteY1-4"/>
              </a:cxn>
              <a:cxn ang="0">
                <a:pos x="connsiteX2-5" y="connsiteY2-6"/>
              </a:cxn>
              <a:cxn ang="0">
                <a:pos x="connsiteX3-7" y="connsiteY3-8"/>
              </a:cxn>
            </a:cxnLst>
            <a:rect l="l" t="t" r="r" b="b"/>
            <a:pathLst>
              <a:path w="5297714" h="2274831">
                <a:moveTo>
                  <a:pt x="3872553" y="0"/>
                </a:moveTo>
                <a:lnTo>
                  <a:pt x="5297714" y="2274831"/>
                </a:lnTo>
                <a:lnTo>
                  <a:pt x="0" y="1810374"/>
                </a:lnTo>
                <a:lnTo>
                  <a:pt x="562856" y="899951"/>
                </a:lnTo>
              </a:path>
            </a:pathLst>
          </a:custGeom>
          <a:noFill/>
          <a:ln w="1270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9" name="TextBox 9">
            <a:extLst>
              <a:ext uri="{FF2B5EF4-FFF2-40B4-BE49-F238E27FC236}">
                <a16:creationId xmlns:a16="http://schemas.microsoft.com/office/drawing/2014/main" id="{0F5EBEF3-F14D-45B5-AC9A-0AE10D94F43B}"/>
              </a:ext>
            </a:extLst>
          </p:cNvPr>
          <p:cNvSpPr txBox="1"/>
          <p:nvPr/>
        </p:nvSpPr>
        <p:spPr>
          <a:xfrm>
            <a:off x="2292350" y="3133725"/>
            <a:ext cx="7893050" cy="1014730"/>
          </a:xfrm>
          <a:prstGeom prst="rect">
            <a:avLst/>
          </a:prstGeom>
          <a:noFill/>
        </p:spPr>
        <p:txBody>
          <a:bodyPr wrap="square">
            <a:spAutoFit/>
          </a:bodyPr>
          <a:lstStyle/>
          <a:p>
            <a:pPr marR="0" algn="ctr" defTabSz="914400" fontAlgn="auto">
              <a:buClrTx/>
              <a:buSzTx/>
              <a:buFont typeface="Arial" panose="020B0604020202020204" pitchFamily="34" charset="0"/>
              <a:defRPr/>
            </a:pPr>
            <a:r>
              <a:rPr kumimoji="0" lang="en-US" altLang="zh-CN" sz="6000" b="1" kern="1200" cap="none" spc="300" normalizeH="0" baseline="0" noProof="1">
                <a:solidFill>
                  <a:schemeClr val="accent1"/>
                </a:solidFill>
                <a:latin typeface="微软雅黑" panose="020B0503020204020204" pitchFamily="34" charset="-122"/>
                <a:ea typeface="微软雅黑" panose="020B0503020204020204" pitchFamily="34" charset="-122"/>
                <a:cs typeface="+mn-cs"/>
                <a:sym typeface="+mn-ea"/>
              </a:rPr>
              <a:t>THANK YOU</a:t>
            </a:r>
          </a:p>
        </p:txBody>
      </p:sp>
    </p:spTree>
    <p:extLst>
      <p:ext uri="{BB962C8B-B14F-4D97-AF65-F5344CB8AC3E}">
        <p14:creationId xmlns:p14="http://schemas.microsoft.com/office/powerpoint/2010/main" val="48155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solidFill>
          <a:schemeClr val="accent1">
            <a:lumMod val="20000"/>
            <a:lumOff val="80000"/>
          </a:schemeClr>
        </a:solidFill>
      </a:spPr>
      <a:bodyPr wrap="square" rtlCol="0">
        <a:spAutoFit/>
      </a:bodyPr>
      <a:lstStyle>
        <a:defPPr indent="457200" algn="l">
          <a:lnSpc>
            <a:spcPct val="150000"/>
          </a:lnSpc>
          <a:defRPr sz="240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1568</TotalTime>
  <Words>1001</Words>
  <Application>Microsoft Office PowerPoint</Application>
  <PresentationFormat>宽屏</PresentationFormat>
  <Paragraphs>118</Paragraphs>
  <Slides>19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等线 Light</vt:lpstr>
      <vt:lpstr>方正宋刻本秀楷简体</vt:lpstr>
      <vt:lpstr>方正准圆简体</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申 珊靛</dc:creator>
  <cp:lastModifiedBy>永夜 尘</cp:lastModifiedBy>
  <cp:revision>548</cp:revision>
  <dcterms:created xsi:type="dcterms:W3CDTF">2021-03-12T12:02:50Z</dcterms:created>
  <dcterms:modified xsi:type="dcterms:W3CDTF">2021-07-16T09:28:28Z</dcterms:modified>
</cp:coreProperties>
</file>