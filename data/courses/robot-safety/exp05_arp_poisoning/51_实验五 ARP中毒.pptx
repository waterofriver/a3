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18"/>
  </p:notesMasterIdLst>
  <p:sldIdLst>
    <p:sldId id="256" r:id="rId2"/>
    <p:sldId id="257" r:id="rId3"/>
    <p:sldId id="304" r:id="rId4"/>
    <p:sldId id="259" r:id="rId5"/>
    <p:sldId id="299" r:id="rId6"/>
    <p:sldId id="301" r:id="rId7"/>
    <p:sldId id="288" r:id="rId8"/>
    <p:sldId id="260" r:id="rId9"/>
    <p:sldId id="302" r:id="rId10"/>
    <p:sldId id="261" r:id="rId11"/>
    <p:sldId id="305" r:id="rId12"/>
    <p:sldId id="262" r:id="rId13"/>
    <p:sldId id="306" r:id="rId14"/>
    <p:sldId id="294" r:id="rId15"/>
    <p:sldId id="307" r:id="rId16"/>
    <p:sldId id="27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首页" id="{38910652-1D9F-45BF-BD71-1777E84EDD6F}">
          <p14:sldIdLst>
            <p14:sldId id="256"/>
          </p14:sldIdLst>
        </p14:section>
        <p14:section name="概述" id="{7DF12B08-F0B0-462C-A97E-B87E83D9806D}">
          <p14:sldIdLst>
            <p14:sldId id="257"/>
          </p14:sldIdLst>
        </p14:section>
        <p14:section name="1 了解ARP攻击" id="{50BD4C9C-BD31-4051-A6FE-DD72385D00F1}">
          <p14:sldIdLst>
            <p14:sldId id="304"/>
            <p14:sldId id="259"/>
            <p14:sldId id="299"/>
            <p14:sldId id="301"/>
            <p14:sldId id="288"/>
          </p14:sldIdLst>
        </p14:section>
        <p14:section name="2 工具arpspoof" id="{76D2575B-D32D-4047-BAFD-9445C89CBC82}">
          <p14:sldIdLst>
            <p14:sldId id="260"/>
            <p14:sldId id="302"/>
          </p14:sldIdLst>
        </p14:section>
        <p14:section name="3 scapy伪造报文" id="{4FDEEF89-12FD-4644-9C14-87F915311AC3}">
          <p14:sldIdLst>
            <p14:sldId id="261"/>
            <p14:sldId id="305"/>
          </p14:sldIdLst>
        </p14:section>
        <p14:section name="4 dpkt库分析报文" id="{45933C4A-D6F9-4D7D-971E-3B55624CAFD5}">
          <p14:sldIdLst>
            <p14:sldId id="262"/>
            <p14:sldId id="306"/>
          </p14:sldIdLst>
        </p14:section>
        <p14:section name="5 了解libpcap" id="{D46287EC-910B-447C-A2D0-828A3CAC7333}">
          <p14:sldIdLst>
            <p14:sldId id="294"/>
            <p14:sldId id="307"/>
          </p14:sldIdLst>
        </p14:section>
        <p14:section name="结束" id="{0EF7C619-5AED-4E9D-8482-D6278461C313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979"/>
    <a:srgbClr val="FFA7A7"/>
    <a:srgbClr val="0A0B0C"/>
    <a:srgbClr val="C7D5ED"/>
    <a:srgbClr val="2AB150"/>
    <a:srgbClr val="516485"/>
    <a:srgbClr val="D446B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9" autoAdjust="0"/>
    <p:restoredTop sz="94660"/>
  </p:normalViewPr>
  <p:slideViewPr>
    <p:cSldViewPr snapToGrid="0">
      <p:cViewPr varScale="1">
        <p:scale>
          <a:sx n="80" d="100"/>
          <a:sy n="80" d="100"/>
        </p:scale>
        <p:origin x="55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AF68E-1953-43AD-987D-C1E8F6D8E288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6322D-176A-4642-922F-674CC4CE5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380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/>
              <a:t>每台主机都会在自己的</a:t>
            </a:r>
            <a:r>
              <a:rPr lang="en-US" altLang="zh-CN"/>
              <a:t>ARP</a:t>
            </a:r>
            <a:r>
              <a:rPr lang="zh-CN" altLang="zh-CN"/>
              <a:t>缓冲区中建立一个</a:t>
            </a:r>
            <a:r>
              <a:rPr lang="en-US" altLang="zh-CN"/>
              <a:t> ARP</a:t>
            </a:r>
            <a:r>
              <a:rPr lang="zh-CN" altLang="zh-CN"/>
              <a:t>列表，以表示</a:t>
            </a:r>
            <a:r>
              <a:rPr lang="en-US" altLang="zh-CN"/>
              <a:t>IP</a:t>
            </a:r>
            <a:r>
              <a:rPr lang="zh-CN" altLang="zh-CN"/>
              <a:t>地址和</a:t>
            </a:r>
            <a:r>
              <a:rPr lang="en-US" altLang="zh-CN"/>
              <a:t>MAC</a:t>
            </a:r>
            <a:r>
              <a:rPr lang="zh-CN" altLang="zh-CN"/>
              <a:t>地址的对应关系。当</a:t>
            </a:r>
            <a:r>
              <a:rPr lang="en-US" altLang="zh-CN"/>
              <a:t>A</a:t>
            </a:r>
            <a:r>
              <a:rPr lang="zh-CN" altLang="zh-CN"/>
              <a:t>主机要跟</a:t>
            </a:r>
            <a:r>
              <a:rPr lang="en-US" altLang="zh-CN"/>
              <a:t>B</a:t>
            </a:r>
            <a:r>
              <a:rPr lang="zh-CN" altLang="zh-CN"/>
              <a:t>主机通讯时，会</a:t>
            </a:r>
            <a:r>
              <a:rPr lang="zh-CN" altLang="zh-CN" b="1" u="sng"/>
              <a:t>首先检查自己</a:t>
            </a:r>
            <a:r>
              <a:rPr lang="en-US" altLang="zh-CN" b="1" u="sng"/>
              <a:t> ARP</a:t>
            </a:r>
            <a:r>
              <a:rPr lang="zh-CN" altLang="zh-CN" b="1" u="sng"/>
              <a:t>列表</a:t>
            </a:r>
            <a:r>
              <a:rPr lang="zh-CN" altLang="zh-CN"/>
              <a:t>中是否存在</a:t>
            </a:r>
            <a:r>
              <a:rPr lang="en-US" altLang="zh-CN"/>
              <a:t>B</a:t>
            </a:r>
            <a:r>
              <a:rPr lang="zh-CN" altLang="zh-CN"/>
              <a:t>的</a:t>
            </a:r>
            <a:r>
              <a:rPr lang="en-US" altLang="zh-CN"/>
              <a:t> IP</a:t>
            </a:r>
            <a:r>
              <a:rPr lang="zh-CN" altLang="zh-CN"/>
              <a:t>地址对应的</a:t>
            </a:r>
            <a:r>
              <a:rPr lang="en-US" altLang="zh-CN"/>
              <a:t>MAC</a:t>
            </a:r>
            <a:r>
              <a:rPr lang="zh-CN" altLang="zh-CN"/>
              <a:t>地址，</a:t>
            </a:r>
            <a:r>
              <a:rPr lang="zh-CN" altLang="zh-CN" u="sng"/>
              <a:t>如果有</a:t>
            </a:r>
            <a:r>
              <a:rPr lang="zh-CN" altLang="zh-CN"/>
              <a:t>，就直接将数据包发送到这个</a:t>
            </a:r>
            <a:r>
              <a:rPr lang="en-US" altLang="zh-CN"/>
              <a:t>MAC</a:t>
            </a:r>
            <a:r>
              <a:rPr lang="zh-CN" altLang="zh-CN"/>
              <a:t>地址；</a:t>
            </a:r>
            <a:r>
              <a:rPr lang="zh-CN" altLang="zh-CN" u="sng"/>
              <a:t>如果没有</a:t>
            </a:r>
            <a:r>
              <a:rPr lang="zh-CN" altLang="zh-CN"/>
              <a:t>，就</a:t>
            </a:r>
            <a:r>
              <a:rPr lang="zh-CN" altLang="zh-CN" b="1" u="sng"/>
              <a:t>向本地网段发起一个</a:t>
            </a:r>
            <a:r>
              <a:rPr lang="en-US" altLang="zh-CN" b="1" u="sng"/>
              <a:t>ARP</a:t>
            </a:r>
            <a:r>
              <a:rPr lang="zh-CN" altLang="zh-CN" b="1" u="sng"/>
              <a:t>请求的广播包</a:t>
            </a:r>
            <a:r>
              <a:rPr lang="zh-CN" altLang="zh-CN"/>
              <a:t>，查询此目的主机对应的</a:t>
            </a:r>
            <a:r>
              <a:rPr lang="en-US" altLang="zh-CN"/>
              <a:t>MAC</a:t>
            </a:r>
            <a:r>
              <a:rPr lang="zh-CN" altLang="zh-CN"/>
              <a:t>地址。此</a:t>
            </a:r>
            <a:r>
              <a:rPr lang="en-US" altLang="zh-CN"/>
              <a:t>ARP</a:t>
            </a:r>
            <a:r>
              <a:rPr lang="zh-CN" altLang="zh-CN"/>
              <a:t>请求数据包里包括源主机的</a:t>
            </a:r>
            <a:r>
              <a:rPr lang="en-US" altLang="zh-CN"/>
              <a:t>IP</a:t>
            </a:r>
            <a:r>
              <a:rPr lang="zh-CN" altLang="zh-CN"/>
              <a:t>地址、硬件地址、以及目的主机的</a:t>
            </a:r>
            <a:r>
              <a:rPr lang="en-US" altLang="zh-CN"/>
              <a:t>IP</a:t>
            </a:r>
            <a:r>
              <a:rPr lang="zh-CN" altLang="zh-CN"/>
              <a:t>地址。网络中所有的主机收到这个</a:t>
            </a:r>
            <a:r>
              <a:rPr lang="en-US" altLang="zh-CN"/>
              <a:t>ARP</a:t>
            </a:r>
            <a:r>
              <a:rPr lang="zh-CN" altLang="zh-CN"/>
              <a:t>请求后，会</a:t>
            </a:r>
            <a:r>
              <a:rPr lang="zh-CN" altLang="zh-CN" b="1" u="sng"/>
              <a:t>检查数据包中的目的</a:t>
            </a:r>
            <a:r>
              <a:rPr lang="en-US" altLang="zh-CN" b="1" u="sng"/>
              <a:t>IP</a:t>
            </a:r>
            <a:r>
              <a:rPr lang="zh-CN" altLang="zh-CN" b="1" u="sng"/>
              <a:t>是否和自己的</a:t>
            </a:r>
            <a:r>
              <a:rPr lang="en-US" altLang="zh-CN" b="1" u="sng"/>
              <a:t>IP</a:t>
            </a:r>
            <a:r>
              <a:rPr lang="zh-CN" altLang="zh-CN" b="1" u="sng"/>
              <a:t>地址一致</a:t>
            </a:r>
            <a:r>
              <a:rPr lang="zh-CN" altLang="zh-CN"/>
              <a:t>。</a:t>
            </a:r>
            <a:r>
              <a:rPr lang="zh-CN" altLang="zh-CN" u="sng"/>
              <a:t>如果不相同</a:t>
            </a:r>
            <a:r>
              <a:rPr lang="zh-CN" altLang="zh-CN"/>
              <a:t>就忽略此数据包；</a:t>
            </a:r>
            <a:r>
              <a:rPr lang="zh-CN" altLang="zh-CN" u="sng"/>
              <a:t>如果相同</a:t>
            </a:r>
            <a:r>
              <a:rPr lang="zh-CN" altLang="zh-CN"/>
              <a:t>，该主机首先将发送端的</a:t>
            </a:r>
            <a:r>
              <a:rPr lang="en-US" altLang="zh-CN"/>
              <a:t>MAC</a:t>
            </a:r>
            <a:r>
              <a:rPr lang="zh-CN" altLang="zh-CN"/>
              <a:t>地址和</a:t>
            </a:r>
            <a:r>
              <a:rPr lang="en-US" altLang="zh-CN"/>
              <a:t>IP</a:t>
            </a:r>
            <a:r>
              <a:rPr lang="zh-CN" altLang="zh-CN"/>
              <a:t>地址添加到自己的</a:t>
            </a:r>
            <a:r>
              <a:rPr lang="en-US" altLang="zh-CN"/>
              <a:t>ARP</a:t>
            </a:r>
            <a:r>
              <a:rPr lang="zh-CN" altLang="zh-CN"/>
              <a:t>列表中，如果</a:t>
            </a:r>
            <a:r>
              <a:rPr lang="en-US" altLang="zh-CN"/>
              <a:t>ARP</a:t>
            </a:r>
            <a:r>
              <a:rPr lang="zh-CN" altLang="zh-CN"/>
              <a:t>表中已经存在该</a:t>
            </a:r>
            <a:r>
              <a:rPr lang="en-US" altLang="zh-CN"/>
              <a:t>IP</a:t>
            </a:r>
            <a:r>
              <a:rPr lang="zh-CN" altLang="zh-CN"/>
              <a:t>的信息，则将其覆盖，然后</a:t>
            </a:r>
            <a:r>
              <a:rPr lang="zh-CN" altLang="zh-CN" b="1" u="sng"/>
              <a:t>给源主机发送一个</a:t>
            </a:r>
            <a:r>
              <a:rPr lang="en-US" altLang="zh-CN" b="1" u="sng"/>
              <a:t> ARP</a:t>
            </a:r>
            <a:r>
              <a:rPr lang="zh-CN" altLang="zh-CN" b="1" u="sng"/>
              <a:t>响应数据包</a:t>
            </a:r>
            <a:r>
              <a:rPr lang="zh-CN" altLang="zh-CN"/>
              <a:t>，告诉对方自己是它需要查找的</a:t>
            </a:r>
            <a:r>
              <a:rPr lang="en-US" altLang="zh-CN"/>
              <a:t>MAC</a:t>
            </a:r>
            <a:r>
              <a:rPr lang="zh-CN" altLang="zh-CN"/>
              <a:t>地址；源主机收到这个</a:t>
            </a:r>
            <a:r>
              <a:rPr lang="en-US" altLang="zh-CN" b="1"/>
              <a:t>ARP</a:t>
            </a:r>
            <a:r>
              <a:rPr lang="zh-CN" altLang="zh-CN" b="1"/>
              <a:t>响应数据包</a:t>
            </a:r>
            <a:r>
              <a:rPr lang="zh-CN" altLang="zh-CN"/>
              <a:t>后，将得到的目的主机的</a:t>
            </a:r>
            <a:r>
              <a:rPr lang="en-US" altLang="zh-CN"/>
              <a:t>IP</a:t>
            </a:r>
            <a:r>
              <a:rPr lang="zh-CN" altLang="zh-CN"/>
              <a:t>地址和</a:t>
            </a:r>
            <a:r>
              <a:rPr lang="en-US" altLang="zh-CN"/>
              <a:t>MAC</a:t>
            </a:r>
            <a:r>
              <a:rPr lang="zh-CN" altLang="zh-CN"/>
              <a:t>地址</a:t>
            </a:r>
            <a:r>
              <a:rPr lang="zh-CN" altLang="zh-CN" b="1" u="sng"/>
              <a:t>添加到自己的</a:t>
            </a:r>
            <a:r>
              <a:rPr lang="en-US" altLang="zh-CN" b="1" u="sng"/>
              <a:t>ARP</a:t>
            </a:r>
            <a:r>
              <a:rPr lang="zh-CN" altLang="zh-CN" b="1" u="sng"/>
              <a:t>列表</a:t>
            </a:r>
            <a:r>
              <a:rPr lang="zh-CN" altLang="zh-CN"/>
              <a:t>中，并</a:t>
            </a:r>
            <a:r>
              <a:rPr lang="zh-CN" altLang="zh-CN" b="1" u="sng"/>
              <a:t>利用此信息开始数据的传输</a:t>
            </a:r>
            <a:r>
              <a:rPr lang="zh-CN" altLang="zh-CN"/>
              <a:t>。如果源主机一直没有收到</a:t>
            </a:r>
            <a:r>
              <a:rPr lang="en-US" altLang="zh-CN"/>
              <a:t>ARP</a:t>
            </a:r>
            <a:r>
              <a:rPr lang="zh-CN" altLang="zh-CN"/>
              <a:t>响应数据包，表示</a:t>
            </a:r>
            <a:r>
              <a:rPr lang="en-US" altLang="zh-CN"/>
              <a:t>ARP</a:t>
            </a:r>
            <a:r>
              <a:rPr lang="zh-CN" altLang="zh-CN"/>
              <a:t>查询失败。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6322D-176A-4642-922F-674CC4CE52A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14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492B1-0C5A-4196-BD5A-E25E482A5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178BF0-0FB2-4157-94C8-60D23AE41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FEC93F-B58D-4BAC-A643-9C65EE0A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30BD-EEEA-42AA-81A1-6BB0BE517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0CAB7-73A5-4C61-AFE5-E970E7E6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02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59A43-4A1F-4410-9B4D-3925D2F76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D32DFF-9387-4964-8523-216A65401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45149-9F4B-414E-A5A5-1BC20FD4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EF9E98-605C-46A3-A2B0-DE11B019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A20530-1173-46A9-B561-ABC53E04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7236E59-E5E2-4275-BBB2-274FF69106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91" y="6324390"/>
            <a:ext cx="1291046" cy="43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06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AC33F-BC76-4F76-B18F-1F3ABABEA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44EF2A-4F7E-41E3-8B53-23EA70337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9B4D17-2136-49F6-A86F-B3F890DA9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77ADF9-6B16-4A91-984C-EAF74F30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CCE8A-56F3-4D85-B313-C156ACDD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140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E6CB2-0804-4E4F-BD32-414A4167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08AB1-545C-4CF5-8723-A62DE4BE5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D0195D-BE80-4E0A-AC0F-7900C5D92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E6A1DE-DAA3-4F0A-B858-DA7A5AFDC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9C543A-6D2B-49AF-962F-AC42DF27A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27804E-B37F-48DC-9CE6-1B7E8B29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97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B7A21-43EE-42C1-8A5D-F9D82CFC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D43ADA-D3FE-4728-BB57-5EFE47B68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141D56-9192-4359-B128-CF3472502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C5CA01-9162-4DA5-B71C-E30B4C952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CE2240-4C37-494C-8DEF-0BE2F8893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4BF995-C68C-4154-A992-D7629699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D03D2D-FF72-4FF0-B5C8-ECF1064B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FBCA7C-644A-4373-AB14-5D22E44E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003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61089-0F77-431C-B275-14C0C58C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28DD5C-A5FC-4721-A7E5-A5D34A15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37CA22-806D-4280-B77E-CA2C4F467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A51879-0B46-431F-8C0F-3A38090FB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21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F8318D0-AAB2-42F9-9E26-56C1CB7C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817007-959B-4116-925A-43817F38B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8278F3-ACB2-4379-835C-4570EF7C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907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A2BBDF-7CFE-4EFF-B704-790CF5F46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A4827-9BBA-4258-BA50-AC33F1F26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004658-627A-461F-B99F-27392E3E7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AB33D8-A635-4736-A8FC-0E7FB1EF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34F964-AB89-451A-8895-00B77101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EAF20E-5B35-43C4-91D6-5DFDE3B81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15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B7D62-35B1-486A-BA4A-5BD62D878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B77D51-6E0B-4BDB-AB93-B4C68FACD1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2CCFBA-FCB2-4EA4-931C-B0815E5AB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87AEB5-3A92-4059-AC54-3DDE28D72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975F10-5DA9-40FD-B833-1AEE3352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768966-0C69-4938-BD07-608E6904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745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C168C-70CF-489F-AA3C-EAB186829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D8EC20-E3C4-4040-918C-D140F43BE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281EFD-5990-4B49-BEB1-7827F321D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DDDFDE-08EE-4CC7-A8EA-1D5AE271E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507A4D-BB8A-4750-B2A9-1DD61F62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16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3ECB69-D882-4535-B0D7-4E30F131C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C451D9-EE77-4FA7-AA27-96B7A3438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D73AA9-B71F-4C03-85CA-A10ACAF6D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2BCAF-A674-4F07-830F-51ABF482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B3B0B8-9C89-411F-9CE1-B0E7ECE77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73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D0900C-D238-45F2-9A3F-9CC4338D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9D3590-7911-4C76-82B9-2A273AA6F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36424D-17FE-46C6-82EA-9137849D6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D866D1-D453-4383-9F00-E9035E63D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BB7091-FA79-4441-B297-A73323AE3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41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bilibili.com/video/BV12v411L7iv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7AB6328-93D6-44D0-B018-7AB05C8C86B7}"/>
              </a:ext>
            </a:extLst>
          </p:cNvPr>
          <p:cNvSpPr/>
          <p:nvPr/>
        </p:nvSpPr>
        <p:spPr>
          <a:xfrm>
            <a:off x="3469024" y="0"/>
            <a:ext cx="500791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3457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5F9966-9130-4CAA-9435-AA0B3D681875}"/>
              </a:ext>
            </a:extLst>
          </p:cNvPr>
          <p:cNvSpPr/>
          <p:nvPr/>
        </p:nvSpPr>
        <p:spPr>
          <a:xfrm>
            <a:off x="370702" y="998837"/>
            <a:ext cx="11450595" cy="48603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<a:extLst>
              <a:ext uri="{FF2B5EF4-FFF2-40B4-BE49-F238E27FC236}">
                <a16:creationId xmlns:a16="http://schemas.microsoft.com/office/drawing/2014/main" id="{92F53D2A-DDCD-421F-923B-DCB0E62EE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985" y="2563944"/>
            <a:ext cx="9650027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54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  <a:sym typeface="Calibri" panose="020F0502020204030204" pitchFamily="34" charset="0"/>
              </a:rPr>
              <a:t>实验五 </a:t>
            </a:r>
            <a:r>
              <a:rPr lang="en-US" altLang="zh-CN" sz="54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  <a:sym typeface="Calibri" panose="020F0502020204030204" pitchFamily="34" charset="0"/>
              </a:rPr>
              <a:t>ARP</a:t>
            </a:r>
            <a:r>
              <a:rPr lang="zh-CN" altLang="en-US" sz="54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  <a:sym typeface="Calibri" panose="020F0502020204030204" pitchFamily="34" charset="0"/>
              </a:rPr>
              <a:t>中毒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B71B30E-AEA7-4AE3-9A6C-EA71AA5F066A}"/>
              </a:ext>
            </a:extLst>
          </p:cNvPr>
          <p:cNvCxnSpPr/>
          <p:nvPr/>
        </p:nvCxnSpPr>
        <p:spPr>
          <a:xfrm>
            <a:off x="5939450" y="4160852"/>
            <a:ext cx="372724" cy="0"/>
          </a:xfrm>
          <a:prstGeom prst="line">
            <a:avLst/>
          </a:prstGeom>
          <a:ln w="19050">
            <a:solidFill>
              <a:srgbClr val="3457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A6DFE96F-CF89-4918-9DF7-23306AB2179A}"/>
              </a:ext>
            </a:extLst>
          </p:cNvPr>
          <p:cNvSpPr/>
          <p:nvPr/>
        </p:nvSpPr>
        <p:spPr>
          <a:xfrm>
            <a:off x="3567367" y="4477386"/>
            <a:ext cx="468069" cy="468069"/>
          </a:xfrm>
          <a:prstGeom prst="ellipse">
            <a:avLst/>
          </a:prstGeom>
          <a:solidFill>
            <a:srgbClr val="345780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rgbClr val="212834"/>
              </a:solidFill>
            </a:endParaRPr>
          </a:p>
        </p:txBody>
      </p:sp>
      <p:sp>
        <p:nvSpPr>
          <p:cNvPr id="11" name="文本框 10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<a:extLst>
              <a:ext uri="{FF2B5EF4-FFF2-40B4-BE49-F238E27FC236}">
                <a16:creationId xmlns:a16="http://schemas.microsoft.com/office/drawing/2014/main" id="{7CB3D532-35FA-4AC4-9C8B-F288F604F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710" y="4535085"/>
            <a:ext cx="2762533" cy="3796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日期：</a:t>
            </a:r>
            <a:r>
              <a:rPr lang="en-US" altLang="zh-CN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2021.05</a:t>
            </a:r>
            <a:endParaRPr lang="zh-CN" altLang="en-US" sz="1865">
              <a:solidFill>
                <a:srgbClr val="345780"/>
              </a:solidFill>
              <a:latin typeface="方正准圆简体" panose="03000509000000000000" pitchFamily="65" charset="-122"/>
              <a:ea typeface="方正准圆简体" panose="03000509000000000000" pitchFamily="65" charset="-122"/>
              <a:sym typeface="Calibri" panose="020F050202020403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CA6A941-9377-42C6-BCDF-7B7941D7649F}"/>
              </a:ext>
            </a:extLst>
          </p:cNvPr>
          <p:cNvSpPr/>
          <p:nvPr/>
        </p:nvSpPr>
        <p:spPr>
          <a:xfrm>
            <a:off x="6312174" y="4473316"/>
            <a:ext cx="468069" cy="468069"/>
          </a:xfrm>
          <a:prstGeom prst="ellipse">
            <a:avLst/>
          </a:prstGeom>
          <a:solidFill>
            <a:srgbClr val="345780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rgbClr val="212834"/>
              </a:solidFill>
            </a:endParaRPr>
          </a:p>
        </p:txBody>
      </p:sp>
      <p:sp>
        <p:nvSpPr>
          <p:cNvPr id="13" name="文本框 12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<a:extLst>
              <a:ext uri="{FF2B5EF4-FFF2-40B4-BE49-F238E27FC236}">
                <a16:creationId xmlns:a16="http://schemas.microsoft.com/office/drawing/2014/main" id="{A1BB899F-0A56-49A2-8835-5351EF5C8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516" y="4531016"/>
            <a:ext cx="3340272" cy="3793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内容：</a:t>
            </a:r>
            <a:r>
              <a:rPr lang="en-US" altLang="zh-CN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ARP</a:t>
            </a: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攻击与网络报文</a:t>
            </a:r>
          </a:p>
        </p:txBody>
      </p:sp>
      <p:grpSp>
        <p:nvGrpSpPr>
          <p:cNvPr id="14" name="Group 59">
            <a:extLst>
              <a:ext uri="{FF2B5EF4-FFF2-40B4-BE49-F238E27FC236}">
                <a16:creationId xmlns:a16="http://schemas.microsoft.com/office/drawing/2014/main" id="{06848B52-D03E-43E0-8605-71C66A6DDD5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52872" y="4551022"/>
            <a:ext cx="290891" cy="317537"/>
            <a:chOff x="1066" y="1985"/>
            <a:chExt cx="262" cy="286"/>
          </a:xfrm>
          <a:solidFill>
            <a:schemeClr val="bg1"/>
          </a:solidFill>
        </p:grpSpPr>
        <p:sp>
          <p:nvSpPr>
            <p:cNvPr id="15" name="Freeform 60">
              <a:extLst>
                <a:ext uri="{FF2B5EF4-FFF2-40B4-BE49-F238E27FC236}">
                  <a16:creationId xmlns:a16="http://schemas.microsoft.com/office/drawing/2014/main" id="{65AFB32E-06C3-45D3-9241-D2D91F6B4D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6" y="2005"/>
              <a:ext cx="262" cy="266"/>
            </a:xfrm>
            <a:custGeom>
              <a:avLst/>
              <a:gdLst>
                <a:gd name="T0" fmla="*/ 572 w 642"/>
                <a:gd name="T1" fmla="*/ 655 h 655"/>
                <a:gd name="T2" fmla="*/ 70 w 642"/>
                <a:gd name="T3" fmla="*/ 655 h 655"/>
                <a:gd name="T4" fmla="*/ 19 w 642"/>
                <a:gd name="T5" fmla="*/ 630 h 655"/>
                <a:gd name="T6" fmla="*/ 0 w 642"/>
                <a:gd name="T7" fmla="*/ 575 h 655"/>
                <a:gd name="T8" fmla="*/ 0 w 642"/>
                <a:gd name="T9" fmla="*/ 80 h 655"/>
                <a:gd name="T10" fmla="*/ 19 w 642"/>
                <a:gd name="T11" fmla="*/ 25 h 655"/>
                <a:gd name="T12" fmla="*/ 70 w 642"/>
                <a:gd name="T13" fmla="*/ 0 h 655"/>
                <a:gd name="T14" fmla="*/ 93 w 642"/>
                <a:gd name="T15" fmla="*/ 0 h 655"/>
                <a:gd name="T16" fmla="*/ 111 w 642"/>
                <a:gd name="T17" fmla="*/ 18 h 655"/>
                <a:gd name="T18" fmla="*/ 93 w 642"/>
                <a:gd name="T19" fmla="*/ 36 h 655"/>
                <a:gd name="T20" fmla="*/ 70 w 642"/>
                <a:gd name="T21" fmla="*/ 36 h 655"/>
                <a:gd name="T22" fmla="*/ 47 w 642"/>
                <a:gd name="T23" fmla="*/ 48 h 655"/>
                <a:gd name="T24" fmla="*/ 36 w 642"/>
                <a:gd name="T25" fmla="*/ 80 h 655"/>
                <a:gd name="T26" fmla="*/ 36 w 642"/>
                <a:gd name="T27" fmla="*/ 575 h 655"/>
                <a:gd name="T28" fmla="*/ 47 w 642"/>
                <a:gd name="T29" fmla="*/ 607 h 655"/>
                <a:gd name="T30" fmla="*/ 70 w 642"/>
                <a:gd name="T31" fmla="*/ 619 h 655"/>
                <a:gd name="T32" fmla="*/ 572 w 642"/>
                <a:gd name="T33" fmla="*/ 619 h 655"/>
                <a:gd name="T34" fmla="*/ 595 w 642"/>
                <a:gd name="T35" fmla="*/ 607 h 655"/>
                <a:gd name="T36" fmla="*/ 606 w 642"/>
                <a:gd name="T37" fmla="*/ 575 h 655"/>
                <a:gd name="T38" fmla="*/ 606 w 642"/>
                <a:gd name="T39" fmla="*/ 80 h 655"/>
                <a:gd name="T40" fmla="*/ 595 w 642"/>
                <a:gd name="T41" fmla="*/ 48 h 655"/>
                <a:gd name="T42" fmla="*/ 572 w 642"/>
                <a:gd name="T43" fmla="*/ 36 h 655"/>
                <a:gd name="T44" fmla="*/ 547 w 642"/>
                <a:gd name="T45" fmla="*/ 36 h 655"/>
                <a:gd name="T46" fmla="*/ 529 w 642"/>
                <a:gd name="T47" fmla="*/ 18 h 655"/>
                <a:gd name="T48" fmla="*/ 547 w 642"/>
                <a:gd name="T49" fmla="*/ 0 h 655"/>
                <a:gd name="T50" fmla="*/ 572 w 642"/>
                <a:gd name="T51" fmla="*/ 0 h 655"/>
                <a:gd name="T52" fmla="*/ 622 w 642"/>
                <a:gd name="T53" fmla="*/ 25 h 655"/>
                <a:gd name="T54" fmla="*/ 642 w 642"/>
                <a:gd name="T55" fmla="*/ 80 h 655"/>
                <a:gd name="T56" fmla="*/ 642 w 642"/>
                <a:gd name="T57" fmla="*/ 575 h 655"/>
                <a:gd name="T58" fmla="*/ 622 w 642"/>
                <a:gd name="T59" fmla="*/ 630 h 655"/>
                <a:gd name="T60" fmla="*/ 572 w 642"/>
                <a:gd name="T61" fmla="*/ 655 h 655"/>
                <a:gd name="T62" fmla="*/ 418 w 642"/>
                <a:gd name="T63" fmla="*/ 36 h 655"/>
                <a:gd name="T64" fmla="*/ 224 w 642"/>
                <a:gd name="T65" fmla="*/ 36 h 655"/>
                <a:gd name="T66" fmla="*/ 206 w 642"/>
                <a:gd name="T67" fmla="*/ 18 h 655"/>
                <a:gd name="T68" fmla="*/ 224 w 642"/>
                <a:gd name="T69" fmla="*/ 0 h 655"/>
                <a:gd name="T70" fmla="*/ 418 w 642"/>
                <a:gd name="T71" fmla="*/ 0 h 655"/>
                <a:gd name="T72" fmla="*/ 436 w 642"/>
                <a:gd name="T73" fmla="*/ 18 h 655"/>
                <a:gd name="T74" fmla="*/ 418 w 642"/>
                <a:gd name="T75" fmla="*/ 36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2" h="655">
                  <a:moveTo>
                    <a:pt x="572" y="655"/>
                  </a:moveTo>
                  <a:cubicBezTo>
                    <a:pt x="70" y="655"/>
                    <a:pt x="70" y="655"/>
                    <a:pt x="70" y="655"/>
                  </a:cubicBezTo>
                  <a:cubicBezTo>
                    <a:pt x="51" y="655"/>
                    <a:pt x="33" y="646"/>
                    <a:pt x="19" y="630"/>
                  </a:cubicBezTo>
                  <a:cubicBezTo>
                    <a:pt x="7" y="615"/>
                    <a:pt x="0" y="596"/>
                    <a:pt x="0" y="575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60"/>
                    <a:pt x="7" y="40"/>
                    <a:pt x="19" y="25"/>
                  </a:cubicBezTo>
                  <a:cubicBezTo>
                    <a:pt x="33" y="9"/>
                    <a:pt x="51" y="0"/>
                    <a:pt x="70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103" y="0"/>
                    <a:pt x="111" y="8"/>
                    <a:pt x="111" y="18"/>
                  </a:cubicBezTo>
                  <a:cubicBezTo>
                    <a:pt x="111" y="28"/>
                    <a:pt x="103" y="36"/>
                    <a:pt x="93" y="36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61" y="36"/>
                    <a:pt x="53" y="40"/>
                    <a:pt x="47" y="48"/>
                  </a:cubicBezTo>
                  <a:cubicBezTo>
                    <a:pt x="40" y="56"/>
                    <a:pt x="36" y="68"/>
                    <a:pt x="36" y="80"/>
                  </a:cubicBezTo>
                  <a:cubicBezTo>
                    <a:pt x="36" y="575"/>
                    <a:pt x="36" y="575"/>
                    <a:pt x="36" y="575"/>
                  </a:cubicBezTo>
                  <a:cubicBezTo>
                    <a:pt x="36" y="587"/>
                    <a:pt x="40" y="599"/>
                    <a:pt x="47" y="607"/>
                  </a:cubicBezTo>
                  <a:cubicBezTo>
                    <a:pt x="53" y="615"/>
                    <a:pt x="61" y="619"/>
                    <a:pt x="70" y="619"/>
                  </a:cubicBezTo>
                  <a:cubicBezTo>
                    <a:pt x="572" y="619"/>
                    <a:pt x="572" y="619"/>
                    <a:pt x="572" y="619"/>
                  </a:cubicBezTo>
                  <a:cubicBezTo>
                    <a:pt x="580" y="619"/>
                    <a:pt x="588" y="615"/>
                    <a:pt x="595" y="607"/>
                  </a:cubicBezTo>
                  <a:cubicBezTo>
                    <a:pt x="602" y="599"/>
                    <a:pt x="606" y="587"/>
                    <a:pt x="606" y="575"/>
                  </a:cubicBezTo>
                  <a:cubicBezTo>
                    <a:pt x="606" y="80"/>
                    <a:pt x="606" y="80"/>
                    <a:pt x="606" y="80"/>
                  </a:cubicBezTo>
                  <a:cubicBezTo>
                    <a:pt x="606" y="68"/>
                    <a:pt x="602" y="56"/>
                    <a:pt x="595" y="48"/>
                  </a:cubicBezTo>
                  <a:cubicBezTo>
                    <a:pt x="588" y="40"/>
                    <a:pt x="580" y="36"/>
                    <a:pt x="572" y="36"/>
                  </a:cubicBezTo>
                  <a:cubicBezTo>
                    <a:pt x="547" y="36"/>
                    <a:pt x="547" y="36"/>
                    <a:pt x="547" y="36"/>
                  </a:cubicBezTo>
                  <a:cubicBezTo>
                    <a:pt x="537" y="36"/>
                    <a:pt x="529" y="28"/>
                    <a:pt x="529" y="18"/>
                  </a:cubicBezTo>
                  <a:cubicBezTo>
                    <a:pt x="529" y="8"/>
                    <a:pt x="537" y="0"/>
                    <a:pt x="547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1" y="0"/>
                    <a:pt x="609" y="9"/>
                    <a:pt x="622" y="25"/>
                  </a:cubicBezTo>
                  <a:cubicBezTo>
                    <a:pt x="635" y="40"/>
                    <a:pt x="642" y="60"/>
                    <a:pt x="642" y="80"/>
                  </a:cubicBezTo>
                  <a:cubicBezTo>
                    <a:pt x="642" y="575"/>
                    <a:pt x="642" y="575"/>
                    <a:pt x="642" y="575"/>
                  </a:cubicBezTo>
                  <a:cubicBezTo>
                    <a:pt x="642" y="596"/>
                    <a:pt x="635" y="615"/>
                    <a:pt x="622" y="630"/>
                  </a:cubicBezTo>
                  <a:cubicBezTo>
                    <a:pt x="609" y="646"/>
                    <a:pt x="591" y="655"/>
                    <a:pt x="572" y="655"/>
                  </a:cubicBezTo>
                  <a:close/>
                  <a:moveTo>
                    <a:pt x="418" y="36"/>
                  </a:moveTo>
                  <a:cubicBezTo>
                    <a:pt x="224" y="36"/>
                    <a:pt x="224" y="36"/>
                    <a:pt x="224" y="36"/>
                  </a:cubicBezTo>
                  <a:cubicBezTo>
                    <a:pt x="214" y="36"/>
                    <a:pt x="206" y="28"/>
                    <a:pt x="206" y="18"/>
                  </a:cubicBezTo>
                  <a:cubicBezTo>
                    <a:pt x="206" y="8"/>
                    <a:pt x="214" y="0"/>
                    <a:pt x="224" y="0"/>
                  </a:cubicBezTo>
                  <a:cubicBezTo>
                    <a:pt x="418" y="0"/>
                    <a:pt x="418" y="0"/>
                    <a:pt x="418" y="0"/>
                  </a:cubicBezTo>
                  <a:cubicBezTo>
                    <a:pt x="428" y="0"/>
                    <a:pt x="436" y="8"/>
                    <a:pt x="436" y="18"/>
                  </a:cubicBezTo>
                  <a:cubicBezTo>
                    <a:pt x="436" y="28"/>
                    <a:pt x="428" y="36"/>
                    <a:pt x="41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6" name="Freeform 61">
              <a:extLst>
                <a:ext uri="{FF2B5EF4-FFF2-40B4-BE49-F238E27FC236}">
                  <a16:creationId xmlns:a16="http://schemas.microsoft.com/office/drawing/2014/main" id="{42E249E5-CB8F-49AB-ACAC-32DC1584A0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" y="1985"/>
              <a:ext cx="146" cy="64"/>
            </a:xfrm>
            <a:custGeom>
              <a:avLst/>
              <a:gdLst>
                <a:gd name="T0" fmla="*/ 18 w 357"/>
                <a:gd name="T1" fmla="*/ 0 h 157"/>
                <a:gd name="T2" fmla="*/ 36 w 357"/>
                <a:gd name="T3" fmla="*/ 18 h 157"/>
                <a:gd name="T4" fmla="*/ 36 w 357"/>
                <a:gd name="T5" fmla="*/ 139 h 157"/>
                <a:gd name="T6" fmla="*/ 18 w 357"/>
                <a:gd name="T7" fmla="*/ 157 h 157"/>
                <a:gd name="T8" fmla="*/ 0 w 357"/>
                <a:gd name="T9" fmla="*/ 139 h 157"/>
                <a:gd name="T10" fmla="*/ 0 w 357"/>
                <a:gd name="T11" fmla="*/ 18 h 157"/>
                <a:gd name="T12" fmla="*/ 18 w 357"/>
                <a:gd name="T13" fmla="*/ 0 h 157"/>
                <a:gd name="T14" fmla="*/ 339 w 357"/>
                <a:gd name="T15" fmla="*/ 0 h 157"/>
                <a:gd name="T16" fmla="*/ 357 w 357"/>
                <a:gd name="T17" fmla="*/ 18 h 157"/>
                <a:gd name="T18" fmla="*/ 357 w 357"/>
                <a:gd name="T19" fmla="*/ 139 h 157"/>
                <a:gd name="T20" fmla="*/ 339 w 357"/>
                <a:gd name="T21" fmla="*/ 157 h 157"/>
                <a:gd name="T22" fmla="*/ 321 w 357"/>
                <a:gd name="T23" fmla="*/ 139 h 157"/>
                <a:gd name="T24" fmla="*/ 321 w 357"/>
                <a:gd name="T25" fmla="*/ 18 h 157"/>
                <a:gd name="T26" fmla="*/ 339 w 357"/>
                <a:gd name="T2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7" h="157">
                  <a:moveTo>
                    <a:pt x="18" y="0"/>
                  </a:moveTo>
                  <a:cubicBezTo>
                    <a:pt x="28" y="0"/>
                    <a:pt x="36" y="8"/>
                    <a:pt x="36" y="18"/>
                  </a:cubicBezTo>
                  <a:cubicBezTo>
                    <a:pt x="36" y="139"/>
                    <a:pt x="36" y="139"/>
                    <a:pt x="36" y="139"/>
                  </a:cubicBezTo>
                  <a:cubicBezTo>
                    <a:pt x="36" y="149"/>
                    <a:pt x="28" y="157"/>
                    <a:pt x="18" y="157"/>
                  </a:cubicBezTo>
                  <a:cubicBezTo>
                    <a:pt x="8" y="157"/>
                    <a:pt x="0" y="149"/>
                    <a:pt x="0" y="13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lose/>
                  <a:moveTo>
                    <a:pt x="339" y="0"/>
                  </a:moveTo>
                  <a:cubicBezTo>
                    <a:pt x="349" y="0"/>
                    <a:pt x="357" y="8"/>
                    <a:pt x="357" y="18"/>
                  </a:cubicBezTo>
                  <a:cubicBezTo>
                    <a:pt x="357" y="139"/>
                    <a:pt x="357" y="139"/>
                    <a:pt x="357" y="139"/>
                  </a:cubicBezTo>
                  <a:cubicBezTo>
                    <a:pt x="357" y="149"/>
                    <a:pt x="349" y="157"/>
                    <a:pt x="339" y="157"/>
                  </a:cubicBezTo>
                  <a:cubicBezTo>
                    <a:pt x="329" y="157"/>
                    <a:pt x="321" y="149"/>
                    <a:pt x="321" y="139"/>
                  </a:cubicBezTo>
                  <a:cubicBezTo>
                    <a:pt x="321" y="18"/>
                    <a:pt x="321" y="18"/>
                    <a:pt x="321" y="18"/>
                  </a:cubicBezTo>
                  <a:cubicBezTo>
                    <a:pt x="321" y="8"/>
                    <a:pt x="329" y="0"/>
                    <a:pt x="33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7" name="Freeform 62">
              <a:extLst>
                <a:ext uri="{FF2B5EF4-FFF2-40B4-BE49-F238E27FC236}">
                  <a16:creationId xmlns:a16="http://schemas.microsoft.com/office/drawing/2014/main" id="{45829222-856C-4259-9584-C856FD8F1A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4" y="2044"/>
              <a:ext cx="246" cy="183"/>
            </a:xfrm>
            <a:custGeom>
              <a:avLst/>
              <a:gdLst>
                <a:gd name="T0" fmla="*/ 0 w 603"/>
                <a:gd name="T1" fmla="*/ 18 h 450"/>
                <a:gd name="T2" fmla="*/ 18 w 603"/>
                <a:gd name="T3" fmla="*/ 0 h 450"/>
                <a:gd name="T4" fmla="*/ 585 w 603"/>
                <a:gd name="T5" fmla="*/ 0 h 450"/>
                <a:gd name="T6" fmla="*/ 603 w 603"/>
                <a:gd name="T7" fmla="*/ 18 h 450"/>
                <a:gd name="T8" fmla="*/ 585 w 603"/>
                <a:gd name="T9" fmla="*/ 36 h 450"/>
                <a:gd name="T10" fmla="*/ 18 w 603"/>
                <a:gd name="T11" fmla="*/ 36 h 450"/>
                <a:gd name="T12" fmla="*/ 0 w 603"/>
                <a:gd name="T13" fmla="*/ 18 h 450"/>
                <a:gd name="T14" fmla="*/ 306 w 603"/>
                <a:gd name="T15" fmla="*/ 450 h 450"/>
                <a:gd name="T16" fmla="*/ 184 w 603"/>
                <a:gd name="T17" fmla="*/ 400 h 450"/>
                <a:gd name="T18" fmla="*/ 134 w 603"/>
                <a:gd name="T19" fmla="*/ 279 h 450"/>
                <a:gd name="T20" fmla="*/ 184 w 603"/>
                <a:gd name="T21" fmla="*/ 158 h 450"/>
                <a:gd name="T22" fmla="*/ 306 w 603"/>
                <a:gd name="T23" fmla="*/ 107 h 450"/>
                <a:gd name="T24" fmla="*/ 324 w 603"/>
                <a:gd name="T25" fmla="*/ 125 h 450"/>
                <a:gd name="T26" fmla="*/ 306 w 603"/>
                <a:gd name="T27" fmla="*/ 143 h 450"/>
                <a:gd name="T28" fmla="*/ 170 w 603"/>
                <a:gd name="T29" fmla="*/ 279 h 450"/>
                <a:gd name="T30" fmla="*/ 306 w 603"/>
                <a:gd name="T31" fmla="*/ 414 h 450"/>
                <a:gd name="T32" fmla="*/ 441 w 603"/>
                <a:gd name="T33" fmla="*/ 279 h 450"/>
                <a:gd name="T34" fmla="*/ 459 w 603"/>
                <a:gd name="T35" fmla="*/ 261 h 450"/>
                <a:gd name="T36" fmla="*/ 477 w 603"/>
                <a:gd name="T37" fmla="*/ 279 h 450"/>
                <a:gd name="T38" fmla="*/ 427 w 603"/>
                <a:gd name="T39" fmla="*/ 400 h 450"/>
                <a:gd name="T40" fmla="*/ 306 w 603"/>
                <a:gd name="T41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03" h="450">
                  <a:moveTo>
                    <a:pt x="0" y="18"/>
                  </a:moveTo>
                  <a:cubicBezTo>
                    <a:pt x="0" y="8"/>
                    <a:pt x="8" y="0"/>
                    <a:pt x="18" y="0"/>
                  </a:cubicBezTo>
                  <a:cubicBezTo>
                    <a:pt x="585" y="0"/>
                    <a:pt x="585" y="0"/>
                    <a:pt x="585" y="0"/>
                  </a:cubicBezTo>
                  <a:cubicBezTo>
                    <a:pt x="595" y="0"/>
                    <a:pt x="603" y="8"/>
                    <a:pt x="603" y="18"/>
                  </a:cubicBezTo>
                  <a:cubicBezTo>
                    <a:pt x="603" y="28"/>
                    <a:pt x="595" y="36"/>
                    <a:pt x="585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8" y="36"/>
                    <a:pt x="0" y="28"/>
                    <a:pt x="0" y="18"/>
                  </a:cubicBezTo>
                  <a:close/>
                  <a:moveTo>
                    <a:pt x="306" y="450"/>
                  </a:moveTo>
                  <a:cubicBezTo>
                    <a:pt x="260" y="450"/>
                    <a:pt x="217" y="433"/>
                    <a:pt x="184" y="400"/>
                  </a:cubicBezTo>
                  <a:cubicBezTo>
                    <a:pt x="152" y="368"/>
                    <a:pt x="134" y="325"/>
                    <a:pt x="134" y="279"/>
                  </a:cubicBezTo>
                  <a:cubicBezTo>
                    <a:pt x="134" y="233"/>
                    <a:pt x="152" y="190"/>
                    <a:pt x="184" y="158"/>
                  </a:cubicBezTo>
                  <a:cubicBezTo>
                    <a:pt x="217" y="125"/>
                    <a:pt x="260" y="107"/>
                    <a:pt x="306" y="107"/>
                  </a:cubicBezTo>
                  <a:cubicBezTo>
                    <a:pt x="316" y="107"/>
                    <a:pt x="324" y="115"/>
                    <a:pt x="324" y="125"/>
                  </a:cubicBezTo>
                  <a:cubicBezTo>
                    <a:pt x="324" y="135"/>
                    <a:pt x="316" y="143"/>
                    <a:pt x="306" y="143"/>
                  </a:cubicBezTo>
                  <a:cubicBezTo>
                    <a:pt x="231" y="143"/>
                    <a:pt x="170" y="204"/>
                    <a:pt x="170" y="279"/>
                  </a:cubicBezTo>
                  <a:cubicBezTo>
                    <a:pt x="170" y="354"/>
                    <a:pt x="231" y="414"/>
                    <a:pt x="306" y="414"/>
                  </a:cubicBezTo>
                  <a:cubicBezTo>
                    <a:pt x="380" y="414"/>
                    <a:pt x="441" y="354"/>
                    <a:pt x="441" y="279"/>
                  </a:cubicBezTo>
                  <a:cubicBezTo>
                    <a:pt x="441" y="269"/>
                    <a:pt x="449" y="261"/>
                    <a:pt x="459" y="261"/>
                  </a:cubicBezTo>
                  <a:cubicBezTo>
                    <a:pt x="469" y="261"/>
                    <a:pt x="477" y="269"/>
                    <a:pt x="477" y="279"/>
                  </a:cubicBezTo>
                  <a:cubicBezTo>
                    <a:pt x="477" y="325"/>
                    <a:pt x="459" y="368"/>
                    <a:pt x="427" y="400"/>
                  </a:cubicBezTo>
                  <a:cubicBezTo>
                    <a:pt x="395" y="433"/>
                    <a:pt x="351" y="450"/>
                    <a:pt x="306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8" name="Freeform 63">
              <a:extLst>
                <a:ext uri="{FF2B5EF4-FFF2-40B4-BE49-F238E27FC236}">
                  <a16:creationId xmlns:a16="http://schemas.microsoft.com/office/drawing/2014/main" id="{6571DE4D-C05A-45D1-8431-0F042F30CA2C}"/>
                </a:ext>
              </a:extLst>
            </p:cNvPr>
            <p:cNvSpPr/>
            <p:nvPr/>
          </p:nvSpPr>
          <p:spPr bwMode="auto">
            <a:xfrm>
              <a:off x="1193" y="2088"/>
              <a:ext cx="53" cy="72"/>
            </a:xfrm>
            <a:custGeom>
              <a:avLst/>
              <a:gdLst>
                <a:gd name="T0" fmla="*/ 113 w 131"/>
                <a:gd name="T1" fmla="*/ 176 h 176"/>
                <a:gd name="T2" fmla="*/ 18 w 131"/>
                <a:gd name="T3" fmla="*/ 176 h 176"/>
                <a:gd name="T4" fmla="*/ 0 w 131"/>
                <a:gd name="T5" fmla="*/ 158 h 176"/>
                <a:gd name="T6" fmla="*/ 0 w 131"/>
                <a:gd name="T7" fmla="*/ 18 h 176"/>
                <a:gd name="T8" fmla="*/ 18 w 131"/>
                <a:gd name="T9" fmla="*/ 0 h 176"/>
                <a:gd name="T10" fmla="*/ 36 w 131"/>
                <a:gd name="T11" fmla="*/ 18 h 176"/>
                <a:gd name="T12" fmla="*/ 36 w 131"/>
                <a:gd name="T13" fmla="*/ 140 h 176"/>
                <a:gd name="T14" fmla="*/ 113 w 131"/>
                <a:gd name="T15" fmla="*/ 140 h 176"/>
                <a:gd name="T16" fmla="*/ 131 w 131"/>
                <a:gd name="T17" fmla="*/ 158 h 176"/>
                <a:gd name="T18" fmla="*/ 113 w 131"/>
                <a:gd name="T1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1" h="176">
                  <a:moveTo>
                    <a:pt x="113" y="176"/>
                  </a:moveTo>
                  <a:cubicBezTo>
                    <a:pt x="18" y="176"/>
                    <a:pt x="18" y="176"/>
                    <a:pt x="18" y="176"/>
                  </a:cubicBezTo>
                  <a:cubicBezTo>
                    <a:pt x="8" y="176"/>
                    <a:pt x="0" y="168"/>
                    <a:pt x="0" y="15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23" y="140"/>
                    <a:pt x="131" y="148"/>
                    <a:pt x="131" y="158"/>
                  </a:cubicBezTo>
                  <a:cubicBezTo>
                    <a:pt x="131" y="168"/>
                    <a:pt x="123" y="176"/>
                    <a:pt x="113" y="1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</p:grpSp>
      <p:grpSp>
        <p:nvGrpSpPr>
          <p:cNvPr id="19" name="Group 66">
            <a:extLst>
              <a:ext uri="{FF2B5EF4-FFF2-40B4-BE49-F238E27FC236}">
                <a16:creationId xmlns:a16="http://schemas.microsoft.com/office/drawing/2014/main" id="{8DB7D7DD-8C2E-4A99-91AF-824436473C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18151" y="4542797"/>
            <a:ext cx="256116" cy="277284"/>
            <a:chOff x="2111" y="2322"/>
            <a:chExt cx="121" cy="131"/>
          </a:xfrm>
          <a:solidFill>
            <a:schemeClr val="bg1"/>
          </a:solidFill>
        </p:grpSpPr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B81DA5CE-3648-48AA-BC46-E7EEFE7F991E}"/>
                </a:ext>
              </a:extLst>
            </p:cNvPr>
            <p:cNvSpPr/>
            <p:nvPr/>
          </p:nvSpPr>
          <p:spPr bwMode="auto">
            <a:xfrm>
              <a:off x="2159" y="2350"/>
              <a:ext cx="40" cy="37"/>
            </a:xfrm>
            <a:custGeom>
              <a:avLst/>
              <a:gdLst>
                <a:gd name="T0" fmla="*/ 89 w 213"/>
                <a:gd name="T1" fmla="*/ 19 h 198"/>
                <a:gd name="T2" fmla="*/ 196 w 213"/>
                <a:gd name="T3" fmla="*/ 143 h 198"/>
                <a:gd name="T4" fmla="*/ 208 w 213"/>
                <a:gd name="T5" fmla="*/ 189 h 198"/>
                <a:gd name="T6" fmla="*/ 206 w 213"/>
                <a:gd name="T7" fmla="*/ 191 h 198"/>
                <a:gd name="T8" fmla="*/ 158 w 213"/>
                <a:gd name="T9" fmla="*/ 186 h 198"/>
                <a:gd name="T10" fmla="*/ 22 w 213"/>
                <a:gd name="T11" fmla="*/ 92 h 198"/>
                <a:gd name="T12" fmla="*/ 13 w 213"/>
                <a:gd name="T13" fmla="*/ 44 h 198"/>
                <a:gd name="T14" fmla="*/ 40 w 213"/>
                <a:gd name="T15" fmla="*/ 15 h 198"/>
                <a:gd name="T16" fmla="*/ 89 w 213"/>
                <a:gd name="T17" fmla="*/ 1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3" h="198">
                  <a:moveTo>
                    <a:pt x="89" y="19"/>
                  </a:moveTo>
                  <a:cubicBezTo>
                    <a:pt x="196" y="143"/>
                    <a:pt x="196" y="143"/>
                    <a:pt x="196" y="143"/>
                  </a:cubicBezTo>
                  <a:cubicBezTo>
                    <a:pt x="210" y="160"/>
                    <a:pt x="213" y="183"/>
                    <a:pt x="208" y="189"/>
                  </a:cubicBezTo>
                  <a:cubicBezTo>
                    <a:pt x="206" y="191"/>
                    <a:pt x="206" y="191"/>
                    <a:pt x="206" y="191"/>
                  </a:cubicBezTo>
                  <a:cubicBezTo>
                    <a:pt x="200" y="197"/>
                    <a:pt x="176" y="198"/>
                    <a:pt x="158" y="186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4" y="80"/>
                    <a:pt x="0" y="58"/>
                    <a:pt x="13" y="44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53" y="0"/>
                    <a:pt x="74" y="2"/>
                    <a:pt x="89" y="1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70B9B73D-CC92-47F4-B10B-7BEF81CCB6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9" y="2322"/>
              <a:ext cx="71" cy="90"/>
            </a:xfrm>
            <a:custGeom>
              <a:avLst/>
              <a:gdLst>
                <a:gd name="T0" fmla="*/ 142 w 381"/>
                <a:gd name="T1" fmla="*/ 449 h 481"/>
                <a:gd name="T2" fmla="*/ 348 w 381"/>
                <a:gd name="T3" fmla="*/ 236 h 481"/>
                <a:gd name="T4" fmla="*/ 374 w 381"/>
                <a:gd name="T5" fmla="*/ 235 h 481"/>
                <a:gd name="T6" fmla="*/ 374 w 381"/>
                <a:gd name="T7" fmla="*/ 260 h 481"/>
                <a:gd name="T8" fmla="*/ 168 w 381"/>
                <a:gd name="T9" fmla="*/ 474 h 481"/>
                <a:gd name="T10" fmla="*/ 142 w 381"/>
                <a:gd name="T11" fmla="*/ 474 h 481"/>
                <a:gd name="T12" fmla="*/ 142 w 381"/>
                <a:gd name="T13" fmla="*/ 449 h 481"/>
                <a:gd name="T14" fmla="*/ 122 w 381"/>
                <a:gd name="T15" fmla="*/ 245 h 481"/>
                <a:gd name="T16" fmla="*/ 0 w 381"/>
                <a:gd name="T17" fmla="*/ 123 h 481"/>
                <a:gd name="T18" fmla="*/ 20 w 381"/>
                <a:gd name="T19" fmla="*/ 56 h 481"/>
                <a:gd name="T20" fmla="*/ 45 w 381"/>
                <a:gd name="T21" fmla="*/ 51 h 481"/>
                <a:gd name="T22" fmla="*/ 50 w 381"/>
                <a:gd name="T23" fmla="*/ 76 h 481"/>
                <a:gd name="T24" fmla="*/ 36 w 381"/>
                <a:gd name="T25" fmla="*/ 123 h 481"/>
                <a:gd name="T26" fmla="*/ 122 w 381"/>
                <a:gd name="T27" fmla="*/ 209 h 481"/>
                <a:gd name="T28" fmla="*/ 209 w 381"/>
                <a:gd name="T29" fmla="*/ 123 h 481"/>
                <a:gd name="T30" fmla="*/ 133 w 381"/>
                <a:gd name="T31" fmla="*/ 37 h 481"/>
                <a:gd name="T32" fmla="*/ 117 w 381"/>
                <a:gd name="T33" fmla="*/ 17 h 481"/>
                <a:gd name="T34" fmla="*/ 137 w 381"/>
                <a:gd name="T35" fmla="*/ 2 h 481"/>
                <a:gd name="T36" fmla="*/ 245 w 381"/>
                <a:gd name="T37" fmla="*/ 123 h 481"/>
                <a:gd name="T38" fmla="*/ 122 w 381"/>
                <a:gd name="T39" fmla="*/ 245 h 481"/>
                <a:gd name="T40" fmla="*/ 67 w 381"/>
                <a:gd name="T41" fmla="*/ 52 h 481"/>
                <a:gd name="T42" fmla="*/ 52 w 381"/>
                <a:gd name="T43" fmla="*/ 44 h 481"/>
                <a:gd name="T44" fmla="*/ 58 w 381"/>
                <a:gd name="T45" fmla="*/ 19 h 481"/>
                <a:gd name="T46" fmla="*/ 81 w 381"/>
                <a:gd name="T47" fmla="*/ 8 h 481"/>
                <a:gd name="T48" fmla="*/ 104 w 381"/>
                <a:gd name="T49" fmla="*/ 19 h 481"/>
                <a:gd name="T50" fmla="*/ 93 w 381"/>
                <a:gd name="T51" fmla="*/ 42 h 481"/>
                <a:gd name="T52" fmla="*/ 77 w 381"/>
                <a:gd name="T53" fmla="*/ 50 h 481"/>
                <a:gd name="T54" fmla="*/ 67 w 381"/>
                <a:gd name="T55" fmla="*/ 52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81" h="481">
                  <a:moveTo>
                    <a:pt x="142" y="449"/>
                  </a:moveTo>
                  <a:cubicBezTo>
                    <a:pt x="348" y="236"/>
                    <a:pt x="348" y="236"/>
                    <a:pt x="348" y="236"/>
                  </a:cubicBezTo>
                  <a:cubicBezTo>
                    <a:pt x="355" y="228"/>
                    <a:pt x="366" y="228"/>
                    <a:pt x="374" y="235"/>
                  </a:cubicBezTo>
                  <a:cubicBezTo>
                    <a:pt x="381" y="242"/>
                    <a:pt x="381" y="253"/>
                    <a:pt x="374" y="260"/>
                  </a:cubicBezTo>
                  <a:cubicBezTo>
                    <a:pt x="168" y="474"/>
                    <a:pt x="168" y="474"/>
                    <a:pt x="168" y="474"/>
                  </a:cubicBezTo>
                  <a:cubicBezTo>
                    <a:pt x="161" y="481"/>
                    <a:pt x="150" y="481"/>
                    <a:pt x="142" y="474"/>
                  </a:cubicBezTo>
                  <a:cubicBezTo>
                    <a:pt x="135" y="467"/>
                    <a:pt x="135" y="456"/>
                    <a:pt x="142" y="449"/>
                  </a:cubicBezTo>
                  <a:close/>
                  <a:moveTo>
                    <a:pt x="122" y="245"/>
                  </a:moveTo>
                  <a:cubicBezTo>
                    <a:pt x="55" y="245"/>
                    <a:pt x="0" y="190"/>
                    <a:pt x="0" y="123"/>
                  </a:cubicBezTo>
                  <a:cubicBezTo>
                    <a:pt x="0" y="99"/>
                    <a:pt x="7" y="76"/>
                    <a:pt x="20" y="56"/>
                  </a:cubicBezTo>
                  <a:cubicBezTo>
                    <a:pt x="26" y="48"/>
                    <a:pt x="37" y="45"/>
                    <a:pt x="45" y="51"/>
                  </a:cubicBezTo>
                  <a:cubicBezTo>
                    <a:pt x="53" y="56"/>
                    <a:pt x="56" y="67"/>
                    <a:pt x="50" y="76"/>
                  </a:cubicBezTo>
                  <a:cubicBezTo>
                    <a:pt x="41" y="90"/>
                    <a:pt x="36" y="106"/>
                    <a:pt x="36" y="123"/>
                  </a:cubicBezTo>
                  <a:cubicBezTo>
                    <a:pt x="36" y="171"/>
                    <a:pt x="75" y="209"/>
                    <a:pt x="122" y="209"/>
                  </a:cubicBezTo>
                  <a:cubicBezTo>
                    <a:pt x="170" y="209"/>
                    <a:pt x="209" y="171"/>
                    <a:pt x="209" y="123"/>
                  </a:cubicBezTo>
                  <a:cubicBezTo>
                    <a:pt x="209" y="79"/>
                    <a:pt x="176" y="42"/>
                    <a:pt x="133" y="37"/>
                  </a:cubicBezTo>
                  <a:cubicBezTo>
                    <a:pt x="123" y="36"/>
                    <a:pt x="116" y="27"/>
                    <a:pt x="117" y="17"/>
                  </a:cubicBezTo>
                  <a:cubicBezTo>
                    <a:pt x="118" y="7"/>
                    <a:pt x="127" y="0"/>
                    <a:pt x="137" y="2"/>
                  </a:cubicBezTo>
                  <a:cubicBezTo>
                    <a:pt x="198" y="9"/>
                    <a:pt x="245" y="61"/>
                    <a:pt x="245" y="123"/>
                  </a:cubicBezTo>
                  <a:cubicBezTo>
                    <a:pt x="245" y="190"/>
                    <a:pt x="190" y="245"/>
                    <a:pt x="122" y="245"/>
                  </a:cubicBezTo>
                  <a:close/>
                  <a:moveTo>
                    <a:pt x="67" y="52"/>
                  </a:moveTo>
                  <a:cubicBezTo>
                    <a:pt x="61" y="52"/>
                    <a:pt x="55" y="50"/>
                    <a:pt x="52" y="44"/>
                  </a:cubicBezTo>
                  <a:cubicBezTo>
                    <a:pt x="47" y="36"/>
                    <a:pt x="49" y="25"/>
                    <a:pt x="58" y="19"/>
                  </a:cubicBezTo>
                  <a:cubicBezTo>
                    <a:pt x="65" y="15"/>
                    <a:pt x="73" y="11"/>
                    <a:pt x="81" y="8"/>
                  </a:cubicBezTo>
                  <a:cubicBezTo>
                    <a:pt x="91" y="5"/>
                    <a:pt x="101" y="9"/>
                    <a:pt x="104" y="19"/>
                  </a:cubicBezTo>
                  <a:cubicBezTo>
                    <a:pt x="107" y="28"/>
                    <a:pt x="103" y="38"/>
                    <a:pt x="93" y="42"/>
                  </a:cubicBezTo>
                  <a:cubicBezTo>
                    <a:pt x="87" y="44"/>
                    <a:pt x="82" y="47"/>
                    <a:pt x="77" y="50"/>
                  </a:cubicBezTo>
                  <a:cubicBezTo>
                    <a:pt x="74" y="52"/>
                    <a:pt x="71" y="52"/>
                    <a:pt x="67" y="5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BB95EC14-8991-42D2-BEE7-A1D609F92B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1" y="2406"/>
              <a:ext cx="121" cy="47"/>
            </a:xfrm>
            <a:custGeom>
              <a:avLst/>
              <a:gdLst>
                <a:gd name="T0" fmla="*/ 597 w 648"/>
                <a:gd name="T1" fmla="*/ 249 h 249"/>
                <a:gd name="T2" fmla="*/ 50 w 648"/>
                <a:gd name="T3" fmla="*/ 249 h 249"/>
                <a:gd name="T4" fmla="*/ 0 w 648"/>
                <a:gd name="T5" fmla="*/ 198 h 249"/>
                <a:gd name="T6" fmla="*/ 0 w 648"/>
                <a:gd name="T7" fmla="*/ 50 h 249"/>
                <a:gd name="T8" fmla="*/ 50 w 648"/>
                <a:gd name="T9" fmla="*/ 0 h 249"/>
                <a:gd name="T10" fmla="*/ 597 w 648"/>
                <a:gd name="T11" fmla="*/ 0 h 249"/>
                <a:gd name="T12" fmla="*/ 648 w 648"/>
                <a:gd name="T13" fmla="*/ 50 h 249"/>
                <a:gd name="T14" fmla="*/ 648 w 648"/>
                <a:gd name="T15" fmla="*/ 198 h 249"/>
                <a:gd name="T16" fmla="*/ 597 w 648"/>
                <a:gd name="T17" fmla="*/ 249 h 249"/>
                <a:gd name="T18" fmla="*/ 50 w 648"/>
                <a:gd name="T19" fmla="*/ 35 h 249"/>
                <a:gd name="T20" fmla="*/ 36 w 648"/>
                <a:gd name="T21" fmla="*/ 50 h 249"/>
                <a:gd name="T22" fmla="*/ 36 w 648"/>
                <a:gd name="T23" fmla="*/ 198 h 249"/>
                <a:gd name="T24" fmla="*/ 50 w 648"/>
                <a:gd name="T25" fmla="*/ 213 h 249"/>
                <a:gd name="T26" fmla="*/ 597 w 648"/>
                <a:gd name="T27" fmla="*/ 213 h 249"/>
                <a:gd name="T28" fmla="*/ 612 w 648"/>
                <a:gd name="T29" fmla="*/ 198 h 249"/>
                <a:gd name="T30" fmla="*/ 612 w 648"/>
                <a:gd name="T31" fmla="*/ 50 h 249"/>
                <a:gd name="T32" fmla="*/ 597 w 648"/>
                <a:gd name="T33" fmla="*/ 35 h 249"/>
                <a:gd name="T34" fmla="*/ 50 w 648"/>
                <a:gd name="T35" fmla="*/ 3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48" h="249">
                  <a:moveTo>
                    <a:pt x="597" y="249"/>
                  </a:moveTo>
                  <a:cubicBezTo>
                    <a:pt x="50" y="249"/>
                    <a:pt x="50" y="249"/>
                    <a:pt x="50" y="249"/>
                  </a:cubicBezTo>
                  <a:cubicBezTo>
                    <a:pt x="22" y="249"/>
                    <a:pt x="0" y="226"/>
                    <a:pt x="0" y="198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22"/>
                    <a:pt x="22" y="0"/>
                    <a:pt x="5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625" y="0"/>
                    <a:pt x="648" y="22"/>
                    <a:pt x="648" y="50"/>
                  </a:cubicBezTo>
                  <a:cubicBezTo>
                    <a:pt x="648" y="198"/>
                    <a:pt x="648" y="198"/>
                    <a:pt x="648" y="198"/>
                  </a:cubicBezTo>
                  <a:cubicBezTo>
                    <a:pt x="648" y="226"/>
                    <a:pt x="625" y="249"/>
                    <a:pt x="597" y="249"/>
                  </a:cubicBezTo>
                  <a:close/>
                  <a:moveTo>
                    <a:pt x="50" y="35"/>
                  </a:moveTo>
                  <a:cubicBezTo>
                    <a:pt x="42" y="35"/>
                    <a:pt x="36" y="42"/>
                    <a:pt x="36" y="50"/>
                  </a:cubicBezTo>
                  <a:cubicBezTo>
                    <a:pt x="36" y="198"/>
                    <a:pt x="36" y="198"/>
                    <a:pt x="36" y="198"/>
                  </a:cubicBezTo>
                  <a:cubicBezTo>
                    <a:pt x="36" y="206"/>
                    <a:pt x="42" y="213"/>
                    <a:pt x="50" y="213"/>
                  </a:cubicBezTo>
                  <a:cubicBezTo>
                    <a:pt x="597" y="213"/>
                    <a:pt x="597" y="213"/>
                    <a:pt x="597" y="213"/>
                  </a:cubicBezTo>
                  <a:cubicBezTo>
                    <a:pt x="605" y="213"/>
                    <a:pt x="612" y="206"/>
                    <a:pt x="612" y="198"/>
                  </a:cubicBezTo>
                  <a:cubicBezTo>
                    <a:pt x="612" y="50"/>
                    <a:pt x="612" y="50"/>
                    <a:pt x="612" y="50"/>
                  </a:cubicBezTo>
                  <a:cubicBezTo>
                    <a:pt x="612" y="42"/>
                    <a:pt x="605" y="35"/>
                    <a:pt x="597" y="35"/>
                  </a:cubicBezTo>
                  <a:lnTo>
                    <a:pt x="50" y="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F3F82DFB-DABC-4C09-A048-B2D7309D498E}"/>
              </a:ext>
            </a:extLst>
          </p:cNvPr>
          <p:cNvSpPr/>
          <p:nvPr/>
        </p:nvSpPr>
        <p:spPr>
          <a:xfrm>
            <a:off x="3469024" y="3707404"/>
            <a:ext cx="5831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华中科技大学 </a:t>
            </a:r>
            <a:r>
              <a:rPr lang="en-US" altLang="zh-CN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2021 ROS</a:t>
            </a:r>
            <a:r>
              <a:rPr lang="zh-CN" altLang="en-US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创新实践教学 </a:t>
            </a:r>
          </a:p>
        </p:txBody>
      </p:sp>
      <p:pic>
        <p:nvPicPr>
          <p:cNvPr id="25" name="图片 3">
            <a:extLst>
              <a:ext uri="{FF2B5EF4-FFF2-40B4-BE49-F238E27FC236}">
                <a16:creationId xmlns:a16="http://schemas.microsoft.com/office/drawing/2014/main" id="{864B3236-A7C8-4731-8FF4-FAE6E8BEB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733" y="1440992"/>
            <a:ext cx="3685433" cy="1036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374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箭头: 五边形 18">
            <a:extLst>
              <a:ext uri="{FF2B5EF4-FFF2-40B4-BE49-F238E27FC236}">
                <a16:creationId xmlns:a16="http://schemas.microsoft.com/office/drawing/2014/main" id="{A972E024-6202-4FB3-B06C-155CE4F7AE80}"/>
              </a:ext>
            </a:extLst>
          </p:cNvPr>
          <p:cNvSpPr/>
          <p:nvPr/>
        </p:nvSpPr>
        <p:spPr>
          <a:xfrm flipH="1">
            <a:off x="1677296" y="3499802"/>
            <a:ext cx="2413581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arpspoof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E5951F0E-974D-4BA3-877D-F120227A06AC}"/>
              </a:ext>
            </a:extLst>
          </p:cNvPr>
          <p:cNvSpPr/>
          <p:nvPr/>
        </p:nvSpPr>
        <p:spPr>
          <a:xfrm flipH="1">
            <a:off x="1325925" y="1675308"/>
            <a:ext cx="2203088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攻击</a:t>
            </a:r>
          </a:p>
        </p:txBody>
      </p:sp>
      <p:sp>
        <p:nvSpPr>
          <p:cNvPr id="5" name=" 160">
            <a:extLst>
              <a:ext uri="{FF2B5EF4-FFF2-40B4-BE49-F238E27FC236}">
                <a16:creationId xmlns:a16="http://schemas.microsoft.com/office/drawing/2014/main" id="{548E59DA-08E8-4157-B990-989FC360A838}"/>
              </a:ext>
            </a:extLst>
          </p:cNvPr>
          <p:cNvSpPr/>
          <p:nvPr/>
        </p:nvSpPr>
        <p:spPr>
          <a:xfrm rot="10800000" flipH="1">
            <a:off x="2299552" y="2657362"/>
            <a:ext cx="722630" cy="65405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solidFill>
            <a:srgbClr val="D4F1F9">
              <a:alpha val="41000"/>
            </a:srgbClr>
          </a:solidFill>
          <a:ln>
            <a:solidFill>
              <a:srgbClr val="58B6E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3" name="箭头: 五边形 12">
            <a:extLst>
              <a:ext uri="{FF2B5EF4-FFF2-40B4-BE49-F238E27FC236}">
                <a16:creationId xmlns:a16="http://schemas.microsoft.com/office/drawing/2014/main" id="{56F161E6-65DE-4F69-9A0B-17B7B1168F8F}"/>
              </a:ext>
            </a:extLst>
          </p:cNvPr>
          <p:cNvSpPr/>
          <p:nvPr/>
        </p:nvSpPr>
        <p:spPr>
          <a:xfrm>
            <a:off x="1121742" y="1675308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99DC91C8-FC34-48C3-8F2F-326DF1FCE2F9}"/>
              </a:ext>
            </a:extLst>
          </p:cNvPr>
          <p:cNvSpPr/>
          <p:nvPr/>
        </p:nvSpPr>
        <p:spPr>
          <a:xfrm>
            <a:off x="1499746" y="3499802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</a:p>
        </p:txBody>
      </p:sp>
      <p:sp>
        <p:nvSpPr>
          <p:cNvPr id="24" name="箭头: 五边形 23">
            <a:extLst>
              <a:ext uri="{FF2B5EF4-FFF2-40B4-BE49-F238E27FC236}">
                <a16:creationId xmlns:a16="http://schemas.microsoft.com/office/drawing/2014/main" id="{6E63A3A9-EC19-4021-82BB-B3CA9981BF0E}"/>
              </a:ext>
            </a:extLst>
          </p:cNvPr>
          <p:cNvSpPr/>
          <p:nvPr/>
        </p:nvSpPr>
        <p:spPr>
          <a:xfrm flipH="1">
            <a:off x="5126349" y="3497279"/>
            <a:ext cx="1939304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scapy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319F14D5-D909-4117-8E8F-88C063371240}"/>
              </a:ext>
            </a:extLst>
          </p:cNvPr>
          <p:cNvSpPr/>
          <p:nvPr/>
        </p:nvSpPr>
        <p:spPr>
          <a:xfrm>
            <a:off x="4948800" y="3497279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</a:p>
        </p:txBody>
      </p:sp>
      <p:sp>
        <p:nvSpPr>
          <p:cNvPr id="28" name=" 160">
            <a:extLst>
              <a:ext uri="{FF2B5EF4-FFF2-40B4-BE49-F238E27FC236}">
                <a16:creationId xmlns:a16="http://schemas.microsoft.com/office/drawing/2014/main" id="{F85EBE64-3361-4FB0-907A-C172A01672AE}"/>
              </a:ext>
            </a:extLst>
          </p:cNvPr>
          <p:cNvSpPr/>
          <p:nvPr/>
        </p:nvSpPr>
        <p:spPr>
          <a:xfrm rot="10800000" flipH="1">
            <a:off x="9396292" y="4537255"/>
            <a:ext cx="722630" cy="65405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solidFill>
            <a:srgbClr val="D4F1F9">
              <a:alpha val="41000"/>
            </a:srgbClr>
          </a:solidFill>
          <a:ln>
            <a:solidFill>
              <a:srgbClr val="58B6E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" name="箭头: 五边形 29">
            <a:extLst>
              <a:ext uri="{FF2B5EF4-FFF2-40B4-BE49-F238E27FC236}">
                <a16:creationId xmlns:a16="http://schemas.microsoft.com/office/drawing/2014/main" id="{192A7DFA-75C9-4D95-92AC-B02AB902629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箭头: 五边形 30">
            <a:extLst>
              <a:ext uri="{FF2B5EF4-FFF2-40B4-BE49-F238E27FC236}">
                <a16:creationId xmlns:a16="http://schemas.microsoft.com/office/drawing/2014/main" id="{25A45A79-F2E6-428E-8FFA-1F5F36C3FAE3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12" name="箭头: 五边形 11">
            <a:extLst>
              <a:ext uri="{FF2B5EF4-FFF2-40B4-BE49-F238E27FC236}">
                <a16:creationId xmlns:a16="http://schemas.microsoft.com/office/drawing/2014/main" id="{8DD5AE71-E97D-402C-99CD-1A4D7584839D}"/>
              </a:ext>
            </a:extLst>
          </p:cNvPr>
          <p:cNvSpPr/>
          <p:nvPr/>
        </p:nvSpPr>
        <p:spPr>
          <a:xfrm flipH="1">
            <a:off x="9283362" y="5332031"/>
            <a:ext cx="2086253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libcap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箭头: 五边形 14">
            <a:extLst>
              <a:ext uri="{FF2B5EF4-FFF2-40B4-BE49-F238E27FC236}">
                <a16:creationId xmlns:a16="http://schemas.microsoft.com/office/drawing/2014/main" id="{927DE2B0-D30E-4E86-B291-EF371FB7C43E}"/>
              </a:ext>
            </a:extLst>
          </p:cNvPr>
          <p:cNvSpPr/>
          <p:nvPr/>
        </p:nvSpPr>
        <p:spPr>
          <a:xfrm>
            <a:off x="9105812" y="5332031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</a:p>
        </p:txBody>
      </p:sp>
      <p:sp>
        <p:nvSpPr>
          <p:cNvPr id="16" name="箭头: 五边形 15">
            <a:extLst>
              <a:ext uri="{FF2B5EF4-FFF2-40B4-BE49-F238E27FC236}">
                <a16:creationId xmlns:a16="http://schemas.microsoft.com/office/drawing/2014/main" id="{F25534E8-5990-47F3-B8E3-DA19C28F2BEB}"/>
              </a:ext>
            </a:extLst>
          </p:cNvPr>
          <p:cNvSpPr/>
          <p:nvPr/>
        </p:nvSpPr>
        <p:spPr>
          <a:xfrm flipH="1">
            <a:off x="8101123" y="3499802"/>
            <a:ext cx="2797228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dpkt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pcap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箭头: 五边形 16">
            <a:extLst>
              <a:ext uri="{FF2B5EF4-FFF2-40B4-BE49-F238E27FC236}">
                <a16:creationId xmlns:a16="http://schemas.microsoft.com/office/drawing/2014/main" id="{2D7E7F0E-F399-4ECA-A338-80F7D51C75F9}"/>
              </a:ext>
            </a:extLst>
          </p:cNvPr>
          <p:cNvSpPr/>
          <p:nvPr/>
        </p:nvSpPr>
        <p:spPr>
          <a:xfrm>
            <a:off x="7923576" y="3499802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</a:p>
        </p:txBody>
      </p:sp>
    </p:spTree>
    <p:extLst>
      <p:ext uri="{BB962C8B-B14F-4D97-AF65-F5344CB8AC3E}">
        <p14:creationId xmlns:p14="http://schemas.microsoft.com/office/powerpoint/2010/main" val="338882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3" grpId="0" animBg="1"/>
      <p:bldP spid="14" grpId="0" animBg="1"/>
      <p:bldP spid="24" grpId="0" animBg="1"/>
      <p:bldP spid="25" grpId="0" animBg="1"/>
      <p:bldP spid="28" grpId="0" animBg="1"/>
      <p:bldP spid="12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流程图: 多文档 36">
            <a:extLst>
              <a:ext uri="{FF2B5EF4-FFF2-40B4-BE49-F238E27FC236}">
                <a16:creationId xmlns:a16="http://schemas.microsoft.com/office/drawing/2014/main" id="{01F0BF55-B48C-4DF2-B233-F005D6BA65EB}"/>
              </a:ext>
            </a:extLst>
          </p:cNvPr>
          <p:cNvSpPr/>
          <p:nvPr/>
        </p:nvSpPr>
        <p:spPr>
          <a:xfrm>
            <a:off x="37713" y="3602669"/>
            <a:ext cx="2890911" cy="2068497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/>
              <a:t>ARP</a:t>
            </a:r>
            <a:r>
              <a:rPr lang="zh-CN" altLang="en-US" b="1"/>
              <a:t>列表（存储</a:t>
            </a:r>
            <a:r>
              <a:rPr lang="en-US" altLang="zh-CN" b="1"/>
              <a:t>IP</a:t>
            </a:r>
            <a:r>
              <a:rPr lang="zh-CN" altLang="en-US" b="1"/>
              <a:t>和</a:t>
            </a:r>
            <a:r>
              <a:rPr lang="en-US" altLang="zh-CN" b="1"/>
              <a:t>MAC</a:t>
            </a:r>
            <a:r>
              <a:rPr lang="zh-CN" altLang="en-US" b="1"/>
              <a:t>地址的关系）</a:t>
            </a:r>
          </a:p>
        </p:txBody>
      </p:sp>
      <p:sp>
        <p:nvSpPr>
          <p:cNvPr id="36" name="卷形: 水平 35">
            <a:extLst>
              <a:ext uri="{FF2B5EF4-FFF2-40B4-BE49-F238E27FC236}">
                <a16:creationId xmlns:a16="http://schemas.microsoft.com/office/drawing/2014/main" id="{A0F68385-1888-48A6-A346-6E4E7F9ABBF0}"/>
              </a:ext>
            </a:extLst>
          </p:cNvPr>
          <p:cNvSpPr/>
          <p:nvPr/>
        </p:nvSpPr>
        <p:spPr>
          <a:xfrm>
            <a:off x="841537" y="3949535"/>
            <a:ext cx="1956121" cy="1045428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DNS</a:t>
            </a:r>
            <a:r>
              <a:rPr lang="zh-CN" altLang="en-US"/>
              <a:t>服务器提醒您，</a:t>
            </a:r>
            <a:r>
              <a:rPr lang="en-US" altLang="zh-CN"/>
              <a:t>W</a:t>
            </a:r>
            <a:r>
              <a:rPr lang="zh-CN" altLang="en-US"/>
              <a:t>对应的</a:t>
            </a:r>
            <a:r>
              <a:rPr lang="en-US" altLang="zh-CN" b="1"/>
              <a:t>IP</a:t>
            </a:r>
            <a:r>
              <a:rPr lang="zh-CN" altLang="en-US" b="1"/>
              <a:t>地址是</a:t>
            </a:r>
            <a:r>
              <a:rPr lang="en-US" altLang="zh-CN" b="1"/>
              <a:t>WIP</a:t>
            </a:r>
            <a:endParaRPr lang="zh-CN" altLang="en-US" b="1"/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攻击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互联网中通讯流程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E0E8BBE-9312-478A-BE03-8AB96F198523}"/>
              </a:ext>
            </a:extLst>
          </p:cNvPr>
          <p:cNvSpPr txBox="1"/>
          <p:nvPr/>
        </p:nvSpPr>
        <p:spPr>
          <a:xfrm>
            <a:off x="3621604" y="3138471"/>
            <a:ext cx="4948791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在古老的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年的互联网中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3E8CD9-C469-4087-9EFC-1B168A236E77}"/>
              </a:ext>
            </a:extLst>
          </p:cNvPr>
          <p:cNvSpPr txBox="1"/>
          <p:nvPr/>
        </p:nvSpPr>
        <p:spPr>
          <a:xfrm>
            <a:off x="3214441" y="3138471"/>
            <a:ext cx="5763116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网络中的数据是以如下流程传输的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C51524-F978-42F5-9CAC-59C85AC4CAB7}"/>
              </a:ext>
            </a:extLst>
          </p:cNvPr>
          <p:cNvSpPr/>
          <p:nvPr/>
        </p:nvSpPr>
        <p:spPr>
          <a:xfrm>
            <a:off x="9502814" y="3719528"/>
            <a:ext cx="1363273" cy="99170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网站</a:t>
            </a:r>
            <a:r>
              <a:rPr lang="en-US" altLang="zh-CN"/>
              <a:t>W</a:t>
            </a:r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756B623-0DE5-4942-9B73-6296528D3EA4}"/>
              </a:ext>
            </a:extLst>
          </p:cNvPr>
          <p:cNvSpPr/>
          <p:nvPr/>
        </p:nvSpPr>
        <p:spPr>
          <a:xfrm>
            <a:off x="1313895" y="4983098"/>
            <a:ext cx="1111170" cy="111117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816A30A-3045-4319-8AB1-87219BD9D22A}"/>
              </a:ext>
            </a:extLst>
          </p:cNvPr>
          <p:cNvSpPr/>
          <p:nvPr/>
        </p:nvSpPr>
        <p:spPr>
          <a:xfrm>
            <a:off x="1488639" y="2424895"/>
            <a:ext cx="1111170" cy="111117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96F5C7E-9B38-4661-AA3C-66D63C0DD998}"/>
              </a:ext>
            </a:extLst>
          </p:cNvPr>
          <p:cNvSpPr/>
          <p:nvPr/>
        </p:nvSpPr>
        <p:spPr>
          <a:xfrm>
            <a:off x="5211500" y="4548507"/>
            <a:ext cx="1768998" cy="111117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中枢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D52831D-00CA-4EB9-8EB1-8C795A31531C}"/>
              </a:ext>
            </a:extLst>
          </p:cNvPr>
          <p:cNvSpPr/>
          <p:nvPr/>
        </p:nvSpPr>
        <p:spPr>
          <a:xfrm>
            <a:off x="7320021" y="2145640"/>
            <a:ext cx="1768998" cy="111117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中枢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A29B863-33F5-4185-9A26-62518A46A806}"/>
              </a:ext>
            </a:extLst>
          </p:cNvPr>
          <p:cNvSpPr/>
          <p:nvPr/>
        </p:nvSpPr>
        <p:spPr>
          <a:xfrm>
            <a:off x="10703361" y="2145640"/>
            <a:ext cx="1111170" cy="111117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A2E4B1C-DCC5-4FB1-9F5F-D9722FFA6170}"/>
              </a:ext>
            </a:extLst>
          </p:cNvPr>
          <p:cNvSpPr/>
          <p:nvPr/>
        </p:nvSpPr>
        <p:spPr>
          <a:xfrm>
            <a:off x="9340605" y="1590055"/>
            <a:ext cx="1111170" cy="111117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DAC1639-5786-4B50-B1FF-10BEFA9D3B20}"/>
              </a:ext>
            </a:extLst>
          </p:cNvPr>
          <p:cNvCxnSpPr>
            <a:stCxn id="16" idx="2"/>
            <a:endCxn id="14" idx="7"/>
          </p:cNvCxnSpPr>
          <p:nvPr/>
        </p:nvCxnSpPr>
        <p:spPr>
          <a:xfrm flipH="1">
            <a:off x="8829955" y="2145640"/>
            <a:ext cx="510650" cy="162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DCE001E-7827-4CE7-B466-FC75A6E65647}"/>
              </a:ext>
            </a:extLst>
          </p:cNvPr>
          <p:cNvCxnSpPr>
            <a:stCxn id="15" idx="3"/>
            <a:endCxn id="14" idx="6"/>
          </p:cNvCxnSpPr>
          <p:nvPr/>
        </p:nvCxnSpPr>
        <p:spPr>
          <a:xfrm flipH="1" flipV="1">
            <a:off x="9089019" y="2701225"/>
            <a:ext cx="1777069" cy="392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EC6E70C-557A-4030-9238-3962F6082A56}"/>
              </a:ext>
            </a:extLst>
          </p:cNvPr>
          <p:cNvCxnSpPr>
            <a:cxnSpLocks/>
            <a:stCxn id="3" idx="1"/>
            <a:endCxn id="14" idx="5"/>
          </p:cNvCxnSpPr>
          <p:nvPr/>
        </p:nvCxnSpPr>
        <p:spPr>
          <a:xfrm flipH="1" flipV="1">
            <a:off x="8829955" y="3094083"/>
            <a:ext cx="872506" cy="77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7E6B80F-8A1C-4370-9478-CB57055012A3}"/>
              </a:ext>
            </a:extLst>
          </p:cNvPr>
          <p:cNvCxnSpPr>
            <a:stCxn id="13" idx="2"/>
            <a:endCxn id="11" idx="5"/>
          </p:cNvCxnSpPr>
          <p:nvPr/>
        </p:nvCxnSpPr>
        <p:spPr>
          <a:xfrm flipH="1" flipV="1">
            <a:off x="2437082" y="3373338"/>
            <a:ext cx="2774418" cy="17307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7E811DD-1AEB-486D-AC70-FD8223D855CB}"/>
              </a:ext>
            </a:extLst>
          </p:cNvPr>
          <p:cNvCxnSpPr>
            <a:stCxn id="10" idx="6"/>
            <a:endCxn id="10" idx="6"/>
          </p:cNvCxnSpPr>
          <p:nvPr/>
        </p:nvCxnSpPr>
        <p:spPr>
          <a:xfrm>
            <a:off x="2425065" y="553868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62C26D7-B9F5-473E-8EDC-D111351221D7}"/>
              </a:ext>
            </a:extLst>
          </p:cNvPr>
          <p:cNvCxnSpPr>
            <a:stCxn id="10" idx="5"/>
            <a:endCxn id="13" idx="3"/>
          </p:cNvCxnSpPr>
          <p:nvPr/>
        </p:nvCxnSpPr>
        <p:spPr>
          <a:xfrm flipV="1">
            <a:off x="2262338" y="5496950"/>
            <a:ext cx="3208226" cy="434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238ED42-F201-4C83-B610-CCEF8F3CEB15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6721434" y="3094083"/>
            <a:ext cx="857651" cy="1617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8FBF2CDD-7F61-4D50-8097-782288A8F256}"/>
              </a:ext>
            </a:extLst>
          </p:cNvPr>
          <p:cNvSpPr/>
          <p:nvPr/>
        </p:nvSpPr>
        <p:spPr>
          <a:xfrm>
            <a:off x="7477727" y="5473308"/>
            <a:ext cx="1611292" cy="828979"/>
          </a:xfrm>
          <a:prstGeom prst="wedgeRoundRectCallout">
            <a:avLst>
              <a:gd name="adj1" fmla="val -90277"/>
              <a:gd name="adj2" fmla="val -42219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比如路由器、交换机等</a:t>
            </a:r>
          </a:p>
        </p:txBody>
      </p:sp>
      <p:sp>
        <p:nvSpPr>
          <p:cNvPr id="31" name="对话气泡: 圆角矩形 30">
            <a:extLst>
              <a:ext uri="{FF2B5EF4-FFF2-40B4-BE49-F238E27FC236}">
                <a16:creationId xmlns:a16="http://schemas.microsoft.com/office/drawing/2014/main" id="{C0CB80D0-C5B5-4ECE-BF43-45121400338B}"/>
              </a:ext>
            </a:extLst>
          </p:cNvPr>
          <p:cNvSpPr/>
          <p:nvPr/>
        </p:nvSpPr>
        <p:spPr>
          <a:xfrm>
            <a:off x="3018644" y="1721210"/>
            <a:ext cx="1657527" cy="828979"/>
          </a:xfrm>
          <a:prstGeom prst="wedgeRoundRectCallout">
            <a:avLst>
              <a:gd name="adj1" fmla="val -70882"/>
              <a:gd name="adj2" fmla="val 5970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代指网络设备</a:t>
            </a:r>
          </a:p>
        </p:txBody>
      </p:sp>
      <p:sp>
        <p:nvSpPr>
          <p:cNvPr id="32" name="对话气泡: 圆角矩形 31">
            <a:extLst>
              <a:ext uri="{FF2B5EF4-FFF2-40B4-BE49-F238E27FC236}">
                <a16:creationId xmlns:a16="http://schemas.microsoft.com/office/drawing/2014/main" id="{80ECF179-B732-4E20-AE7A-44E9A483742C}"/>
              </a:ext>
            </a:extLst>
          </p:cNvPr>
          <p:cNvSpPr/>
          <p:nvPr/>
        </p:nvSpPr>
        <p:spPr>
          <a:xfrm>
            <a:off x="9936961" y="5124193"/>
            <a:ext cx="1611292" cy="828979"/>
          </a:xfrm>
          <a:prstGeom prst="wedgeRoundRectCallout">
            <a:avLst>
              <a:gd name="adj1" fmla="val -29217"/>
              <a:gd name="adj2" fmla="val -7991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注册备案的普通网站</a:t>
            </a:r>
          </a:p>
        </p:txBody>
      </p:sp>
      <p:sp>
        <p:nvSpPr>
          <p:cNvPr id="35" name="思想气泡: 云 34">
            <a:extLst>
              <a:ext uri="{FF2B5EF4-FFF2-40B4-BE49-F238E27FC236}">
                <a16:creationId xmlns:a16="http://schemas.microsoft.com/office/drawing/2014/main" id="{544A51CB-588C-41EF-914E-BC85721B9C35}"/>
              </a:ext>
            </a:extLst>
          </p:cNvPr>
          <p:cNvSpPr/>
          <p:nvPr/>
        </p:nvSpPr>
        <p:spPr>
          <a:xfrm>
            <a:off x="1819598" y="4049917"/>
            <a:ext cx="2277840" cy="933181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/>
              <a:t>我要访问</a:t>
            </a:r>
            <a:r>
              <a:rPr lang="en-US" altLang="zh-CN"/>
              <a:t>W</a:t>
            </a:r>
            <a:r>
              <a:rPr lang="zh-CN" altLang="en-US"/>
              <a:t>，域名是</a:t>
            </a:r>
            <a:r>
              <a:rPr lang="en-US" altLang="zh-CN"/>
              <a:t>W</a:t>
            </a:r>
          </a:p>
        </p:txBody>
      </p:sp>
      <p:sp>
        <p:nvSpPr>
          <p:cNvPr id="38" name="思想气泡: 云 37">
            <a:extLst>
              <a:ext uri="{FF2B5EF4-FFF2-40B4-BE49-F238E27FC236}">
                <a16:creationId xmlns:a16="http://schemas.microsoft.com/office/drawing/2014/main" id="{7970C08D-FE84-4417-AE66-1358840E8A00}"/>
              </a:ext>
            </a:extLst>
          </p:cNvPr>
          <p:cNvSpPr/>
          <p:nvPr/>
        </p:nvSpPr>
        <p:spPr>
          <a:xfrm>
            <a:off x="1811144" y="3917434"/>
            <a:ext cx="2856132" cy="1186658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/>
              <a:t>好吧，我要访问</a:t>
            </a:r>
            <a:r>
              <a:rPr lang="en-US" altLang="zh-CN"/>
              <a:t>WIP</a:t>
            </a:r>
            <a:r>
              <a:rPr lang="zh-CN" altLang="en-US"/>
              <a:t>，请问</a:t>
            </a:r>
            <a:r>
              <a:rPr lang="en-US" altLang="zh-CN"/>
              <a:t>WIP</a:t>
            </a:r>
            <a:r>
              <a:rPr lang="zh-CN" altLang="en-US"/>
              <a:t>这台设备在哪？</a:t>
            </a:r>
            <a:endParaRPr lang="en-US" altLang="zh-CN"/>
          </a:p>
        </p:txBody>
      </p:sp>
      <p:sp>
        <p:nvSpPr>
          <p:cNvPr id="39" name="思想气泡: 云 38">
            <a:extLst>
              <a:ext uri="{FF2B5EF4-FFF2-40B4-BE49-F238E27FC236}">
                <a16:creationId xmlns:a16="http://schemas.microsoft.com/office/drawing/2014/main" id="{94700372-8529-4D76-9F58-38D12DD2280D}"/>
              </a:ext>
            </a:extLst>
          </p:cNvPr>
          <p:cNvSpPr/>
          <p:nvPr/>
        </p:nvSpPr>
        <p:spPr>
          <a:xfrm flipH="1">
            <a:off x="97386" y="2786223"/>
            <a:ext cx="2203640" cy="910016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姐，这</a:t>
            </a:r>
            <a:r>
              <a:rPr lang="en-US" altLang="zh-CN"/>
              <a:t>IP</a:t>
            </a:r>
            <a:r>
              <a:rPr lang="zh-CN" altLang="en-US"/>
              <a:t>不是咱网段的</a:t>
            </a:r>
          </a:p>
        </p:txBody>
      </p:sp>
      <p:sp>
        <p:nvSpPr>
          <p:cNvPr id="40" name="思想气泡: 云 39">
            <a:extLst>
              <a:ext uri="{FF2B5EF4-FFF2-40B4-BE49-F238E27FC236}">
                <a16:creationId xmlns:a16="http://schemas.microsoft.com/office/drawing/2014/main" id="{5224008F-E0AA-4417-9FB9-72105EA2C61F}"/>
              </a:ext>
            </a:extLst>
          </p:cNvPr>
          <p:cNvSpPr/>
          <p:nvPr/>
        </p:nvSpPr>
        <p:spPr>
          <a:xfrm>
            <a:off x="1811544" y="3914233"/>
            <a:ext cx="2856132" cy="1186658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/>
              <a:t>噢好，我问问咱网关知不知道</a:t>
            </a:r>
            <a:endParaRPr lang="en-US" altLang="zh-CN"/>
          </a:p>
        </p:txBody>
      </p:sp>
      <p:sp>
        <p:nvSpPr>
          <p:cNvPr id="45" name="对话气泡: 椭圆形 44">
            <a:extLst>
              <a:ext uri="{FF2B5EF4-FFF2-40B4-BE49-F238E27FC236}">
                <a16:creationId xmlns:a16="http://schemas.microsoft.com/office/drawing/2014/main" id="{0C3F0956-1035-4C64-B811-D913B090C9EA}"/>
              </a:ext>
            </a:extLst>
          </p:cNvPr>
          <p:cNvSpPr/>
          <p:nvPr/>
        </p:nvSpPr>
        <p:spPr>
          <a:xfrm flipH="1">
            <a:off x="3423196" y="3595233"/>
            <a:ext cx="3397122" cy="1041684"/>
          </a:xfrm>
          <a:prstGeom prst="wedgeEllipseCallout">
            <a:avLst>
              <a:gd name="adj1" fmla="val -22466"/>
              <a:gd name="adj2" fmla="val 5853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你先发给我吧，我帮你问问，问到了就帮你转发给他</a:t>
            </a:r>
          </a:p>
        </p:txBody>
      </p:sp>
      <p:sp>
        <p:nvSpPr>
          <p:cNvPr id="46" name="对话气泡: 椭圆形 45">
            <a:extLst>
              <a:ext uri="{FF2B5EF4-FFF2-40B4-BE49-F238E27FC236}">
                <a16:creationId xmlns:a16="http://schemas.microsoft.com/office/drawing/2014/main" id="{815A8957-0467-43D9-BD72-1011A0705099}"/>
              </a:ext>
            </a:extLst>
          </p:cNvPr>
          <p:cNvSpPr/>
          <p:nvPr/>
        </p:nvSpPr>
        <p:spPr>
          <a:xfrm flipH="1">
            <a:off x="5896018" y="1624968"/>
            <a:ext cx="2126766" cy="828045"/>
          </a:xfrm>
          <a:prstGeom prst="wedgeEllipseCallout">
            <a:avLst>
              <a:gd name="adj1" fmla="val -22466"/>
              <a:gd name="adj2" fmla="val 5853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在我这儿</a:t>
            </a:r>
            <a:r>
              <a:rPr lang="en-US" altLang="zh-CN"/>
              <a:t>~</a:t>
            </a:r>
            <a:endParaRPr lang="zh-CN" altLang="en-US"/>
          </a:p>
        </p:txBody>
      </p:sp>
      <p:sp>
        <p:nvSpPr>
          <p:cNvPr id="47" name="对话气泡: 椭圆形 46">
            <a:extLst>
              <a:ext uri="{FF2B5EF4-FFF2-40B4-BE49-F238E27FC236}">
                <a16:creationId xmlns:a16="http://schemas.microsoft.com/office/drawing/2014/main" id="{3007016A-23B6-4FE0-B0A3-AD36BA10FE66}"/>
              </a:ext>
            </a:extLst>
          </p:cNvPr>
          <p:cNvSpPr/>
          <p:nvPr/>
        </p:nvSpPr>
        <p:spPr>
          <a:xfrm flipH="1">
            <a:off x="4241212" y="3709911"/>
            <a:ext cx="2126766" cy="828045"/>
          </a:xfrm>
          <a:prstGeom prst="wedgeEllipseCallout">
            <a:avLst>
              <a:gd name="adj1" fmla="val -22466"/>
              <a:gd name="adj2" fmla="val 5853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好的</a:t>
            </a:r>
            <a:r>
              <a:rPr lang="en-US" altLang="zh-CN"/>
              <a:t>~</a:t>
            </a:r>
            <a:endParaRPr lang="zh-CN" altLang="en-US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F39CD4D2-0374-4582-9AB1-0A957F9BF5E8}"/>
              </a:ext>
            </a:extLst>
          </p:cNvPr>
          <p:cNvCxnSpPr>
            <a:stCxn id="10" idx="5"/>
            <a:endCxn id="10" idx="5"/>
          </p:cNvCxnSpPr>
          <p:nvPr/>
        </p:nvCxnSpPr>
        <p:spPr>
          <a:xfrm>
            <a:off x="2262338" y="5931541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ED6FB6B-DBF2-4A32-8FE9-08667F44E833}"/>
              </a:ext>
            </a:extLst>
          </p:cNvPr>
          <p:cNvCxnSpPr>
            <a:stCxn id="10" idx="6"/>
            <a:endCxn id="13" idx="2"/>
          </p:cNvCxnSpPr>
          <p:nvPr/>
        </p:nvCxnSpPr>
        <p:spPr>
          <a:xfrm flipV="1">
            <a:off x="2425065" y="5104092"/>
            <a:ext cx="2786435" cy="434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4AB2C7CB-D60A-4397-90C9-D464A46385CF}"/>
              </a:ext>
            </a:extLst>
          </p:cNvPr>
          <p:cNvCxnSpPr>
            <a:cxnSpLocks/>
            <a:stCxn id="13" idx="7"/>
            <a:endCxn id="14" idx="3"/>
          </p:cNvCxnSpPr>
          <p:nvPr/>
        </p:nvCxnSpPr>
        <p:spPr>
          <a:xfrm flipV="1">
            <a:off x="6721434" y="3094083"/>
            <a:ext cx="857651" cy="1617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F72DB45C-56E1-4F7D-B103-54A8F08F6B74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8788901" y="3078458"/>
            <a:ext cx="913560" cy="786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椭圆 47">
            <a:extLst>
              <a:ext uri="{FF2B5EF4-FFF2-40B4-BE49-F238E27FC236}">
                <a16:creationId xmlns:a16="http://schemas.microsoft.com/office/drawing/2014/main" id="{03548774-B3AF-48D4-8840-D4C48942FF62}"/>
              </a:ext>
            </a:extLst>
          </p:cNvPr>
          <p:cNvSpPr/>
          <p:nvPr/>
        </p:nvSpPr>
        <p:spPr>
          <a:xfrm>
            <a:off x="3554779" y="4904219"/>
            <a:ext cx="661550" cy="66155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数据</a:t>
            </a:r>
          </a:p>
        </p:txBody>
      </p:sp>
      <p:sp>
        <p:nvSpPr>
          <p:cNvPr id="63" name="矩形 62">
            <a:hlinkClick r:id="rId2" action="ppaction://hlinksldjump"/>
            <a:extLst>
              <a:ext uri="{FF2B5EF4-FFF2-40B4-BE49-F238E27FC236}">
                <a16:creationId xmlns:a16="http://schemas.microsoft.com/office/drawing/2014/main" id="{79B1B9DC-DD9E-4A59-84B4-F807D4075F05}"/>
              </a:ext>
            </a:extLst>
          </p:cNvPr>
          <p:cNvSpPr/>
          <p:nvPr/>
        </p:nvSpPr>
        <p:spPr>
          <a:xfrm>
            <a:off x="520861" y="5660020"/>
            <a:ext cx="3451288" cy="95878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如果无法使用动画效果</a:t>
            </a:r>
            <a:endParaRPr lang="en-US" altLang="zh-CN" b="1"/>
          </a:p>
          <a:p>
            <a:pPr algn="ctr"/>
            <a:r>
              <a:rPr lang="zh-CN" altLang="en-US" b="1"/>
              <a:t>点击跳转视频</a:t>
            </a:r>
          </a:p>
        </p:txBody>
      </p:sp>
      <p:sp>
        <p:nvSpPr>
          <p:cNvPr id="64" name="矩形 63">
            <a:hlinkClick r:id="rId2" action="ppaction://hlinksldjump"/>
            <a:extLst>
              <a:ext uri="{FF2B5EF4-FFF2-40B4-BE49-F238E27FC236}">
                <a16:creationId xmlns:a16="http://schemas.microsoft.com/office/drawing/2014/main" id="{6498A093-F3FA-4319-AA2C-170D28659405}"/>
              </a:ext>
            </a:extLst>
          </p:cNvPr>
          <p:cNvSpPr/>
          <p:nvPr/>
        </p:nvSpPr>
        <p:spPr>
          <a:xfrm>
            <a:off x="7803111" y="3891192"/>
            <a:ext cx="1363274" cy="58105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传输成功</a:t>
            </a:r>
          </a:p>
        </p:txBody>
      </p:sp>
    </p:spTree>
    <p:extLst>
      <p:ext uri="{BB962C8B-B14F-4D97-AF65-F5344CB8AC3E}">
        <p14:creationId xmlns:p14="http://schemas.microsoft.com/office/powerpoint/2010/main" val="207679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" presetClass="emph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8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2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966 0.03797 L 0.10885 -0.01597 " pathEditMode="relative" rAng="0" ptsTypes="AA">
                                      <p:cBhvr>
                                        <p:cTn id="239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19" y="-2708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5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482 -0.01203 L 0.23477 -0.07453 L 0.3013 -0.31597 L 0.40286 -0.31111 L 0.47891 -0.20463 " pathEditMode="relative" ptsTypes="AAAAA">
                                      <p:cBhvr>
                                        <p:cTn id="27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6" grpId="0" animBg="1"/>
      <p:bldP spid="36" grpId="1" animBg="1"/>
      <p:bldP spid="2" grpId="0" animBg="1"/>
      <p:bldP spid="2" grpId="1" animBg="1"/>
      <p:bldP spid="6" grpId="0" animBg="1"/>
      <p:bldP spid="6" grpId="1" animBg="1"/>
      <p:bldP spid="6" grpId="2" animBg="1"/>
      <p:bldP spid="3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5" grpId="0" animBg="1"/>
      <p:bldP spid="35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2" animBg="1"/>
      <p:bldP spid="48" grpId="3" animBg="1"/>
      <p:bldP spid="63" grpId="0" animBg="1"/>
      <p:bldP spid="6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E2F684E-3E11-4385-BE50-392F0FB0DBDE}"/>
              </a:ext>
            </a:extLst>
          </p:cNvPr>
          <p:cNvSpPr txBox="1"/>
          <p:nvPr/>
        </p:nvSpPr>
        <p:spPr>
          <a:xfrm>
            <a:off x="0" y="1562970"/>
            <a:ext cx="12192000" cy="2243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全称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Address Resolution Protocol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（地址解析协议），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用于在局域网中把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地址通信转换成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地址通信。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地址是硬件地址，是物理网卡的编号地址，理论上具有惟一性。在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互联网中，访问一个网站要先进行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解析，把域名转换成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，然后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协议，由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找到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攻击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互联网中通讯流程</a:t>
            </a:r>
          </a:p>
        </p:txBody>
      </p:sp>
      <p:sp>
        <p:nvSpPr>
          <p:cNvPr id="2" name="思想气泡: 云 1">
            <a:extLst>
              <a:ext uri="{FF2B5EF4-FFF2-40B4-BE49-F238E27FC236}">
                <a16:creationId xmlns:a16="http://schemas.microsoft.com/office/drawing/2014/main" id="{6DED8478-9F30-4AC1-BBFF-1857FFE351A9}"/>
              </a:ext>
            </a:extLst>
          </p:cNvPr>
          <p:cNvSpPr/>
          <p:nvPr/>
        </p:nvSpPr>
        <p:spPr>
          <a:xfrm>
            <a:off x="7215860" y="3429000"/>
            <a:ext cx="4145872" cy="2583402"/>
          </a:xfrm>
          <a:prstGeom prst="cloudCallou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/>
              <a:t>Q1</a:t>
            </a:r>
            <a:r>
              <a:rPr lang="zh-CN" altLang="en-US" sz="2800" b="1"/>
              <a:t>：为什么不直接基于</a:t>
            </a:r>
            <a:r>
              <a:rPr lang="en-US" altLang="zh-CN" sz="2800" b="1"/>
              <a:t>MAC</a:t>
            </a:r>
            <a:r>
              <a:rPr lang="zh-CN" altLang="en-US" sz="2800" b="1"/>
              <a:t>地址通信？</a:t>
            </a:r>
          </a:p>
        </p:txBody>
      </p:sp>
    </p:spTree>
    <p:extLst>
      <p:ext uri="{BB962C8B-B14F-4D97-AF65-F5344CB8AC3E}">
        <p14:creationId xmlns:p14="http://schemas.microsoft.com/office/powerpoint/2010/main" val="89861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思想气泡: 云 38">
            <a:extLst>
              <a:ext uri="{FF2B5EF4-FFF2-40B4-BE49-F238E27FC236}">
                <a16:creationId xmlns:a16="http://schemas.microsoft.com/office/drawing/2014/main" id="{C7DB927B-19C0-4987-A226-FE916CCE55E4}"/>
              </a:ext>
            </a:extLst>
          </p:cNvPr>
          <p:cNvSpPr/>
          <p:nvPr/>
        </p:nvSpPr>
        <p:spPr>
          <a:xfrm flipH="1">
            <a:off x="5759484" y="1195697"/>
            <a:ext cx="2216357" cy="826441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攻击者：</a:t>
            </a:r>
            <a:r>
              <a:rPr lang="zh-CN" altLang="en-US">
                <a:solidFill>
                  <a:schemeClr val="tx1"/>
                </a:solidFill>
              </a:rPr>
              <a:t>扔掉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攻击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同网段的主机通讯欺骗</a:t>
            </a:r>
          </a:p>
        </p:txBody>
      </p:sp>
      <p:sp>
        <p:nvSpPr>
          <p:cNvPr id="5" name="流程图: 多文档 4">
            <a:extLst>
              <a:ext uri="{FF2B5EF4-FFF2-40B4-BE49-F238E27FC236}">
                <a16:creationId xmlns:a16="http://schemas.microsoft.com/office/drawing/2014/main" id="{322C9107-1DD5-485E-B0A7-2B8DD2F62E3A}"/>
              </a:ext>
            </a:extLst>
          </p:cNvPr>
          <p:cNvSpPr/>
          <p:nvPr/>
        </p:nvSpPr>
        <p:spPr>
          <a:xfrm>
            <a:off x="1081238" y="2837045"/>
            <a:ext cx="2890911" cy="2068497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/>
              <a:t>ARP</a:t>
            </a:r>
            <a:r>
              <a:rPr lang="zh-CN" altLang="en-US" b="1"/>
              <a:t>列表（存储</a:t>
            </a:r>
            <a:r>
              <a:rPr lang="en-US" altLang="zh-CN" b="1"/>
              <a:t>IP</a:t>
            </a:r>
            <a:r>
              <a:rPr lang="zh-CN" altLang="en-US" b="1"/>
              <a:t>和</a:t>
            </a:r>
            <a:r>
              <a:rPr lang="en-US" altLang="zh-CN" b="1"/>
              <a:t>MAC</a:t>
            </a:r>
            <a:r>
              <a:rPr lang="zh-CN" altLang="en-US" b="1"/>
              <a:t>地址的关系）</a:t>
            </a:r>
          </a:p>
        </p:txBody>
      </p:sp>
      <p:sp>
        <p:nvSpPr>
          <p:cNvPr id="4" name="流程图: 接点 3">
            <a:extLst>
              <a:ext uri="{FF2B5EF4-FFF2-40B4-BE49-F238E27FC236}">
                <a16:creationId xmlns:a16="http://schemas.microsoft.com/office/drawing/2014/main" id="{08685212-6691-4AAF-9789-CDB11ADB5879}"/>
              </a:ext>
            </a:extLst>
          </p:cNvPr>
          <p:cNvSpPr/>
          <p:nvPr/>
        </p:nvSpPr>
        <p:spPr>
          <a:xfrm>
            <a:off x="3013361" y="3946754"/>
            <a:ext cx="958788" cy="958788"/>
          </a:xfrm>
          <a:prstGeom prst="flowChartConnec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11" name="流程图: 接点 10">
            <a:extLst>
              <a:ext uri="{FF2B5EF4-FFF2-40B4-BE49-F238E27FC236}">
                <a16:creationId xmlns:a16="http://schemas.microsoft.com/office/drawing/2014/main" id="{3C53BEA2-8723-4C49-8968-A8769D77EC2B}"/>
              </a:ext>
            </a:extLst>
          </p:cNvPr>
          <p:cNvSpPr/>
          <p:nvPr/>
        </p:nvSpPr>
        <p:spPr>
          <a:xfrm>
            <a:off x="10276775" y="3946754"/>
            <a:ext cx="958788" cy="958788"/>
          </a:xfrm>
          <a:prstGeom prst="flowChartConnec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7" name="思想气泡: 云 6">
            <a:extLst>
              <a:ext uri="{FF2B5EF4-FFF2-40B4-BE49-F238E27FC236}">
                <a16:creationId xmlns:a16="http://schemas.microsoft.com/office/drawing/2014/main" id="{98172EF8-C390-4435-B067-E735F906EFF4}"/>
              </a:ext>
            </a:extLst>
          </p:cNvPr>
          <p:cNvSpPr/>
          <p:nvPr/>
        </p:nvSpPr>
        <p:spPr>
          <a:xfrm>
            <a:off x="3297595" y="2321510"/>
            <a:ext cx="2305545" cy="1544715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我要和</a:t>
            </a:r>
            <a:r>
              <a:rPr lang="en-US" altLang="zh-CN" b="1"/>
              <a:t>IP</a:t>
            </a:r>
            <a:r>
              <a:rPr lang="zh-CN" altLang="en-US" b="1"/>
              <a:t>地址为</a:t>
            </a:r>
            <a:r>
              <a:rPr lang="en-US" altLang="zh-CN" b="1"/>
              <a:t>B</a:t>
            </a:r>
            <a:r>
              <a:rPr lang="zh-CN" altLang="en-US"/>
              <a:t>的主机通讯</a:t>
            </a:r>
          </a:p>
        </p:txBody>
      </p:sp>
      <p:sp>
        <p:nvSpPr>
          <p:cNvPr id="12" name="思想气泡: 云 11">
            <a:extLst>
              <a:ext uri="{FF2B5EF4-FFF2-40B4-BE49-F238E27FC236}">
                <a16:creationId xmlns:a16="http://schemas.microsoft.com/office/drawing/2014/main" id="{8533C48D-9E45-4088-B601-F7487E9626F7}"/>
              </a:ext>
            </a:extLst>
          </p:cNvPr>
          <p:cNvSpPr/>
          <p:nvPr/>
        </p:nvSpPr>
        <p:spPr>
          <a:xfrm>
            <a:off x="3297595" y="2316441"/>
            <a:ext cx="2305545" cy="1544715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亲爱的</a:t>
            </a:r>
            <a:r>
              <a:rPr lang="en-US" altLang="zh-CN"/>
              <a:t>ARP</a:t>
            </a:r>
            <a:r>
              <a:rPr lang="zh-CN" altLang="en-US"/>
              <a:t>表，</a:t>
            </a:r>
            <a:r>
              <a:rPr lang="en-US" altLang="zh-CN"/>
              <a:t>B</a:t>
            </a:r>
            <a:r>
              <a:rPr lang="zh-CN" altLang="en-US"/>
              <a:t>的</a:t>
            </a:r>
            <a:r>
              <a:rPr lang="en-US" altLang="zh-CN"/>
              <a:t>MAC</a:t>
            </a:r>
            <a:r>
              <a:rPr lang="zh-CN" altLang="en-US"/>
              <a:t>地址是什么呀？</a:t>
            </a:r>
          </a:p>
        </p:txBody>
      </p:sp>
      <p:sp>
        <p:nvSpPr>
          <p:cNvPr id="15" name="流程图: 接点 14">
            <a:extLst>
              <a:ext uri="{FF2B5EF4-FFF2-40B4-BE49-F238E27FC236}">
                <a16:creationId xmlns:a16="http://schemas.microsoft.com/office/drawing/2014/main" id="{729E8D77-AF4A-4641-A103-0D02CBCCDE55}"/>
              </a:ext>
            </a:extLst>
          </p:cNvPr>
          <p:cNvSpPr/>
          <p:nvPr/>
        </p:nvSpPr>
        <p:spPr>
          <a:xfrm>
            <a:off x="7709124" y="1879846"/>
            <a:ext cx="958788" cy="958788"/>
          </a:xfrm>
          <a:prstGeom prst="flowChartConnec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4DAEF1D8-1476-4A30-BF0B-7BDAB7B556E5}"/>
              </a:ext>
            </a:extLst>
          </p:cNvPr>
          <p:cNvSpPr/>
          <p:nvPr/>
        </p:nvSpPr>
        <p:spPr>
          <a:xfrm>
            <a:off x="7026467" y="5834447"/>
            <a:ext cx="958788" cy="958788"/>
          </a:xfrm>
          <a:prstGeom prst="flowChartConnec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8" name="思想气泡: 云 17">
            <a:extLst>
              <a:ext uri="{FF2B5EF4-FFF2-40B4-BE49-F238E27FC236}">
                <a16:creationId xmlns:a16="http://schemas.microsoft.com/office/drawing/2014/main" id="{9F08AABF-F630-4392-8171-F1974AACBBA2}"/>
              </a:ext>
            </a:extLst>
          </p:cNvPr>
          <p:cNvSpPr/>
          <p:nvPr/>
        </p:nvSpPr>
        <p:spPr>
          <a:xfrm>
            <a:off x="3306043" y="2316441"/>
            <a:ext cx="2305545" cy="1544715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好吧，谁的</a:t>
            </a:r>
            <a:r>
              <a:rPr lang="en-US" altLang="zh-CN"/>
              <a:t>IP</a:t>
            </a:r>
            <a:r>
              <a:rPr lang="zh-CN" altLang="en-US"/>
              <a:t>地址是</a:t>
            </a:r>
            <a:r>
              <a:rPr lang="en-US" altLang="zh-CN"/>
              <a:t>B</a:t>
            </a:r>
            <a:r>
              <a:rPr lang="zh-CN" altLang="en-US"/>
              <a:t>，吱个声呗</a:t>
            </a:r>
          </a:p>
        </p:txBody>
      </p:sp>
      <p:sp>
        <p:nvSpPr>
          <p:cNvPr id="19" name="思想气泡: 云 18">
            <a:extLst>
              <a:ext uri="{FF2B5EF4-FFF2-40B4-BE49-F238E27FC236}">
                <a16:creationId xmlns:a16="http://schemas.microsoft.com/office/drawing/2014/main" id="{E3C9B2D8-A2AD-4D53-A1BC-2FE9A51EC44B}"/>
              </a:ext>
            </a:extLst>
          </p:cNvPr>
          <p:cNvSpPr/>
          <p:nvPr/>
        </p:nvSpPr>
        <p:spPr>
          <a:xfrm>
            <a:off x="7484360" y="5217748"/>
            <a:ext cx="2770914" cy="826441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accent6">
                    <a:lumMod val="75000"/>
                  </a:schemeClr>
                </a:solidFill>
              </a:rPr>
              <a:t>正常：</a:t>
            </a:r>
            <a:r>
              <a:rPr lang="zh-CN" altLang="en-US"/>
              <a:t>不关我事</a:t>
            </a:r>
            <a:endParaRPr lang="en-US" altLang="zh-CN"/>
          </a:p>
        </p:txBody>
      </p:sp>
      <p:sp>
        <p:nvSpPr>
          <p:cNvPr id="20" name="思想气泡: 云 19">
            <a:extLst>
              <a:ext uri="{FF2B5EF4-FFF2-40B4-BE49-F238E27FC236}">
                <a16:creationId xmlns:a16="http://schemas.microsoft.com/office/drawing/2014/main" id="{09524849-735A-4100-A46E-45296C660178}"/>
              </a:ext>
            </a:extLst>
          </p:cNvPr>
          <p:cNvSpPr/>
          <p:nvPr/>
        </p:nvSpPr>
        <p:spPr>
          <a:xfrm flipH="1">
            <a:off x="5768898" y="1195698"/>
            <a:ext cx="2216357" cy="826441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攻击者：</a:t>
            </a:r>
            <a:r>
              <a:rPr lang="zh-CN" altLang="en-US"/>
              <a:t>我其实是</a:t>
            </a:r>
            <a:r>
              <a:rPr lang="en-US" altLang="zh-CN"/>
              <a:t>B</a:t>
            </a:r>
          </a:p>
        </p:txBody>
      </p:sp>
      <p:sp>
        <p:nvSpPr>
          <p:cNvPr id="21" name="思想气泡: 云 20">
            <a:extLst>
              <a:ext uri="{FF2B5EF4-FFF2-40B4-BE49-F238E27FC236}">
                <a16:creationId xmlns:a16="http://schemas.microsoft.com/office/drawing/2014/main" id="{3B9AC39C-B7F1-4861-993D-CBFCBE254D4D}"/>
              </a:ext>
            </a:extLst>
          </p:cNvPr>
          <p:cNvSpPr/>
          <p:nvPr/>
        </p:nvSpPr>
        <p:spPr>
          <a:xfrm flipH="1">
            <a:off x="8539811" y="3088798"/>
            <a:ext cx="2386689" cy="826441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accent6">
                    <a:lumMod val="75000"/>
                  </a:schemeClr>
                </a:solidFill>
              </a:rPr>
              <a:t>正常：</a:t>
            </a:r>
            <a:r>
              <a:rPr lang="zh-CN" altLang="en-US"/>
              <a:t>我是</a:t>
            </a:r>
            <a:r>
              <a:rPr lang="en-US" altLang="zh-CN"/>
              <a:t>B</a:t>
            </a:r>
          </a:p>
        </p:txBody>
      </p:sp>
      <p:sp>
        <p:nvSpPr>
          <p:cNvPr id="22" name="思想气泡: 云 21">
            <a:extLst>
              <a:ext uri="{FF2B5EF4-FFF2-40B4-BE49-F238E27FC236}">
                <a16:creationId xmlns:a16="http://schemas.microsoft.com/office/drawing/2014/main" id="{054A4CD9-E1A0-4F8D-885B-16EF15449168}"/>
              </a:ext>
            </a:extLst>
          </p:cNvPr>
          <p:cNvSpPr/>
          <p:nvPr/>
        </p:nvSpPr>
        <p:spPr>
          <a:xfrm>
            <a:off x="3297594" y="2326578"/>
            <a:ext cx="2305545" cy="1544715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ARP</a:t>
            </a:r>
            <a:r>
              <a:rPr lang="zh-CN" altLang="en-US"/>
              <a:t>表，你听见了吗，</a:t>
            </a:r>
            <a:r>
              <a:rPr lang="en-US" altLang="zh-CN"/>
              <a:t>B</a:t>
            </a:r>
            <a:r>
              <a:rPr lang="zh-CN" altLang="en-US"/>
              <a:t>在哪呀</a:t>
            </a:r>
          </a:p>
        </p:txBody>
      </p:sp>
      <p:sp>
        <p:nvSpPr>
          <p:cNvPr id="24" name="思想气泡: 云 23">
            <a:extLst>
              <a:ext uri="{FF2B5EF4-FFF2-40B4-BE49-F238E27FC236}">
                <a16:creationId xmlns:a16="http://schemas.microsoft.com/office/drawing/2014/main" id="{EFC9FBF0-4A79-4869-BB38-AA708E559673}"/>
              </a:ext>
            </a:extLst>
          </p:cNvPr>
          <p:cNvSpPr/>
          <p:nvPr/>
        </p:nvSpPr>
        <p:spPr>
          <a:xfrm>
            <a:off x="3297594" y="2316441"/>
            <a:ext cx="2305545" cy="1544715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噢好的，马上发到</a:t>
            </a:r>
            <a:r>
              <a:rPr lang="en-US" altLang="zh-CN"/>
              <a:t>C</a:t>
            </a:r>
            <a:r>
              <a:rPr lang="zh-CN" altLang="en-US"/>
              <a:t>的</a:t>
            </a:r>
            <a:r>
              <a:rPr lang="en-US" altLang="zh-CN"/>
              <a:t>MAC</a:t>
            </a:r>
            <a:r>
              <a:rPr lang="zh-CN" altLang="en-US"/>
              <a:t>那去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2C2CD2F-28F1-4A20-BCA4-D9FF45025A6B}"/>
              </a:ext>
            </a:extLst>
          </p:cNvPr>
          <p:cNvCxnSpPr/>
          <p:nvPr/>
        </p:nvCxnSpPr>
        <p:spPr>
          <a:xfrm flipV="1">
            <a:off x="4294208" y="2754775"/>
            <a:ext cx="3032567" cy="1701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思想气泡: 云 28">
            <a:extLst>
              <a:ext uri="{FF2B5EF4-FFF2-40B4-BE49-F238E27FC236}">
                <a16:creationId xmlns:a16="http://schemas.microsoft.com/office/drawing/2014/main" id="{68A9E571-0055-468D-829B-F694CD17CB8C}"/>
              </a:ext>
            </a:extLst>
          </p:cNvPr>
          <p:cNvSpPr/>
          <p:nvPr/>
        </p:nvSpPr>
        <p:spPr>
          <a:xfrm flipH="1">
            <a:off x="8539811" y="3091152"/>
            <a:ext cx="2386689" cy="826441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accent6">
                    <a:lumMod val="75000"/>
                  </a:schemeClr>
                </a:solidFill>
              </a:rPr>
              <a:t>？？？怎么还没发过来</a:t>
            </a:r>
            <a:endParaRPr lang="en-US" altLang="zh-CN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2DC560E-6659-40EE-9B78-F93936C387D9}"/>
              </a:ext>
            </a:extLst>
          </p:cNvPr>
          <p:cNvCxnSpPr/>
          <p:nvPr/>
        </p:nvCxnSpPr>
        <p:spPr>
          <a:xfrm flipH="1">
            <a:off x="4458815" y="4560425"/>
            <a:ext cx="54143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FE6F7160-D729-4033-97EA-79D720DB7B5D}"/>
              </a:ext>
            </a:extLst>
          </p:cNvPr>
          <p:cNvSpPr txBox="1"/>
          <p:nvPr/>
        </p:nvSpPr>
        <p:spPr>
          <a:xfrm>
            <a:off x="6275818" y="3903103"/>
            <a:ext cx="2377574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我！是！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34" name="思想气泡: 云 33">
            <a:extLst>
              <a:ext uri="{FF2B5EF4-FFF2-40B4-BE49-F238E27FC236}">
                <a16:creationId xmlns:a16="http://schemas.microsoft.com/office/drawing/2014/main" id="{6D816AC8-AE18-4AC3-B8CB-B565B10E3E24}"/>
              </a:ext>
            </a:extLst>
          </p:cNvPr>
          <p:cNvSpPr/>
          <p:nvPr/>
        </p:nvSpPr>
        <p:spPr>
          <a:xfrm>
            <a:off x="3314146" y="2306304"/>
            <a:ext cx="2305545" cy="1544715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行行行</a:t>
            </a:r>
          </a:p>
        </p:txBody>
      </p:sp>
      <p:sp>
        <p:nvSpPr>
          <p:cNvPr id="33" name="思想气泡: 云 32">
            <a:extLst>
              <a:ext uri="{FF2B5EF4-FFF2-40B4-BE49-F238E27FC236}">
                <a16:creationId xmlns:a16="http://schemas.microsoft.com/office/drawing/2014/main" id="{B82384E5-6DCC-4669-9E34-F53714063293}"/>
              </a:ext>
            </a:extLst>
          </p:cNvPr>
          <p:cNvSpPr/>
          <p:nvPr/>
        </p:nvSpPr>
        <p:spPr>
          <a:xfrm flipH="1">
            <a:off x="305926" y="1792559"/>
            <a:ext cx="2216357" cy="1544715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下一个发给</a:t>
            </a:r>
            <a:r>
              <a:rPr lang="en-US" altLang="zh-CN"/>
              <a:t>B</a:t>
            </a:r>
            <a:r>
              <a:rPr lang="zh-CN" altLang="en-US"/>
              <a:t>的发到</a:t>
            </a:r>
            <a:r>
              <a:rPr lang="en-US" altLang="zh-CN"/>
              <a:t>B</a:t>
            </a:r>
            <a:r>
              <a:rPr lang="zh-CN" altLang="en-US"/>
              <a:t>的</a:t>
            </a:r>
            <a:r>
              <a:rPr lang="en-US" altLang="zh-CN"/>
              <a:t>MAC</a:t>
            </a:r>
            <a:r>
              <a:rPr lang="zh-CN" altLang="en-US"/>
              <a:t>地址去</a:t>
            </a:r>
          </a:p>
        </p:txBody>
      </p:sp>
      <p:sp>
        <p:nvSpPr>
          <p:cNvPr id="23" name="思想气泡: 云 22">
            <a:extLst>
              <a:ext uri="{FF2B5EF4-FFF2-40B4-BE49-F238E27FC236}">
                <a16:creationId xmlns:a16="http://schemas.microsoft.com/office/drawing/2014/main" id="{4378357A-2BAD-4235-8711-06DB04AC1D4C}"/>
              </a:ext>
            </a:extLst>
          </p:cNvPr>
          <p:cNvSpPr/>
          <p:nvPr/>
        </p:nvSpPr>
        <p:spPr>
          <a:xfrm flipH="1">
            <a:off x="322477" y="1791797"/>
            <a:ext cx="2216357" cy="1544715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说是在</a:t>
            </a:r>
            <a:r>
              <a:rPr lang="en-US" altLang="zh-CN"/>
              <a:t>C</a:t>
            </a:r>
            <a:r>
              <a:rPr lang="zh-CN" altLang="en-US"/>
              <a:t>的</a:t>
            </a:r>
            <a:r>
              <a:rPr lang="en-US" altLang="zh-CN"/>
              <a:t>MAC</a:t>
            </a:r>
            <a:r>
              <a:rPr lang="zh-CN" altLang="en-US"/>
              <a:t>那里</a:t>
            </a:r>
            <a:r>
              <a:rPr lang="en-US" altLang="zh-CN"/>
              <a:t>(ARP</a:t>
            </a:r>
            <a:r>
              <a:rPr lang="zh-CN" altLang="en-US"/>
              <a:t>列表是覆盖制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13" name="思想气泡: 云 12">
            <a:extLst>
              <a:ext uri="{FF2B5EF4-FFF2-40B4-BE49-F238E27FC236}">
                <a16:creationId xmlns:a16="http://schemas.microsoft.com/office/drawing/2014/main" id="{8717975D-E8B2-4883-BFDE-69723E6AB6E4}"/>
              </a:ext>
            </a:extLst>
          </p:cNvPr>
          <p:cNvSpPr/>
          <p:nvPr/>
        </p:nvSpPr>
        <p:spPr>
          <a:xfrm flipH="1">
            <a:off x="146589" y="1767483"/>
            <a:ext cx="2770836" cy="1544715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就在隔壁，但我不知道具体在哪，你问问别人？</a:t>
            </a:r>
          </a:p>
        </p:txBody>
      </p:sp>
      <p:sp>
        <p:nvSpPr>
          <p:cNvPr id="37" name="思想气泡: 云 36">
            <a:extLst>
              <a:ext uri="{FF2B5EF4-FFF2-40B4-BE49-F238E27FC236}">
                <a16:creationId xmlns:a16="http://schemas.microsoft.com/office/drawing/2014/main" id="{528FED01-DD13-4346-AA4B-EB5E90C6A898}"/>
              </a:ext>
            </a:extLst>
          </p:cNvPr>
          <p:cNvSpPr/>
          <p:nvPr/>
        </p:nvSpPr>
        <p:spPr>
          <a:xfrm flipH="1">
            <a:off x="298337" y="1767483"/>
            <a:ext cx="2216357" cy="1544715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还是发到</a:t>
            </a:r>
            <a:r>
              <a:rPr lang="en-US" altLang="zh-CN"/>
              <a:t>C</a:t>
            </a:r>
            <a:r>
              <a:rPr lang="zh-CN" altLang="en-US"/>
              <a:t>的</a:t>
            </a:r>
            <a:r>
              <a:rPr lang="en-US" altLang="zh-CN"/>
              <a:t>MAC</a:t>
            </a:r>
            <a:r>
              <a:rPr lang="zh-CN" altLang="en-US"/>
              <a:t>那吧</a:t>
            </a:r>
            <a:r>
              <a:rPr lang="en-US" altLang="zh-CN"/>
              <a:t>(ARP</a:t>
            </a:r>
            <a:r>
              <a:rPr lang="zh-CN" altLang="en-US"/>
              <a:t>列表是覆盖制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38" name="思想气泡: 云 37">
            <a:extLst>
              <a:ext uri="{FF2B5EF4-FFF2-40B4-BE49-F238E27FC236}">
                <a16:creationId xmlns:a16="http://schemas.microsoft.com/office/drawing/2014/main" id="{5C373992-DE92-439A-9C68-7616478A46B1}"/>
              </a:ext>
            </a:extLst>
          </p:cNvPr>
          <p:cNvSpPr/>
          <p:nvPr/>
        </p:nvSpPr>
        <p:spPr>
          <a:xfrm>
            <a:off x="3307315" y="2307742"/>
            <a:ext cx="2305545" cy="1544715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噢好好好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5040C8CC-A174-4AFD-B693-A2AB8A0F0EFC}"/>
              </a:ext>
            </a:extLst>
          </p:cNvPr>
          <p:cNvCxnSpPr>
            <a:cxnSpLocks/>
          </p:cNvCxnSpPr>
          <p:nvPr/>
        </p:nvCxnSpPr>
        <p:spPr>
          <a:xfrm flipH="1">
            <a:off x="4294208" y="2754775"/>
            <a:ext cx="3032567" cy="1701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D2B3BCB6-F510-4C23-B646-565B40B80359}"/>
              </a:ext>
            </a:extLst>
          </p:cNvPr>
          <p:cNvSpPr txBox="1"/>
          <p:nvPr/>
        </p:nvSpPr>
        <p:spPr>
          <a:xfrm>
            <a:off x="4713403" y="3125853"/>
            <a:ext cx="2377574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我。是。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B552AB3-AD8F-48E9-BA20-715EF58C742B}"/>
              </a:ext>
            </a:extLst>
          </p:cNvPr>
          <p:cNvCxnSpPr>
            <a:cxnSpLocks/>
            <a:stCxn id="15" idx="5"/>
            <a:endCxn id="11" idx="1"/>
          </p:cNvCxnSpPr>
          <p:nvPr/>
        </p:nvCxnSpPr>
        <p:spPr>
          <a:xfrm>
            <a:off x="8527501" y="2698223"/>
            <a:ext cx="1889685" cy="1388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F1474C72-B63D-48D7-97C7-8B306DEBC6CD}"/>
              </a:ext>
            </a:extLst>
          </p:cNvPr>
          <p:cNvSpPr txBox="1"/>
          <p:nvPr/>
        </p:nvSpPr>
        <p:spPr>
          <a:xfrm>
            <a:off x="8336460" y="3023083"/>
            <a:ext cx="2401619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我。是。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83CE51F2-34B3-44FE-97A2-EE689B7B7654}"/>
              </a:ext>
            </a:extLst>
          </p:cNvPr>
          <p:cNvCxnSpPr>
            <a:cxnSpLocks/>
            <a:stCxn id="11" idx="1"/>
            <a:endCxn id="15" idx="5"/>
          </p:cNvCxnSpPr>
          <p:nvPr/>
        </p:nvCxnSpPr>
        <p:spPr>
          <a:xfrm flipH="1" flipV="1">
            <a:off x="8527501" y="2698223"/>
            <a:ext cx="1889685" cy="1388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68D95A0E-A516-4A9F-8DEA-9C74CFB7F829}"/>
              </a:ext>
            </a:extLst>
          </p:cNvPr>
          <p:cNvSpPr txBox="1"/>
          <p:nvPr/>
        </p:nvSpPr>
        <p:spPr>
          <a:xfrm>
            <a:off x="7326775" y="3144252"/>
            <a:ext cx="4556055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喂喂喂？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酱，收到请回复　</a:t>
            </a:r>
          </a:p>
        </p:txBody>
      </p:sp>
      <p:sp>
        <p:nvSpPr>
          <p:cNvPr id="47" name="思想气泡: 云 46">
            <a:extLst>
              <a:ext uri="{FF2B5EF4-FFF2-40B4-BE49-F238E27FC236}">
                <a16:creationId xmlns:a16="http://schemas.microsoft.com/office/drawing/2014/main" id="{480620C4-478B-4A92-9D98-ACFB8A677788}"/>
              </a:ext>
            </a:extLst>
          </p:cNvPr>
          <p:cNvSpPr/>
          <p:nvPr/>
        </p:nvSpPr>
        <p:spPr>
          <a:xfrm flipH="1">
            <a:off x="5064082" y="1194355"/>
            <a:ext cx="3475729" cy="1048255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攻击者：</a:t>
            </a:r>
            <a:r>
              <a:rPr lang="zh-CN" altLang="en-US">
                <a:solidFill>
                  <a:schemeClr val="tx1"/>
                </a:solidFill>
              </a:rPr>
              <a:t>太可怜了，帮他转发一下消息吧。</a:t>
            </a:r>
            <a:r>
              <a:rPr lang="zh-CN" altLang="en-US" b="1"/>
              <a:t>开启</a:t>
            </a:r>
            <a:r>
              <a:rPr lang="en-US" altLang="zh-CN" b="1"/>
              <a:t>IP</a:t>
            </a:r>
            <a:r>
              <a:rPr lang="zh-CN" altLang="en-US" b="1"/>
              <a:t>转发</a:t>
            </a:r>
            <a:endParaRPr lang="en-US" altLang="zh-CN" b="1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8B32960-0320-4E5B-A3CE-BB4A033DB45B}"/>
              </a:ext>
            </a:extLst>
          </p:cNvPr>
          <p:cNvSpPr/>
          <p:nvPr/>
        </p:nvSpPr>
        <p:spPr>
          <a:xfrm>
            <a:off x="5539691" y="3263300"/>
            <a:ext cx="661550" cy="66155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数据</a:t>
            </a:r>
          </a:p>
        </p:txBody>
      </p:sp>
      <p:sp>
        <p:nvSpPr>
          <p:cNvPr id="48" name="矩形 47">
            <a:hlinkClick r:id="rId3" action="ppaction://hlinksldjump"/>
            <a:extLst>
              <a:ext uri="{FF2B5EF4-FFF2-40B4-BE49-F238E27FC236}">
                <a16:creationId xmlns:a16="http://schemas.microsoft.com/office/drawing/2014/main" id="{3885448E-9C03-4AAB-AD1B-70650ACFE4E7}"/>
              </a:ext>
            </a:extLst>
          </p:cNvPr>
          <p:cNvSpPr/>
          <p:nvPr/>
        </p:nvSpPr>
        <p:spPr>
          <a:xfrm>
            <a:off x="9733155" y="2687547"/>
            <a:ext cx="1363274" cy="58105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欺骗成功</a:t>
            </a:r>
          </a:p>
        </p:txBody>
      </p:sp>
    </p:spTree>
    <p:extLst>
      <p:ext uri="{BB962C8B-B14F-4D97-AF65-F5344CB8AC3E}">
        <p14:creationId xmlns:p14="http://schemas.microsoft.com/office/powerpoint/2010/main" val="3419020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216 0.12917 L 0.11458 -0.12592 L 0.17539 -0.17824 L 0.1763 -0.19513 L 0.19531 -0.19166 L 0.19622 -0.16458 L 0.17826 -0.16458 L 0.17734 -0.18495 L 0.50859 -0.2625 L 0.51537 -0.26088 " pathEditMode="relative" ptsTypes="AAAAAAAAAA">
                                      <p:cBhvr>
                                        <p:cTn id="172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3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021 0.13079 L 0.11367 -0.12083 L 0.19063 -0.17986 L 0.20859 -0.16643 L 0.18867 -0.15301 L 0.17448 -0.16481 L 0.18685 -0.20856 L 0.20573 -0.16805 L 0.50964 -0.2625 " pathEditMode="relative" ptsTypes="AAAAAAAAA">
                                      <p:cBhvr>
                                        <p:cTn id="305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6" presetID="10" presetClass="exit" presetSubtype="0" fill="hold" grpId="6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2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4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0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93 0.1257 L 0.1612 -0.15625 L 0.21914 -0.15138 L 0.37201 0.06829 " pathEditMode="relative" ptsTypes="AAAA">
                                      <p:cBhvr>
                                        <p:cTn id="375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  <p:bldP spid="5" grpId="0" animBg="1"/>
      <p:bldP spid="5" grpId="1" animBg="1"/>
      <p:bldP spid="5" grpId="2" animBg="1"/>
      <p:bldP spid="4" grpId="0" animBg="1"/>
      <p:bldP spid="11" grpId="0" animBg="1"/>
      <p:bldP spid="7" grpId="0" animBg="1"/>
      <p:bldP spid="7" grpId="1" animBg="1"/>
      <p:bldP spid="12" grpId="0" animBg="1"/>
      <p:bldP spid="12" grpId="1" animBg="1"/>
      <p:bldP spid="15" grpId="0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4" grpId="0" animBg="1"/>
      <p:bldP spid="24" grpId="1" animBg="1"/>
      <p:bldP spid="29" grpId="0" animBg="1"/>
      <p:bldP spid="29" grpId="1" animBg="1"/>
      <p:bldP spid="32" grpId="0" animBg="1"/>
      <p:bldP spid="32" grpId="1" animBg="1"/>
      <p:bldP spid="34" grpId="0" animBg="1"/>
      <p:bldP spid="34" grpId="1" animBg="1"/>
      <p:bldP spid="33" grpId="0" animBg="1"/>
      <p:bldP spid="33" grpId="1" animBg="1"/>
      <p:bldP spid="23" grpId="0" animBg="1"/>
      <p:bldP spid="23" grpId="1" animBg="1"/>
      <p:bldP spid="13" grpId="0" animBg="1"/>
      <p:bldP spid="13" grpId="1" animBg="1"/>
      <p:bldP spid="37" grpId="0" animBg="1"/>
      <p:bldP spid="37" grpId="1" animBg="1"/>
      <p:bldP spid="38" grpId="0" animBg="1"/>
      <p:bldP spid="38" grpId="1" animBg="1"/>
      <p:bldP spid="42" grpId="0" animBg="1"/>
      <p:bldP spid="42" grpId="1" animBg="1"/>
      <p:bldP spid="44" grpId="0" animBg="1"/>
      <p:bldP spid="44" grpId="1" animBg="1"/>
      <p:bldP spid="46" grpId="0" animBg="1"/>
      <p:bldP spid="46" grpId="1" animBg="1"/>
      <p:bldP spid="47" grpId="0" animBg="1"/>
      <p:bldP spid="47" grpId="1" animBg="1"/>
      <p:bldP spid="30" grpId="0" animBg="1"/>
      <p:bldP spid="30" grpId="1" animBg="1"/>
      <p:bldP spid="30" grpId="3" animBg="1"/>
      <p:bldP spid="30" grpId="4" animBg="1"/>
      <p:bldP spid="30" grpId="5" animBg="1"/>
      <p:bldP spid="30" grpId="6" animBg="1"/>
      <p:bldP spid="30" grpId="7" animBg="1"/>
      <p:bldP spid="30" grpId="8" animBg="1"/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E2F684E-3E11-4385-BE50-392F0FB0DBDE}"/>
              </a:ext>
            </a:extLst>
          </p:cNvPr>
          <p:cNvSpPr txBox="1"/>
          <p:nvPr/>
        </p:nvSpPr>
        <p:spPr>
          <a:xfrm>
            <a:off x="0" y="1562970"/>
            <a:ext cx="12192000" cy="2243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同时被欺骗，并且报文能够顺利转发，再加上攻击机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反复向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A/B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称自己才是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B/A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之间的数据包就能够全部发给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了。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欺骗原理：由于主机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不加检测地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响应数据包的内容添加到自己的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列表中，发送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虚假的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响应数据包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即可错误地引导数据传输。</a:t>
            </a:r>
            <a:endParaRPr lang="en-US" altLang="zh-CN" sz="240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攻击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64AC2C-8097-46A8-B4F7-6E54F85E6C9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406" y="4173937"/>
            <a:ext cx="6120130" cy="22421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9970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攻击</a:t>
            </a:r>
          </a:p>
        </p:txBody>
      </p:sp>
      <p:pic>
        <p:nvPicPr>
          <p:cNvPr id="15" name="图片 14">
            <a:hlinkClick r:id="rId2"/>
            <a:extLst>
              <a:ext uri="{FF2B5EF4-FFF2-40B4-BE49-F238E27FC236}">
                <a16:creationId xmlns:a16="http://schemas.microsoft.com/office/drawing/2014/main" id="{304F83DA-907E-47FE-9E07-A8E1EE5EB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288" y="1368621"/>
            <a:ext cx="8255424" cy="5150115"/>
          </a:xfrm>
          <a:prstGeom prst="rect">
            <a:avLst/>
          </a:prstGeom>
        </p:spPr>
      </p:pic>
      <p:sp>
        <p:nvSpPr>
          <p:cNvPr id="16" name="矩形 15">
            <a:hlinkClick r:id="rId2"/>
            <a:extLst>
              <a:ext uri="{FF2B5EF4-FFF2-40B4-BE49-F238E27FC236}">
                <a16:creationId xmlns:a16="http://schemas.microsoft.com/office/drawing/2014/main" id="{4FE9CFDE-5391-4C93-93F2-31FADBF7AEE6}"/>
              </a:ext>
            </a:extLst>
          </p:cNvPr>
          <p:cNvSpPr/>
          <p:nvPr/>
        </p:nvSpPr>
        <p:spPr>
          <a:xfrm>
            <a:off x="520861" y="5660020"/>
            <a:ext cx="3451288" cy="95878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点击图片跳转视频</a:t>
            </a:r>
          </a:p>
        </p:txBody>
      </p:sp>
    </p:spTree>
    <p:extLst>
      <p:ext uri="{BB962C8B-B14F-4D97-AF65-F5344CB8AC3E}">
        <p14:creationId xmlns:p14="http://schemas.microsoft.com/office/powerpoint/2010/main" val="193724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arpspoof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之干扰上网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BB0DD0-3760-4A8F-8B51-69257219F6A9}"/>
              </a:ext>
            </a:extLst>
          </p:cNvPr>
          <p:cNvSpPr txBox="1"/>
          <p:nvPr/>
        </p:nvSpPr>
        <p:spPr>
          <a:xfrm>
            <a:off x="14872" y="1474334"/>
            <a:ext cx="12183122" cy="2243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主要指令：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sudo arpspoof –t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网关 被攻击机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欺骗网关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sudo arpspoof –t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被攻击机 网关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欺骗被攻击机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/proc/sys/net/ipv4/ip_forward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365FE0-9BC0-45DD-BE3F-D1F257E4281B}"/>
              </a:ext>
            </a:extLst>
          </p:cNvPr>
          <p:cNvPicPr/>
          <p:nvPr/>
        </p:nvPicPr>
        <p:blipFill rotWithShape="1">
          <a:blip r:embed="rId2"/>
          <a:srcRect t="-1" b="3273"/>
          <a:stretch/>
        </p:blipFill>
        <p:spPr bwMode="auto">
          <a:xfrm>
            <a:off x="1303462" y="4401666"/>
            <a:ext cx="9585076" cy="13226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思想气泡: 云 6">
            <a:extLst>
              <a:ext uri="{FF2B5EF4-FFF2-40B4-BE49-F238E27FC236}">
                <a16:creationId xmlns:a16="http://schemas.microsoft.com/office/drawing/2014/main" id="{041AFF58-C958-4EF0-A33E-5C3178B5D6D6}"/>
              </a:ext>
            </a:extLst>
          </p:cNvPr>
          <p:cNvSpPr/>
          <p:nvPr/>
        </p:nvSpPr>
        <p:spPr>
          <a:xfrm>
            <a:off x="5938886" y="2960016"/>
            <a:ext cx="5722071" cy="3199184"/>
          </a:xfrm>
          <a:prstGeom prst="cloudCallou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/>
              <a:t>Q2</a:t>
            </a:r>
            <a:r>
              <a:rPr lang="zh-CN" altLang="en-US" sz="2400" b="1"/>
              <a:t>：</a:t>
            </a:r>
            <a:r>
              <a:rPr lang="en-US" altLang="zh-CN" sz="2400"/>
              <a:t>A</a:t>
            </a:r>
            <a:r>
              <a:rPr lang="zh-CN" altLang="en-US" sz="2400"/>
              <a:t>真机中运行的虚拟机</a:t>
            </a:r>
            <a:r>
              <a:rPr lang="en-US" altLang="zh-CN" sz="2400"/>
              <a:t>B</a:t>
            </a:r>
            <a:r>
              <a:rPr lang="zh-CN" altLang="en-US" sz="2400"/>
              <a:t>发送的</a:t>
            </a:r>
            <a:r>
              <a:rPr lang="en-US" altLang="zh-CN" sz="2400"/>
              <a:t>ARP</a:t>
            </a:r>
            <a:r>
              <a:rPr lang="zh-CN" altLang="en-US" sz="2400"/>
              <a:t>包被其他真机</a:t>
            </a:r>
            <a:r>
              <a:rPr lang="en-US" altLang="zh-CN" sz="2400"/>
              <a:t>C</a:t>
            </a:r>
            <a:r>
              <a:rPr lang="zh-CN" altLang="en-US" sz="2400"/>
              <a:t>检测到时 ，对应的</a:t>
            </a:r>
            <a:r>
              <a:rPr lang="en-US" altLang="zh-CN" sz="2400"/>
              <a:t>Mac</a:t>
            </a:r>
            <a:r>
              <a:rPr lang="zh-CN" altLang="en-US" sz="2400"/>
              <a:t>地址是</a:t>
            </a:r>
            <a:r>
              <a:rPr lang="en-US" altLang="zh-CN" sz="2400"/>
              <a:t>A</a:t>
            </a:r>
            <a:r>
              <a:rPr lang="zh-CN" altLang="en-US" sz="2400"/>
              <a:t>真机的，而不是</a:t>
            </a:r>
            <a:r>
              <a:rPr lang="en-US" altLang="zh-CN" sz="2400"/>
              <a:t>B</a:t>
            </a:r>
            <a:r>
              <a:rPr lang="zh-CN" altLang="en-US" sz="2400"/>
              <a:t>的，</a:t>
            </a:r>
            <a:r>
              <a:rPr lang="zh-CN" altLang="en-US" sz="2400" b="1"/>
              <a:t>为什么会这样，该怎样解决这一问题呢？</a:t>
            </a:r>
          </a:p>
        </p:txBody>
      </p:sp>
    </p:spTree>
    <p:extLst>
      <p:ext uri="{BB962C8B-B14F-4D97-AF65-F5344CB8AC3E}">
        <p14:creationId xmlns:p14="http://schemas.microsoft.com/office/powerpoint/2010/main" val="2667783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arpspoof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之干扰通信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BB0DD0-3760-4A8F-8B51-69257219F6A9}"/>
              </a:ext>
            </a:extLst>
          </p:cNvPr>
          <p:cNvSpPr txBox="1"/>
          <p:nvPr/>
        </p:nvSpPr>
        <p:spPr>
          <a:xfrm>
            <a:off x="8878" y="1638399"/>
            <a:ext cx="12183122" cy="2243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主要指令：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sudo arpspoof –t ROS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小车 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控制机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欺骗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ROS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小车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sudo arpspoof –t ROS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控制机 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小车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欺骗被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ROS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控制机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echo 1 &gt; /proc/sys/net/ipv4/ip_forward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326DB23C-FAB4-42B3-A98E-881A781EDB50}"/>
              </a:ext>
            </a:extLst>
          </p:cNvPr>
          <p:cNvSpPr/>
          <p:nvPr/>
        </p:nvSpPr>
        <p:spPr>
          <a:xfrm>
            <a:off x="6966409" y="3429000"/>
            <a:ext cx="4147793" cy="2652429"/>
          </a:xfrm>
          <a:prstGeom prst="cloudCallou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尝试</a:t>
            </a:r>
            <a:r>
              <a:rPr lang="zh-CN" altLang="en-US" sz="2400" b="1"/>
              <a:t>开关</a:t>
            </a:r>
            <a:r>
              <a:rPr lang="en-US" altLang="zh-CN" sz="2400" b="1"/>
              <a:t>IP</a:t>
            </a:r>
            <a:r>
              <a:rPr lang="zh-CN" altLang="en-US" sz="2400" b="1"/>
              <a:t>转发、开关</a:t>
            </a:r>
            <a:r>
              <a:rPr lang="en-US" altLang="zh-CN" sz="2400" b="1"/>
              <a:t>ARP</a:t>
            </a:r>
            <a:r>
              <a:rPr lang="zh-CN" altLang="en-US" sz="2400" b="1"/>
              <a:t>攻击</a:t>
            </a:r>
            <a:r>
              <a:rPr lang="zh-CN" altLang="en-US" sz="2400"/>
              <a:t>，检查控制效果是否被影响</a:t>
            </a:r>
          </a:p>
        </p:txBody>
      </p:sp>
    </p:spTree>
    <p:extLst>
      <p:ext uri="{BB962C8B-B14F-4D97-AF65-F5344CB8AC3E}">
        <p14:creationId xmlns:p14="http://schemas.microsoft.com/office/powerpoint/2010/main" val="41624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——scapy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伪造报文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E152420-481E-4EE4-8037-9C3E0E0FB3F3}"/>
              </a:ext>
            </a:extLst>
          </p:cNvPr>
          <p:cNvSpPr txBox="1"/>
          <p:nvPr/>
        </p:nvSpPr>
        <p:spPr>
          <a:xfrm>
            <a:off x="8878" y="1635145"/>
            <a:ext cx="12183122" cy="44590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主要指令：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sudo scapy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scapy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pkt=ARP()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ARP()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方法构造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pkt.show()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显示报文内容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pkt.psrc=‘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被攻击机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A’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修改报文源地址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pkt.pdst=‘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被攻击机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B’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修改报文目的地址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pkt.op=‘is-at‘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修改报文类型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sr1(pkt)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发送报文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0837A53-3B5D-4262-9102-B277C1A96B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664972" y="1635145"/>
            <a:ext cx="5518150" cy="2432050"/>
          </a:xfrm>
          <a:prstGeom prst="rect">
            <a:avLst/>
          </a:prstGeom>
        </p:spPr>
      </p:pic>
      <p:sp>
        <p:nvSpPr>
          <p:cNvPr id="10" name="思想气泡: 云 9">
            <a:extLst>
              <a:ext uri="{FF2B5EF4-FFF2-40B4-BE49-F238E27FC236}">
                <a16:creationId xmlns:a16="http://schemas.microsoft.com/office/drawing/2014/main" id="{E8EB4727-116D-4E6C-A158-E801DE74D533}"/>
              </a:ext>
            </a:extLst>
          </p:cNvPr>
          <p:cNvSpPr/>
          <p:nvPr/>
        </p:nvSpPr>
        <p:spPr>
          <a:xfrm>
            <a:off x="6966409" y="3429000"/>
            <a:ext cx="4147793" cy="2652429"/>
          </a:xfrm>
          <a:prstGeom prst="cloudCallou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尝试检查被攻击机的</a:t>
            </a:r>
            <a:r>
              <a:rPr lang="en-US" altLang="zh-CN" sz="2400"/>
              <a:t>arp</a:t>
            </a:r>
            <a:r>
              <a:rPr lang="zh-CN" altLang="en-US" sz="2400"/>
              <a:t>列表，看看报文是否发送成功</a:t>
            </a:r>
          </a:p>
        </p:txBody>
      </p:sp>
    </p:spTree>
    <p:extLst>
      <p:ext uri="{BB962C8B-B14F-4D97-AF65-F5344CB8AC3E}">
        <p14:creationId xmlns:p14="http://schemas.microsoft.com/office/powerpoint/2010/main" val="422713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——scapy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伪造报文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隐藏一处攻击痕迹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E152420-481E-4EE4-8037-9C3E0E0FB3F3}"/>
              </a:ext>
            </a:extLst>
          </p:cNvPr>
          <p:cNvSpPr txBox="1"/>
          <p:nvPr/>
        </p:nvSpPr>
        <p:spPr>
          <a:xfrm>
            <a:off x="8878" y="1635145"/>
            <a:ext cx="12183122" cy="44590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主要指令：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sudo scapy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scapy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pkt=Ether()/ARP()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构造带二级帧头的报文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pkt.psrc=‘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被攻击机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A’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修改地址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pkt.pdst=‘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被攻击机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B’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修改地址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pkt[Ether].dst=‘ff:ff:ff:ff:ff:ff‘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修改二级帧头的地址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pkt.show()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显示报文内容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sr</a:t>
            </a:r>
            <a:r>
              <a:rPr lang="en-US" altLang="zh-CN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1(pkt)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发送报文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71E2C39-23ED-45A6-8666-0418A6382A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790066" y="1865418"/>
            <a:ext cx="3198935" cy="3127164"/>
          </a:xfrm>
          <a:prstGeom prst="rect">
            <a:avLst/>
          </a:prstGeom>
        </p:spPr>
      </p:pic>
      <p:sp>
        <p:nvSpPr>
          <p:cNvPr id="12" name="思想气泡: 云 11">
            <a:extLst>
              <a:ext uri="{FF2B5EF4-FFF2-40B4-BE49-F238E27FC236}">
                <a16:creationId xmlns:a16="http://schemas.microsoft.com/office/drawing/2014/main" id="{098BEA15-E9EF-4C02-B5F7-7EFB3F6BABAF}"/>
              </a:ext>
            </a:extLst>
          </p:cNvPr>
          <p:cNvSpPr/>
          <p:nvPr/>
        </p:nvSpPr>
        <p:spPr>
          <a:xfrm>
            <a:off x="6513170" y="2840743"/>
            <a:ext cx="4147793" cy="2652429"/>
          </a:xfrm>
          <a:prstGeom prst="cloudCallou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造成攻击痕迹是因为</a:t>
            </a:r>
            <a:r>
              <a:rPr lang="zh-CN" altLang="en-US" sz="2400" b="1"/>
              <a:t>没有自定义二次帧头</a:t>
            </a:r>
            <a:r>
              <a:rPr lang="zh-CN" altLang="en-US" sz="2400"/>
              <a:t>，攻击机会先发送了广播报文去问谁是被攻击机</a:t>
            </a:r>
          </a:p>
        </p:txBody>
      </p:sp>
      <p:sp>
        <p:nvSpPr>
          <p:cNvPr id="15" name="矩形 14">
            <a:hlinkClick r:id="rId3" action="ppaction://hlinksldjump"/>
            <a:extLst>
              <a:ext uri="{FF2B5EF4-FFF2-40B4-BE49-F238E27FC236}">
                <a16:creationId xmlns:a16="http://schemas.microsoft.com/office/drawing/2014/main" id="{7E3F850F-B4D8-405B-A4FA-65493D63F77A}"/>
              </a:ext>
            </a:extLst>
          </p:cNvPr>
          <p:cNvSpPr/>
          <p:nvPr/>
        </p:nvSpPr>
        <p:spPr>
          <a:xfrm>
            <a:off x="7406048" y="1865418"/>
            <a:ext cx="1220425" cy="47310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运行结果：</a:t>
            </a:r>
          </a:p>
        </p:txBody>
      </p:sp>
    </p:spTree>
    <p:extLst>
      <p:ext uri="{BB962C8B-B14F-4D97-AF65-F5344CB8AC3E}">
        <p14:creationId xmlns:p14="http://schemas.microsoft.com/office/powerpoint/2010/main" val="395422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箭头: 五边形 21">
            <a:extLst>
              <a:ext uri="{FF2B5EF4-FFF2-40B4-BE49-F238E27FC236}">
                <a16:creationId xmlns:a16="http://schemas.microsoft.com/office/drawing/2014/main" id="{A8FE8FFF-D157-4704-9B26-ACF68878BBFD}"/>
              </a:ext>
            </a:extLst>
          </p:cNvPr>
          <p:cNvSpPr/>
          <p:nvPr/>
        </p:nvSpPr>
        <p:spPr>
          <a:xfrm>
            <a:off x="-7402" y="349616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箭头: 五边形 22">
            <a:extLst>
              <a:ext uri="{FF2B5EF4-FFF2-40B4-BE49-F238E27FC236}">
                <a16:creationId xmlns:a16="http://schemas.microsoft.com/office/drawing/2014/main" id="{31B45A3B-3FCA-4BF0-A022-2D03DD48D4F9}"/>
              </a:ext>
            </a:extLst>
          </p:cNvPr>
          <p:cNvSpPr/>
          <p:nvPr/>
        </p:nvSpPr>
        <p:spPr>
          <a:xfrm flipH="1">
            <a:off x="1306493" y="349616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第四关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——dpkt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库分析报文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8ECAF6-5992-46ED-8197-7C236AFA7347}"/>
              </a:ext>
            </a:extLst>
          </p:cNvPr>
          <p:cNvSpPr txBox="1"/>
          <p:nvPr/>
        </p:nvSpPr>
        <p:spPr>
          <a:xfrm>
            <a:off x="8878" y="1359100"/>
            <a:ext cx="12183122" cy="50130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主要过程：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f=open(file,’rb’)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打开文件，获取文件指针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pcap=dpkt.pcap.Reader(f)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读取文件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#pcap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中是按照“间戳：单包”的格式存储着各个单包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dpkt.ethernet.Ethernet(buf)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解包，物理层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if not (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符合过滤条件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根据报文特点增加过滤条件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   continue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dpkt.ethernet.Ethernet(buf).data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解包，网络层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dpkt.ethernet.Ethernet(buf).data.data 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解包，传输层负载数据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思想气泡: 云 7">
            <a:extLst>
              <a:ext uri="{FF2B5EF4-FFF2-40B4-BE49-F238E27FC236}">
                <a16:creationId xmlns:a16="http://schemas.microsoft.com/office/drawing/2014/main" id="{0B80403A-59B2-4230-B153-49EEC04BFD4E}"/>
              </a:ext>
            </a:extLst>
          </p:cNvPr>
          <p:cNvSpPr/>
          <p:nvPr/>
        </p:nvSpPr>
        <p:spPr>
          <a:xfrm>
            <a:off x="7948566" y="3865619"/>
            <a:ext cx="3902874" cy="2212622"/>
          </a:xfrm>
          <a:prstGeom prst="cloudCallou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根据这些库函数编写自己的程序、分析你感兴趣的部分吧！</a:t>
            </a:r>
          </a:p>
        </p:txBody>
      </p:sp>
      <p:sp>
        <p:nvSpPr>
          <p:cNvPr id="10" name="矩形 9">
            <a:hlinkClick r:id="rId2" action="ppaction://hlinksldjump"/>
            <a:extLst>
              <a:ext uri="{FF2B5EF4-FFF2-40B4-BE49-F238E27FC236}">
                <a16:creationId xmlns:a16="http://schemas.microsoft.com/office/drawing/2014/main" id="{33ED54B3-094D-483E-A2E3-CBE8706AAE51}"/>
              </a:ext>
            </a:extLst>
          </p:cNvPr>
          <p:cNvSpPr/>
          <p:nvPr/>
        </p:nvSpPr>
        <p:spPr>
          <a:xfrm>
            <a:off x="8174359" y="2132966"/>
            <a:ext cx="3451288" cy="95878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基本要求：能够筛选小车的键盘控制移动报文并打印传输层负载数据内容</a:t>
            </a:r>
          </a:p>
        </p:txBody>
      </p:sp>
    </p:spTree>
    <p:extLst>
      <p:ext uri="{BB962C8B-B14F-4D97-AF65-F5344CB8AC3E}">
        <p14:creationId xmlns:p14="http://schemas.microsoft.com/office/powerpoint/2010/main" val="359433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0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箭头: 五边形 21">
            <a:extLst>
              <a:ext uri="{FF2B5EF4-FFF2-40B4-BE49-F238E27FC236}">
                <a16:creationId xmlns:a16="http://schemas.microsoft.com/office/drawing/2014/main" id="{A8FE8FFF-D157-4704-9B26-ACF68878BBFD}"/>
              </a:ext>
            </a:extLst>
          </p:cNvPr>
          <p:cNvSpPr/>
          <p:nvPr/>
        </p:nvSpPr>
        <p:spPr>
          <a:xfrm>
            <a:off x="-7402" y="349616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箭头: 五边形 22">
            <a:extLst>
              <a:ext uri="{FF2B5EF4-FFF2-40B4-BE49-F238E27FC236}">
                <a16:creationId xmlns:a16="http://schemas.microsoft.com/office/drawing/2014/main" id="{31B45A3B-3FCA-4BF0-A022-2D03DD48D4F9}"/>
              </a:ext>
            </a:extLst>
          </p:cNvPr>
          <p:cNvSpPr/>
          <p:nvPr/>
        </p:nvSpPr>
        <p:spPr>
          <a:xfrm flipH="1">
            <a:off x="1306493" y="349616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第四关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——dpkt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库分析报文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8ECAF6-5992-46ED-8197-7C236AFA7347}"/>
              </a:ext>
            </a:extLst>
          </p:cNvPr>
          <p:cNvSpPr txBox="1"/>
          <p:nvPr/>
        </p:nvSpPr>
        <p:spPr>
          <a:xfrm>
            <a:off x="8878" y="1359100"/>
            <a:ext cx="12183122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最终运行结果：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382127-1F65-4B10-8C0D-B24FC541BF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9829" y="2155977"/>
            <a:ext cx="9361457" cy="4446182"/>
          </a:xfrm>
          <a:prstGeom prst="rect">
            <a:avLst/>
          </a:prstGeom>
        </p:spPr>
      </p:pic>
      <p:sp>
        <p:nvSpPr>
          <p:cNvPr id="7" name="思想气泡: 云 6">
            <a:extLst>
              <a:ext uri="{FF2B5EF4-FFF2-40B4-BE49-F238E27FC236}">
                <a16:creationId xmlns:a16="http://schemas.microsoft.com/office/drawing/2014/main" id="{6B52FE68-C7FE-4DE9-8835-686DCDFFC28E}"/>
              </a:ext>
            </a:extLst>
          </p:cNvPr>
          <p:cNvSpPr/>
          <p:nvPr/>
        </p:nvSpPr>
        <p:spPr>
          <a:xfrm>
            <a:off x="7948566" y="3865619"/>
            <a:ext cx="3902874" cy="2212622"/>
          </a:xfrm>
          <a:prstGeom prst="cloudCallou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如果能结合</a:t>
            </a:r>
            <a:r>
              <a:rPr lang="en-US" altLang="zh-CN" sz="2400" b="1"/>
              <a:t>pcap</a:t>
            </a:r>
            <a:r>
              <a:rPr lang="zh-CN" altLang="en-US" sz="2400" b="1"/>
              <a:t>库</a:t>
            </a:r>
            <a:r>
              <a:rPr lang="zh-CN" altLang="en-US" sz="2400"/>
              <a:t>边嗅探边分析报文就更好了！</a:t>
            </a:r>
          </a:p>
        </p:txBody>
      </p:sp>
    </p:spTree>
    <p:extLst>
      <p:ext uri="{BB962C8B-B14F-4D97-AF65-F5344CB8AC3E}">
        <p14:creationId xmlns:p14="http://schemas.microsoft.com/office/powerpoint/2010/main" val="301573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箭头: 五边形 21">
            <a:extLst>
              <a:ext uri="{FF2B5EF4-FFF2-40B4-BE49-F238E27FC236}">
                <a16:creationId xmlns:a16="http://schemas.microsoft.com/office/drawing/2014/main" id="{A8FE8FFF-D157-4704-9B26-ACF68878BBFD}"/>
              </a:ext>
            </a:extLst>
          </p:cNvPr>
          <p:cNvSpPr/>
          <p:nvPr/>
        </p:nvSpPr>
        <p:spPr>
          <a:xfrm>
            <a:off x="-7402" y="349616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箭头: 五边形 22">
            <a:extLst>
              <a:ext uri="{FF2B5EF4-FFF2-40B4-BE49-F238E27FC236}">
                <a16:creationId xmlns:a16="http://schemas.microsoft.com/office/drawing/2014/main" id="{31B45A3B-3FCA-4BF0-A022-2D03DD48D4F9}"/>
              </a:ext>
            </a:extLst>
          </p:cNvPr>
          <p:cNvSpPr/>
          <p:nvPr/>
        </p:nvSpPr>
        <p:spPr>
          <a:xfrm flipH="1">
            <a:off x="1306493" y="349616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第五关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libpcap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9B2FA2-1D56-4B72-8188-D829EFA3ECA0}"/>
              </a:ext>
            </a:extLst>
          </p:cNvPr>
          <p:cNvSpPr txBox="1"/>
          <p:nvPr/>
        </p:nvSpPr>
        <p:spPr>
          <a:xfrm>
            <a:off x="8878" y="2741291"/>
            <a:ext cx="12183122" cy="1689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Scapy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dpkt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固然方便，但是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libpcap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自定义度更高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——Arp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报文的数据格式都需要自己手动定义，网卡都要自己写代码去找。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但是由于编写难度较大，仅做引入了解。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466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箭头: 五边形 21">
            <a:extLst>
              <a:ext uri="{FF2B5EF4-FFF2-40B4-BE49-F238E27FC236}">
                <a16:creationId xmlns:a16="http://schemas.microsoft.com/office/drawing/2014/main" id="{A8FE8FFF-D157-4704-9B26-ACF68878BBFD}"/>
              </a:ext>
            </a:extLst>
          </p:cNvPr>
          <p:cNvSpPr/>
          <p:nvPr/>
        </p:nvSpPr>
        <p:spPr>
          <a:xfrm>
            <a:off x="-7402" y="349616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箭头: 五边形 22">
            <a:extLst>
              <a:ext uri="{FF2B5EF4-FFF2-40B4-BE49-F238E27FC236}">
                <a16:creationId xmlns:a16="http://schemas.microsoft.com/office/drawing/2014/main" id="{31B45A3B-3FCA-4BF0-A022-2D03DD48D4F9}"/>
              </a:ext>
            </a:extLst>
          </p:cNvPr>
          <p:cNvSpPr/>
          <p:nvPr/>
        </p:nvSpPr>
        <p:spPr>
          <a:xfrm flipH="1">
            <a:off x="1306493" y="349616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第五关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libpcap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9B2FA2-1D56-4B72-8188-D829EFA3ECA0}"/>
              </a:ext>
            </a:extLst>
          </p:cNvPr>
          <p:cNvSpPr txBox="1"/>
          <p:nvPr/>
        </p:nvSpPr>
        <p:spPr>
          <a:xfrm>
            <a:off x="8878" y="1363904"/>
            <a:ext cx="12183122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测试程序、编译过程以及运行结果如下：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寻找网卡的程序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284082-5E72-45E5-94F8-778FB3461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09" y="2384383"/>
            <a:ext cx="4576927" cy="40178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E5B9D94-7066-4E4E-8617-F10F15DD31B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98786" y="5053096"/>
            <a:ext cx="5810560" cy="58105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7F97972-6179-4B4B-8331-E03B23DCA3B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167441" y="2815540"/>
            <a:ext cx="6673250" cy="181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6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>
            <a:extLst>
              <a:ext uri="{FF2B5EF4-FFF2-40B4-BE49-F238E27FC236}">
                <a16:creationId xmlns:a16="http://schemas.microsoft.com/office/drawing/2014/main" id="{F0181567-F7D0-4343-B7C1-211F743C570C}"/>
              </a:ext>
            </a:extLst>
          </p:cNvPr>
          <p:cNvSpPr/>
          <p:nvPr/>
        </p:nvSpPr>
        <p:spPr>
          <a:xfrm>
            <a:off x="2541588" y="0"/>
            <a:ext cx="6907213" cy="5676900"/>
          </a:xfrm>
          <a:prstGeom prst="triangle">
            <a:avLst/>
          </a:prstGeom>
          <a:noFill/>
          <a:ln>
            <a:solidFill>
              <a:schemeClr val="accent1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8A816B2B-96F0-4A05-A735-0D991F8E5595}"/>
              </a:ext>
            </a:extLst>
          </p:cNvPr>
          <p:cNvSpPr/>
          <p:nvPr/>
        </p:nvSpPr>
        <p:spPr>
          <a:xfrm rot="10800000">
            <a:off x="3059113" y="1319213"/>
            <a:ext cx="6008688" cy="4416425"/>
          </a:xfrm>
          <a:prstGeom prst="triangle">
            <a:avLst/>
          </a:prstGeom>
          <a:noFill/>
          <a:ln w="206375">
            <a:solidFill>
              <a:schemeClr val="accent1">
                <a:lumMod val="60000"/>
                <a:lumOff val="4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等腰三角形 10">
            <a:extLst>
              <a:ext uri="{FF2B5EF4-FFF2-40B4-BE49-F238E27FC236}">
                <a16:creationId xmlns:a16="http://schemas.microsoft.com/office/drawing/2014/main" id="{3B034A26-43F6-4F69-9BE0-2D399A996E2A}"/>
              </a:ext>
            </a:extLst>
          </p:cNvPr>
          <p:cNvSpPr/>
          <p:nvPr/>
        </p:nvSpPr>
        <p:spPr>
          <a:xfrm rot="7016274">
            <a:off x="1935163" y="454025"/>
            <a:ext cx="3770313" cy="6859588"/>
          </a:xfrm>
          <a:custGeom>
            <a:avLst/>
            <a:gdLst>
              <a:gd name="connsiteX0" fmla="*/ 0 w 7540399"/>
              <a:gd name="connsiteY0" fmla="*/ 6859430 h 6859430"/>
              <a:gd name="connsiteX1" fmla="*/ 3770200 w 7540399"/>
              <a:gd name="connsiteY1" fmla="*/ 0 h 6859430"/>
              <a:gd name="connsiteX2" fmla="*/ 7540399 w 7540399"/>
              <a:gd name="connsiteY2" fmla="*/ 6859430 h 6859430"/>
              <a:gd name="connsiteX3" fmla="*/ 0 w 7540399"/>
              <a:gd name="connsiteY3" fmla="*/ 6859430 h 6859430"/>
              <a:gd name="connsiteX0-1" fmla="*/ 0 w 3770200"/>
              <a:gd name="connsiteY0-2" fmla="*/ 6859430 h 6859430"/>
              <a:gd name="connsiteX1-3" fmla="*/ 3770200 w 3770200"/>
              <a:gd name="connsiteY1-4" fmla="*/ 0 h 6859430"/>
              <a:gd name="connsiteX2-5" fmla="*/ 0 w 3770200"/>
              <a:gd name="connsiteY2-6" fmla="*/ 6859430 h 68594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770200" h="6859430">
                <a:moveTo>
                  <a:pt x="0" y="6859430"/>
                </a:moveTo>
                <a:lnTo>
                  <a:pt x="3770200" y="0"/>
                </a:lnTo>
                <a:lnTo>
                  <a:pt x="0" y="6859430"/>
                </a:lnTo>
                <a:close/>
              </a:path>
            </a:pathLst>
          </a:custGeom>
          <a:solidFill>
            <a:schemeClr val="accent1"/>
          </a:solidFill>
          <a:ln w="206375">
            <a:solidFill>
              <a:schemeClr val="accent1">
                <a:lumMod val="60000"/>
                <a:lumOff val="4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任意多边形 2">
            <a:extLst>
              <a:ext uri="{FF2B5EF4-FFF2-40B4-BE49-F238E27FC236}">
                <a16:creationId xmlns:a16="http://schemas.microsoft.com/office/drawing/2014/main" id="{B3DB9AA0-A04A-46A5-9CE6-6652CFE84DB2}"/>
              </a:ext>
            </a:extLst>
          </p:cNvPr>
          <p:cNvSpPr/>
          <p:nvPr/>
        </p:nvSpPr>
        <p:spPr>
          <a:xfrm rot="11211390">
            <a:off x="5659438" y="3959225"/>
            <a:ext cx="922338" cy="866775"/>
          </a:xfrm>
          <a:custGeom>
            <a:avLst/>
            <a:gdLst>
              <a:gd name="connsiteX0" fmla="*/ 0 w 2002971"/>
              <a:gd name="connsiteY0" fmla="*/ 1335314 h 1944914"/>
              <a:gd name="connsiteX1" fmla="*/ 783771 w 2002971"/>
              <a:gd name="connsiteY1" fmla="*/ 0 h 1944914"/>
              <a:gd name="connsiteX2" fmla="*/ 2002971 w 2002971"/>
              <a:gd name="connsiteY2" fmla="*/ 1944914 h 1944914"/>
              <a:gd name="connsiteX0-1" fmla="*/ 0 w 1416184"/>
              <a:gd name="connsiteY0-2" fmla="*/ 1335314 h 1335314"/>
              <a:gd name="connsiteX1-3" fmla="*/ 783771 w 1416184"/>
              <a:gd name="connsiteY1-4" fmla="*/ 0 h 1335314"/>
              <a:gd name="connsiteX2-5" fmla="*/ 1416184 w 1416184"/>
              <a:gd name="connsiteY2-6" fmla="*/ 970990 h 13353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416184" h="1335314">
                <a:moveTo>
                  <a:pt x="0" y="1335314"/>
                </a:moveTo>
                <a:lnTo>
                  <a:pt x="783771" y="0"/>
                </a:lnTo>
                <a:lnTo>
                  <a:pt x="1416184" y="970990"/>
                </a:lnTo>
              </a:path>
            </a:pathLst>
          </a:custGeom>
          <a:noFill/>
          <a:ln w="1270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20">
            <a:extLst>
              <a:ext uri="{FF2B5EF4-FFF2-40B4-BE49-F238E27FC236}">
                <a16:creationId xmlns:a16="http://schemas.microsoft.com/office/drawing/2014/main" id="{BE6523AF-051A-4B4A-8B17-B5BBFFAEAC0E}"/>
              </a:ext>
            </a:extLst>
          </p:cNvPr>
          <p:cNvSpPr/>
          <p:nvPr/>
        </p:nvSpPr>
        <p:spPr>
          <a:xfrm rot="11211631">
            <a:off x="4587875" y="2082800"/>
            <a:ext cx="2930525" cy="1257300"/>
          </a:xfrm>
          <a:custGeom>
            <a:avLst/>
            <a:gdLst>
              <a:gd name="connsiteX0" fmla="*/ 4209143 w 5297714"/>
              <a:gd name="connsiteY0" fmla="*/ 0 h 1770743"/>
              <a:gd name="connsiteX1" fmla="*/ 5297714 w 5297714"/>
              <a:gd name="connsiteY1" fmla="*/ 1770743 h 1770743"/>
              <a:gd name="connsiteX2" fmla="*/ 0 w 5297714"/>
              <a:gd name="connsiteY2" fmla="*/ 1306286 h 1770743"/>
              <a:gd name="connsiteX3" fmla="*/ 769257 w 5297714"/>
              <a:gd name="connsiteY3" fmla="*/ 29029 h 1770743"/>
              <a:gd name="connsiteX0-1" fmla="*/ 4209143 w 5297714"/>
              <a:gd name="connsiteY0-2" fmla="*/ 0 h 1770743"/>
              <a:gd name="connsiteX1-3" fmla="*/ 5297714 w 5297714"/>
              <a:gd name="connsiteY1-4" fmla="*/ 1770743 h 1770743"/>
              <a:gd name="connsiteX2-5" fmla="*/ 0 w 5297714"/>
              <a:gd name="connsiteY2-6" fmla="*/ 1306286 h 1770743"/>
              <a:gd name="connsiteX3-7" fmla="*/ 562856 w 5297714"/>
              <a:gd name="connsiteY3-8" fmla="*/ 395863 h 1770743"/>
              <a:gd name="connsiteX0-9" fmla="*/ 3872553 w 5297714"/>
              <a:gd name="connsiteY0-10" fmla="*/ 0 h 2274831"/>
              <a:gd name="connsiteX1-11" fmla="*/ 5297714 w 5297714"/>
              <a:gd name="connsiteY1-12" fmla="*/ 2274831 h 2274831"/>
              <a:gd name="connsiteX2-13" fmla="*/ 0 w 5297714"/>
              <a:gd name="connsiteY2-14" fmla="*/ 1810374 h 2274831"/>
              <a:gd name="connsiteX3-15" fmla="*/ 562856 w 5297714"/>
              <a:gd name="connsiteY3-16" fmla="*/ 899951 h 22748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297714" h="2274831">
                <a:moveTo>
                  <a:pt x="3872553" y="0"/>
                </a:moveTo>
                <a:lnTo>
                  <a:pt x="5297714" y="2274831"/>
                </a:lnTo>
                <a:lnTo>
                  <a:pt x="0" y="1810374"/>
                </a:lnTo>
                <a:lnTo>
                  <a:pt x="562856" y="899951"/>
                </a:lnTo>
              </a:path>
            </a:pathLst>
          </a:custGeom>
          <a:noFill/>
          <a:ln w="1270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F5EBEF3-F14D-45B5-AC9A-0AE10D94F43B}"/>
              </a:ext>
            </a:extLst>
          </p:cNvPr>
          <p:cNvSpPr txBox="1"/>
          <p:nvPr/>
        </p:nvSpPr>
        <p:spPr>
          <a:xfrm>
            <a:off x="2292350" y="3133725"/>
            <a:ext cx="789305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6000" b="1" kern="1200" cap="none" spc="300" normalizeH="0" baseline="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1552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1">
            <a:lumMod val="20000"/>
            <a:lumOff val="80000"/>
          </a:schemeClr>
        </a:solidFill>
      </a:spPr>
      <a:bodyPr wrap="square" rtlCol="0">
        <a:spAutoFit/>
      </a:bodyPr>
      <a:lstStyle>
        <a:defPPr indent="457200" algn="l">
          <a:lnSpc>
            <a:spcPct val="150000"/>
          </a:lnSpc>
          <a:defRPr sz="240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2214</TotalTime>
  <Words>1563</Words>
  <Application>Microsoft Office PowerPoint</Application>
  <PresentationFormat>宽屏</PresentationFormat>
  <Paragraphs>149</Paragraphs>
  <Slides>16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等线 Light</vt:lpstr>
      <vt:lpstr>方正宋刻本秀楷简体</vt:lpstr>
      <vt:lpstr>方正准圆简体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申 珊靛</dc:creator>
  <cp:lastModifiedBy>永夜 尘</cp:lastModifiedBy>
  <cp:revision>848</cp:revision>
  <dcterms:created xsi:type="dcterms:W3CDTF">2021-03-12T12:02:50Z</dcterms:created>
  <dcterms:modified xsi:type="dcterms:W3CDTF">2021-07-16T09:28:06Z</dcterms:modified>
</cp:coreProperties>
</file>