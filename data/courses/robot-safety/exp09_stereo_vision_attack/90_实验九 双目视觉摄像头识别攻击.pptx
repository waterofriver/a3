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9" r:id="rId4"/>
    <p:sldId id="262" r:id="rId5"/>
    <p:sldId id="265" r:id="rId6"/>
    <p:sldId id="268" r:id="rId7"/>
    <p:sldId id="269" r:id="rId8"/>
    <p:sldId id="281" r:id="rId9"/>
    <p:sldId id="282" r:id="rId10"/>
    <p:sldId id="278" r:id="rId11"/>
    <p:sldId id="27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页" id="{38910652-1D9F-45BF-BD71-1777E84EDD6F}">
          <p14:sldIdLst>
            <p14:sldId id="256"/>
          </p14:sldIdLst>
        </p14:section>
        <p14:section name="概述" id="{7DF12B08-F0B0-462C-A97E-B87E83D9806D}">
          <p14:sldIdLst>
            <p14:sldId id="257"/>
          </p14:sldIdLst>
        </p14:section>
        <p14:section name="1 连接" id="{50BD4C9C-BD31-4051-A6FE-DD72385D00F1}">
          <p14:sldIdLst>
            <p14:sldId id="259"/>
          </p14:sldIdLst>
        </p14:section>
        <p14:section name="2 启动" id="{45933C4A-D6F9-4D7D-971E-3B55624CAFD5}">
          <p14:sldIdLst>
            <p14:sldId id="262"/>
            <p14:sldId id="265"/>
          </p14:sldIdLst>
        </p14:section>
        <p14:section name="3 模拟" id="{0EF7C619-5AED-4E9D-8482-D6278461C313}">
          <p14:sldIdLst>
            <p14:sldId id="268"/>
            <p14:sldId id="269"/>
            <p14:sldId id="281"/>
            <p14:sldId id="282"/>
            <p14:sldId id="278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66" d="100"/>
          <a:sy n="66" d="100"/>
        </p:scale>
        <p:origin x="3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492B1-0C5A-4196-BD5A-E25E482A5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178BF0-0FB2-4157-94C8-60D23AE41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EC93F-B58D-4BAC-A643-9C65EE0A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30BD-EEEA-42AA-81A1-6BB0BE51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0CAB7-73A5-4C61-AFE5-E970E7E6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59A43-4A1F-4410-9B4D-3925D2F7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D32DFF-9387-4964-8523-216A65401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45149-9F4B-414E-A5A5-1BC20FD4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F9E98-605C-46A3-A2B0-DE11B019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20530-1173-46A9-B561-ABC53E04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7236E59-E5E2-4275-BBB2-274FF69106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549" y="5904887"/>
            <a:ext cx="2414451" cy="81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0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AC33F-BC76-4F76-B18F-1F3ABABE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44EF2A-4F7E-41E3-8B53-23EA70337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B4D17-2136-49F6-A86F-B3F890DA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7ADF9-6B16-4A91-984C-EAF74F30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CCE8A-56F3-4D85-B313-C156ACDD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14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E6CB2-0804-4E4F-BD32-414A4167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08AB1-545C-4CF5-8723-A62DE4BE5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D0195D-BE80-4E0A-AC0F-7900C5D92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E6A1DE-DAA3-4F0A-B858-DA7A5AFD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543A-6D2B-49AF-962F-AC42DF27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27804E-B37F-48DC-9CE6-1B7E8B29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97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B7A21-43EE-42C1-8A5D-F9D82CFC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D43ADA-D3FE-4728-BB57-5EFE47B68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141D56-9192-4359-B128-CF347250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C5CA01-9162-4DA5-B71C-E30B4C952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CE2240-4C37-494C-8DEF-0BE2F8893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4BF995-C68C-4154-A992-D7629699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D03D2D-FF72-4FF0-B5C8-ECF1064B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FBCA7C-644A-4373-AB14-5D22E44E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00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61089-0F77-431C-B275-14C0C58C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28DD5C-A5FC-4721-A7E5-A5D34A15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37CA22-806D-4280-B77E-CA2C4F46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A51879-0B46-431F-8C0F-3A38090F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21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8318D0-AAB2-42F9-9E26-56C1CB7C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817007-959B-4116-925A-43817F38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278F3-ACB2-4379-835C-4570EF7C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907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2BBDF-7CFE-4EFF-B704-790CF5F4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A4827-9BBA-4258-BA50-AC33F1F26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004658-627A-461F-B99F-27392E3E7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B33D8-A635-4736-A8FC-0E7FB1EF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34F964-AB89-451A-8895-00B77101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EAF20E-5B35-43C4-91D6-5DFDE3B8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5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B7D62-35B1-486A-BA4A-5BD62D87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B77D51-6E0B-4BDB-AB93-B4C68FACD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2CCFBA-FCB2-4EA4-931C-B0815E5AB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87AEB5-3A92-4059-AC54-3DDE28D7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975F10-5DA9-40FD-B833-1AEE3352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768966-0C69-4938-BD07-608E6904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74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C168C-70CF-489F-AA3C-EAB18682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D8EC20-E3C4-4040-918C-D140F43BE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81EFD-5990-4B49-BEB1-7827F321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DDFDE-08EE-4CC7-A8EA-1D5AE271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507A4D-BB8A-4750-B2A9-1DD61F62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1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3ECB69-D882-4535-B0D7-4E30F131C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C451D9-EE77-4FA7-AA27-96B7A3438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73AA9-B71F-4C03-85CA-A10ACAF6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2BCAF-A674-4F07-830F-51ABF482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3B0B8-9C89-411F-9CE1-B0E7ECE7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7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D0900C-D238-45F2-9A3F-9CC4338D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D3590-7911-4C76-82B9-2A273AA6F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6424D-17FE-46C6-82EA-9137849D6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253A8-2FA4-4E85-8F40-57D98F8E6A65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866D1-D453-4383-9F00-E9035E63D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B7091-FA79-4441-B297-A73323AE3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41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7AB6328-93D6-44D0-B018-7AB05C8C86B7}"/>
              </a:ext>
            </a:extLst>
          </p:cNvPr>
          <p:cNvSpPr/>
          <p:nvPr/>
        </p:nvSpPr>
        <p:spPr>
          <a:xfrm>
            <a:off x="3469024" y="0"/>
            <a:ext cx="500791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3457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5F9966-9130-4CAA-9435-AA0B3D681875}"/>
              </a:ext>
            </a:extLst>
          </p:cNvPr>
          <p:cNvSpPr/>
          <p:nvPr/>
        </p:nvSpPr>
        <p:spPr>
          <a:xfrm>
            <a:off x="370702" y="998837"/>
            <a:ext cx="11450595" cy="48603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92F53D2A-DDCD-421F-923B-DCB0E62EE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985" y="2563944"/>
            <a:ext cx="9650027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4800" b="1" dirty="0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实验九 双目视觉摄像头识别攻击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71B30E-AEA7-4AE3-9A6C-EA71AA5F066A}"/>
              </a:ext>
            </a:extLst>
          </p:cNvPr>
          <p:cNvCxnSpPr/>
          <p:nvPr/>
        </p:nvCxnSpPr>
        <p:spPr>
          <a:xfrm>
            <a:off x="5939450" y="4160852"/>
            <a:ext cx="372724" cy="0"/>
          </a:xfrm>
          <a:prstGeom prst="line">
            <a:avLst/>
          </a:prstGeom>
          <a:ln w="19050">
            <a:solidFill>
              <a:srgbClr val="3457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A6DFE96F-CF89-4918-9DF7-23306AB2179A}"/>
              </a:ext>
            </a:extLst>
          </p:cNvPr>
          <p:cNvSpPr/>
          <p:nvPr/>
        </p:nvSpPr>
        <p:spPr>
          <a:xfrm>
            <a:off x="3567367" y="447738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1" name="文本框 10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7CB3D532-35FA-4AC4-9C8B-F288F604F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710" y="4535085"/>
            <a:ext cx="2762533" cy="379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 dirty="0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日期：</a:t>
            </a:r>
            <a:r>
              <a:rPr lang="en-US" altLang="zh-CN" sz="1865" dirty="0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2025.03</a:t>
            </a:r>
            <a:endParaRPr lang="zh-CN" altLang="en-US" sz="1865" dirty="0">
              <a:solidFill>
                <a:srgbClr val="345780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A6A941-9377-42C6-BCDF-7B7941D7649F}"/>
              </a:ext>
            </a:extLst>
          </p:cNvPr>
          <p:cNvSpPr/>
          <p:nvPr/>
        </p:nvSpPr>
        <p:spPr>
          <a:xfrm>
            <a:off x="6312174" y="447331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3" name="文本框 12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A1BB899F-0A56-49A2-8835-5351EF5C8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515" y="4531016"/>
            <a:ext cx="3642393" cy="3793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 dirty="0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内容：双目视觉摄像头识别攻击</a:t>
            </a:r>
          </a:p>
        </p:txBody>
      </p:sp>
      <p:grpSp>
        <p:nvGrpSpPr>
          <p:cNvPr id="14" name="Group 59">
            <a:extLst>
              <a:ext uri="{FF2B5EF4-FFF2-40B4-BE49-F238E27FC236}">
                <a16:creationId xmlns:a16="http://schemas.microsoft.com/office/drawing/2014/main" id="{06848B52-D03E-43E0-8605-71C66A6DDD5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52872" y="4551022"/>
            <a:ext cx="290891" cy="317537"/>
            <a:chOff x="1066" y="1985"/>
            <a:chExt cx="262" cy="286"/>
          </a:xfrm>
          <a:solidFill>
            <a:schemeClr val="bg1"/>
          </a:solidFill>
        </p:grpSpPr>
        <p:sp>
          <p:nvSpPr>
            <p:cNvPr id="15" name="Freeform 60">
              <a:extLst>
                <a:ext uri="{FF2B5EF4-FFF2-40B4-BE49-F238E27FC236}">
                  <a16:creationId xmlns:a16="http://schemas.microsoft.com/office/drawing/2014/main" id="{65AFB32E-06C3-45D3-9241-D2D91F6B4D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6" y="2005"/>
              <a:ext cx="262" cy="266"/>
            </a:xfrm>
            <a:custGeom>
              <a:avLst/>
              <a:gdLst>
                <a:gd name="T0" fmla="*/ 572 w 642"/>
                <a:gd name="T1" fmla="*/ 655 h 655"/>
                <a:gd name="T2" fmla="*/ 70 w 642"/>
                <a:gd name="T3" fmla="*/ 655 h 655"/>
                <a:gd name="T4" fmla="*/ 19 w 642"/>
                <a:gd name="T5" fmla="*/ 630 h 655"/>
                <a:gd name="T6" fmla="*/ 0 w 642"/>
                <a:gd name="T7" fmla="*/ 575 h 655"/>
                <a:gd name="T8" fmla="*/ 0 w 642"/>
                <a:gd name="T9" fmla="*/ 80 h 655"/>
                <a:gd name="T10" fmla="*/ 19 w 642"/>
                <a:gd name="T11" fmla="*/ 25 h 655"/>
                <a:gd name="T12" fmla="*/ 70 w 642"/>
                <a:gd name="T13" fmla="*/ 0 h 655"/>
                <a:gd name="T14" fmla="*/ 93 w 642"/>
                <a:gd name="T15" fmla="*/ 0 h 655"/>
                <a:gd name="T16" fmla="*/ 111 w 642"/>
                <a:gd name="T17" fmla="*/ 18 h 655"/>
                <a:gd name="T18" fmla="*/ 93 w 642"/>
                <a:gd name="T19" fmla="*/ 36 h 655"/>
                <a:gd name="T20" fmla="*/ 70 w 642"/>
                <a:gd name="T21" fmla="*/ 36 h 655"/>
                <a:gd name="T22" fmla="*/ 47 w 642"/>
                <a:gd name="T23" fmla="*/ 48 h 655"/>
                <a:gd name="T24" fmla="*/ 36 w 642"/>
                <a:gd name="T25" fmla="*/ 80 h 655"/>
                <a:gd name="T26" fmla="*/ 36 w 642"/>
                <a:gd name="T27" fmla="*/ 575 h 655"/>
                <a:gd name="T28" fmla="*/ 47 w 642"/>
                <a:gd name="T29" fmla="*/ 607 h 655"/>
                <a:gd name="T30" fmla="*/ 70 w 642"/>
                <a:gd name="T31" fmla="*/ 619 h 655"/>
                <a:gd name="T32" fmla="*/ 572 w 642"/>
                <a:gd name="T33" fmla="*/ 619 h 655"/>
                <a:gd name="T34" fmla="*/ 595 w 642"/>
                <a:gd name="T35" fmla="*/ 607 h 655"/>
                <a:gd name="T36" fmla="*/ 606 w 642"/>
                <a:gd name="T37" fmla="*/ 575 h 655"/>
                <a:gd name="T38" fmla="*/ 606 w 642"/>
                <a:gd name="T39" fmla="*/ 80 h 655"/>
                <a:gd name="T40" fmla="*/ 595 w 642"/>
                <a:gd name="T41" fmla="*/ 48 h 655"/>
                <a:gd name="T42" fmla="*/ 572 w 642"/>
                <a:gd name="T43" fmla="*/ 36 h 655"/>
                <a:gd name="T44" fmla="*/ 547 w 642"/>
                <a:gd name="T45" fmla="*/ 36 h 655"/>
                <a:gd name="T46" fmla="*/ 529 w 642"/>
                <a:gd name="T47" fmla="*/ 18 h 655"/>
                <a:gd name="T48" fmla="*/ 547 w 642"/>
                <a:gd name="T49" fmla="*/ 0 h 655"/>
                <a:gd name="T50" fmla="*/ 572 w 642"/>
                <a:gd name="T51" fmla="*/ 0 h 655"/>
                <a:gd name="T52" fmla="*/ 622 w 642"/>
                <a:gd name="T53" fmla="*/ 25 h 655"/>
                <a:gd name="T54" fmla="*/ 642 w 642"/>
                <a:gd name="T55" fmla="*/ 80 h 655"/>
                <a:gd name="T56" fmla="*/ 642 w 642"/>
                <a:gd name="T57" fmla="*/ 575 h 655"/>
                <a:gd name="T58" fmla="*/ 622 w 642"/>
                <a:gd name="T59" fmla="*/ 630 h 655"/>
                <a:gd name="T60" fmla="*/ 572 w 642"/>
                <a:gd name="T61" fmla="*/ 655 h 655"/>
                <a:gd name="T62" fmla="*/ 418 w 642"/>
                <a:gd name="T63" fmla="*/ 36 h 655"/>
                <a:gd name="T64" fmla="*/ 224 w 642"/>
                <a:gd name="T65" fmla="*/ 36 h 655"/>
                <a:gd name="T66" fmla="*/ 206 w 642"/>
                <a:gd name="T67" fmla="*/ 18 h 655"/>
                <a:gd name="T68" fmla="*/ 224 w 642"/>
                <a:gd name="T69" fmla="*/ 0 h 655"/>
                <a:gd name="T70" fmla="*/ 418 w 642"/>
                <a:gd name="T71" fmla="*/ 0 h 655"/>
                <a:gd name="T72" fmla="*/ 436 w 642"/>
                <a:gd name="T73" fmla="*/ 18 h 655"/>
                <a:gd name="T74" fmla="*/ 418 w 642"/>
                <a:gd name="T75" fmla="*/ 36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2" h="655">
                  <a:moveTo>
                    <a:pt x="572" y="655"/>
                  </a:moveTo>
                  <a:cubicBezTo>
                    <a:pt x="70" y="655"/>
                    <a:pt x="70" y="655"/>
                    <a:pt x="70" y="655"/>
                  </a:cubicBezTo>
                  <a:cubicBezTo>
                    <a:pt x="51" y="655"/>
                    <a:pt x="33" y="646"/>
                    <a:pt x="19" y="630"/>
                  </a:cubicBezTo>
                  <a:cubicBezTo>
                    <a:pt x="7" y="615"/>
                    <a:pt x="0" y="596"/>
                    <a:pt x="0" y="57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0"/>
                    <a:pt x="7" y="40"/>
                    <a:pt x="19" y="25"/>
                  </a:cubicBezTo>
                  <a:cubicBezTo>
                    <a:pt x="33" y="9"/>
                    <a:pt x="51" y="0"/>
                    <a:pt x="70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03" y="0"/>
                    <a:pt x="111" y="8"/>
                    <a:pt x="111" y="18"/>
                  </a:cubicBezTo>
                  <a:cubicBezTo>
                    <a:pt x="111" y="28"/>
                    <a:pt x="103" y="36"/>
                    <a:pt x="93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61" y="36"/>
                    <a:pt x="53" y="40"/>
                    <a:pt x="47" y="48"/>
                  </a:cubicBezTo>
                  <a:cubicBezTo>
                    <a:pt x="40" y="56"/>
                    <a:pt x="36" y="68"/>
                    <a:pt x="36" y="80"/>
                  </a:cubicBezTo>
                  <a:cubicBezTo>
                    <a:pt x="36" y="575"/>
                    <a:pt x="36" y="575"/>
                    <a:pt x="36" y="575"/>
                  </a:cubicBezTo>
                  <a:cubicBezTo>
                    <a:pt x="36" y="587"/>
                    <a:pt x="40" y="599"/>
                    <a:pt x="47" y="607"/>
                  </a:cubicBezTo>
                  <a:cubicBezTo>
                    <a:pt x="53" y="615"/>
                    <a:pt x="61" y="619"/>
                    <a:pt x="70" y="619"/>
                  </a:cubicBezTo>
                  <a:cubicBezTo>
                    <a:pt x="572" y="619"/>
                    <a:pt x="572" y="619"/>
                    <a:pt x="572" y="619"/>
                  </a:cubicBezTo>
                  <a:cubicBezTo>
                    <a:pt x="580" y="619"/>
                    <a:pt x="588" y="615"/>
                    <a:pt x="595" y="607"/>
                  </a:cubicBezTo>
                  <a:cubicBezTo>
                    <a:pt x="602" y="599"/>
                    <a:pt x="606" y="587"/>
                    <a:pt x="606" y="575"/>
                  </a:cubicBezTo>
                  <a:cubicBezTo>
                    <a:pt x="606" y="80"/>
                    <a:pt x="606" y="80"/>
                    <a:pt x="606" y="80"/>
                  </a:cubicBezTo>
                  <a:cubicBezTo>
                    <a:pt x="606" y="68"/>
                    <a:pt x="602" y="56"/>
                    <a:pt x="595" y="48"/>
                  </a:cubicBezTo>
                  <a:cubicBezTo>
                    <a:pt x="588" y="40"/>
                    <a:pt x="580" y="36"/>
                    <a:pt x="572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37" y="36"/>
                    <a:pt x="529" y="28"/>
                    <a:pt x="529" y="18"/>
                  </a:cubicBezTo>
                  <a:cubicBezTo>
                    <a:pt x="529" y="8"/>
                    <a:pt x="537" y="0"/>
                    <a:pt x="547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1" y="0"/>
                    <a:pt x="609" y="9"/>
                    <a:pt x="622" y="25"/>
                  </a:cubicBezTo>
                  <a:cubicBezTo>
                    <a:pt x="635" y="40"/>
                    <a:pt x="642" y="60"/>
                    <a:pt x="642" y="80"/>
                  </a:cubicBezTo>
                  <a:cubicBezTo>
                    <a:pt x="642" y="575"/>
                    <a:pt x="642" y="575"/>
                    <a:pt x="642" y="575"/>
                  </a:cubicBezTo>
                  <a:cubicBezTo>
                    <a:pt x="642" y="596"/>
                    <a:pt x="635" y="615"/>
                    <a:pt x="622" y="630"/>
                  </a:cubicBezTo>
                  <a:cubicBezTo>
                    <a:pt x="609" y="646"/>
                    <a:pt x="591" y="655"/>
                    <a:pt x="572" y="655"/>
                  </a:cubicBezTo>
                  <a:close/>
                  <a:moveTo>
                    <a:pt x="418" y="36"/>
                  </a:moveTo>
                  <a:cubicBezTo>
                    <a:pt x="224" y="36"/>
                    <a:pt x="224" y="36"/>
                    <a:pt x="224" y="36"/>
                  </a:cubicBezTo>
                  <a:cubicBezTo>
                    <a:pt x="214" y="36"/>
                    <a:pt x="206" y="28"/>
                    <a:pt x="206" y="18"/>
                  </a:cubicBezTo>
                  <a:cubicBezTo>
                    <a:pt x="206" y="8"/>
                    <a:pt x="214" y="0"/>
                    <a:pt x="224" y="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428" y="0"/>
                    <a:pt x="436" y="8"/>
                    <a:pt x="436" y="18"/>
                  </a:cubicBezTo>
                  <a:cubicBezTo>
                    <a:pt x="436" y="28"/>
                    <a:pt x="428" y="36"/>
                    <a:pt x="4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6" name="Freeform 61">
              <a:extLst>
                <a:ext uri="{FF2B5EF4-FFF2-40B4-BE49-F238E27FC236}">
                  <a16:creationId xmlns:a16="http://schemas.microsoft.com/office/drawing/2014/main" id="{42E249E5-CB8F-49AB-ACAC-32DC1584A0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" y="1985"/>
              <a:ext cx="146" cy="64"/>
            </a:xfrm>
            <a:custGeom>
              <a:avLst/>
              <a:gdLst>
                <a:gd name="T0" fmla="*/ 18 w 357"/>
                <a:gd name="T1" fmla="*/ 0 h 157"/>
                <a:gd name="T2" fmla="*/ 36 w 357"/>
                <a:gd name="T3" fmla="*/ 18 h 157"/>
                <a:gd name="T4" fmla="*/ 36 w 357"/>
                <a:gd name="T5" fmla="*/ 139 h 157"/>
                <a:gd name="T6" fmla="*/ 18 w 357"/>
                <a:gd name="T7" fmla="*/ 157 h 157"/>
                <a:gd name="T8" fmla="*/ 0 w 357"/>
                <a:gd name="T9" fmla="*/ 139 h 157"/>
                <a:gd name="T10" fmla="*/ 0 w 357"/>
                <a:gd name="T11" fmla="*/ 18 h 157"/>
                <a:gd name="T12" fmla="*/ 18 w 357"/>
                <a:gd name="T13" fmla="*/ 0 h 157"/>
                <a:gd name="T14" fmla="*/ 339 w 357"/>
                <a:gd name="T15" fmla="*/ 0 h 157"/>
                <a:gd name="T16" fmla="*/ 357 w 357"/>
                <a:gd name="T17" fmla="*/ 18 h 157"/>
                <a:gd name="T18" fmla="*/ 357 w 357"/>
                <a:gd name="T19" fmla="*/ 139 h 157"/>
                <a:gd name="T20" fmla="*/ 339 w 357"/>
                <a:gd name="T21" fmla="*/ 157 h 157"/>
                <a:gd name="T22" fmla="*/ 321 w 357"/>
                <a:gd name="T23" fmla="*/ 139 h 157"/>
                <a:gd name="T24" fmla="*/ 321 w 357"/>
                <a:gd name="T25" fmla="*/ 18 h 157"/>
                <a:gd name="T26" fmla="*/ 339 w 357"/>
                <a:gd name="T2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157">
                  <a:moveTo>
                    <a:pt x="18" y="0"/>
                  </a:moveTo>
                  <a:cubicBezTo>
                    <a:pt x="28" y="0"/>
                    <a:pt x="36" y="8"/>
                    <a:pt x="36" y="18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6" y="149"/>
                    <a:pt x="28" y="157"/>
                    <a:pt x="18" y="157"/>
                  </a:cubicBezTo>
                  <a:cubicBezTo>
                    <a:pt x="8" y="157"/>
                    <a:pt x="0" y="149"/>
                    <a:pt x="0" y="1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339" y="0"/>
                  </a:moveTo>
                  <a:cubicBezTo>
                    <a:pt x="349" y="0"/>
                    <a:pt x="357" y="8"/>
                    <a:pt x="357" y="1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7" y="149"/>
                    <a:pt x="349" y="157"/>
                    <a:pt x="339" y="157"/>
                  </a:cubicBezTo>
                  <a:cubicBezTo>
                    <a:pt x="329" y="157"/>
                    <a:pt x="321" y="149"/>
                    <a:pt x="321" y="139"/>
                  </a:cubicBezTo>
                  <a:cubicBezTo>
                    <a:pt x="321" y="18"/>
                    <a:pt x="321" y="18"/>
                    <a:pt x="321" y="18"/>
                  </a:cubicBezTo>
                  <a:cubicBezTo>
                    <a:pt x="321" y="8"/>
                    <a:pt x="329" y="0"/>
                    <a:pt x="3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7" name="Freeform 62">
              <a:extLst>
                <a:ext uri="{FF2B5EF4-FFF2-40B4-BE49-F238E27FC236}">
                  <a16:creationId xmlns:a16="http://schemas.microsoft.com/office/drawing/2014/main" id="{45829222-856C-4259-9584-C856FD8F1A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4" y="2044"/>
              <a:ext cx="246" cy="183"/>
            </a:xfrm>
            <a:custGeom>
              <a:avLst/>
              <a:gdLst>
                <a:gd name="T0" fmla="*/ 0 w 603"/>
                <a:gd name="T1" fmla="*/ 18 h 450"/>
                <a:gd name="T2" fmla="*/ 18 w 603"/>
                <a:gd name="T3" fmla="*/ 0 h 450"/>
                <a:gd name="T4" fmla="*/ 585 w 603"/>
                <a:gd name="T5" fmla="*/ 0 h 450"/>
                <a:gd name="T6" fmla="*/ 603 w 603"/>
                <a:gd name="T7" fmla="*/ 18 h 450"/>
                <a:gd name="T8" fmla="*/ 585 w 603"/>
                <a:gd name="T9" fmla="*/ 36 h 450"/>
                <a:gd name="T10" fmla="*/ 18 w 603"/>
                <a:gd name="T11" fmla="*/ 36 h 450"/>
                <a:gd name="T12" fmla="*/ 0 w 603"/>
                <a:gd name="T13" fmla="*/ 18 h 450"/>
                <a:gd name="T14" fmla="*/ 306 w 603"/>
                <a:gd name="T15" fmla="*/ 450 h 450"/>
                <a:gd name="T16" fmla="*/ 184 w 603"/>
                <a:gd name="T17" fmla="*/ 400 h 450"/>
                <a:gd name="T18" fmla="*/ 134 w 603"/>
                <a:gd name="T19" fmla="*/ 279 h 450"/>
                <a:gd name="T20" fmla="*/ 184 w 603"/>
                <a:gd name="T21" fmla="*/ 158 h 450"/>
                <a:gd name="T22" fmla="*/ 306 w 603"/>
                <a:gd name="T23" fmla="*/ 107 h 450"/>
                <a:gd name="T24" fmla="*/ 324 w 603"/>
                <a:gd name="T25" fmla="*/ 125 h 450"/>
                <a:gd name="T26" fmla="*/ 306 w 603"/>
                <a:gd name="T27" fmla="*/ 143 h 450"/>
                <a:gd name="T28" fmla="*/ 170 w 603"/>
                <a:gd name="T29" fmla="*/ 279 h 450"/>
                <a:gd name="T30" fmla="*/ 306 w 603"/>
                <a:gd name="T31" fmla="*/ 414 h 450"/>
                <a:gd name="T32" fmla="*/ 441 w 603"/>
                <a:gd name="T33" fmla="*/ 279 h 450"/>
                <a:gd name="T34" fmla="*/ 459 w 603"/>
                <a:gd name="T35" fmla="*/ 261 h 450"/>
                <a:gd name="T36" fmla="*/ 477 w 603"/>
                <a:gd name="T37" fmla="*/ 279 h 450"/>
                <a:gd name="T38" fmla="*/ 427 w 603"/>
                <a:gd name="T39" fmla="*/ 400 h 450"/>
                <a:gd name="T40" fmla="*/ 306 w 603"/>
                <a:gd name="T41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3" h="450">
                  <a:moveTo>
                    <a:pt x="0" y="18"/>
                  </a:moveTo>
                  <a:cubicBezTo>
                    <a:pt x="0" y="8"/>
                    <a:pt x="8" y="0"/>
                    <a:pt x="18" y="0"/>
                  </a:cubicBezTo>
                  <a:cubicBezTo>
                    <a:pt x="585" y="0"/>
                    <a:pt x="585" y="0"/>
                    <a:pt x="585" y="0"/>
                  </a:cubicBezTo>
                  <a:cubicBezTo>
                    <a:pt x="595" y="0"/>
                    <a:pt x="603" y="8"/>
                    <a:pt x="603" y="18"/>
                  </a:cubicBezTo>
                  <a:cubicBezTo>
                    <a:pt x="603" y="28"/>
                    <a:pt x="595" y="36"/>
                    <a:pt x="585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lose/>
                  <a:moveTo>
                    <a:pt x="306" y="450"/>
                  </a:moveTo>
                  <a:cubicBezTo>
                    <a:pt x="260" y="450"/>
                    <a:pt x="217" y="433"/>
                    <a:pt x="184" y="400"/>
                  </a:cubicBezTo>
                  <a:cubicBezTo>
                    <a:pt x="152" y="368"/>
                    <a:pt x="134" y="325"/>
                    <a:pt x="134" y="279"/>
                  </a:cubicBezTo>
                  <a:cubicBezTo>
                    <a:pt x="134" y="233"/>
                    <a:pt x="152" y="190"/>
                    <a:pt x="184" y="158"/>
                  </a:cubicBezTo>
                  <a:cubicBezTo>
                    <a:pt x="217" y="125"/>
                    <a:pt x="260" y="107"/>
                    <a:pt x="306" y="107"/>
                  </a:cubicBezTo>
                  <a:cubicBezTo>
                    <a:pt x="316" y="107"/>
                    <a:pt x="324" y="115"/>
                    <a:pt x="324" y="125"/>
                  </a:cubicBezTo>
                  <a:cubicBezTo>
                    <a:pt x="324" y="135"/>
                    <a:pt x="316" y="143"/>
                    <a:pt x="306" y="143"/>
                  </a:cubicBezTo>
                  <a:cubicBezTo>
                    <a:pt x="231" y="143"/>
                    <a:pt x="170" y="204"/>
                    <a:pt x="170" y="279"/>
                  </a:cubicBezTo>
                  <a:cubicBezTo>
                    <a:pt x="170" y="354"/>
                    <a:pt x="231" y="414"/>
                    <a:pt x="306" y="414"/>
                  </a:cubicBezTo>
                  <a:cubicBezTo>
                    <a:pt x="380" y="414"/>
                    <a:pt x="441" y="354"/>
                    <a:pt x="441" y="279"/>
                  </a:cubicBezTo>
                  <a:cubicBezTo>
                    <a:pt x="441" y="269"/>
                    <a:pt x="449" y="261"/>
                    <a:pt x="459" y="261"/>
                  </a:cubicBezTo>
                  <a:cubicBezTo>
                    <a:pt x="469" y="261"/>
                    <a:pt x="477" y="269"/>
                    <a:pt x="477" y="279"/>
                  </a:cubicBezTo>
                  <a:cubicBezTo>
                    <a:pt x="477" y="325"/>
                    <a:pt x="459" y="368"/>
                    <a:pt x="427" y="400"/>
                  </a:cubicBezTo>
                  <a:cubicBezTo>
                    <a:pt x="395" y="433"/>
                    <a:pt x="351" y="450"/>
                    <a:pt x="30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8" name="Freeform 63">
              <a:extLst>
                <a:ext uri="{FF2B5EF4-FFF2-40B4-BE49-F238E27FC236}">
                  <a16:creationId xmlns:a16="http://schemas.microsoft.com/office/drawing/2014/main" id="{6571DE4D-C05A-45D1-8431-0F042F30CA2C}"/>
                </a:ext>
              </a:extLst>
            </p:cNvPr>
            <p:cNvSpPr/>
            <p:nvPr/>
          </p:nvSpPr>
          <p:spPr bwMode="auto">
            <a:xfrm>
              <a:off x="1193" y="2088"/>
              <a:ext cx="53" cy="72"/>
            </a:xfrm>
            <a:custGeom>
              <a:avLst/>
              <a:gdLst>
                <a:gd name="T0" fmla="*/ 113 w 131"/>
                <a:gd name="T1" fmla="*/ 176 h 176"/>
                <a:gd name="T2" fmla="*/ 18 w 131"/>
                <a:gd name="T3" fmla="*/ 176 h 176"/>
                <a:gd name="T4" fmla="*/ 0 w 131"/>
                <a:gd name="T5" fmla="*/ 158 h 176"/>
                <a:gd name="T6" fmla="*/ 0 w 131"/>
                <a:gd name="T7" fmla="*/ 18 h 176"/>
                <a:gd name="T8" fmla="*/ 18 w 131"/>
                <a:gd name="T9" fmla="*/ 0 h 176"/>
                <a:gd name="T10" fmla="*/ 36 w 131"/>
                <a:gd name="T11" fmla="*/ 18 h 176"/>
                <a:gd name="T12" fmla="*/ 36 w 131"/>
                <a:gd name="T13" fmla="*/ 140 h 176"/>
                <a:gd name="T14" fmla="*/ 113 w 131"/>
                <a:gd name="T15" fmla="*/ 140 h 176"/>
                <a:gd name="T16" fmla="*/ 131 w 131"/>
                <a:gd name="T17" fmla="*/ 158 h 176"/>
                <a:gd name="T18" fmla="*/ 113 w 131"/>
                <a:gd name="T1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176">
                  <a:moveTo>
                    <a:pt x="113" y="176"/>
                  </a:moveTo>
                  <a:cubicBezTo>
                    <a:pt x="18" y="176"/>
                    <a:pt x="18" y="176"/>
                    <a:pt x="18" y="176"/>
                  </a:cubicBezTo>
                  <a:cubicBezTo>
                    <a:pt x="8" y="176"/>
                    <a:pt x="0" y="168"/>
                    <a:pt x="0" y="15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23" y="140"/>
                    <a:pt x="131" y="148"/>
                    <a:pt x="131" y="158"/>
                  </a:cubicBezTo>
                  <a:cubicBezTo>
                    <a:pt x="131" y="168"/>
                    <a:pt x="123" y="176"/>
                    <a:pt x="113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grpSp>
        <p:nvGrpSpPr>
          <p:cNvPr id="19" name="Group 66">
            <a:extLst>
              <a:ext uri="{FF2B5EF4-FFF2-40B4-BE49-F238E27FC236}">
                <a16:creationId xmlns:a16="http://schemas.microsoft.com/office/drawing/2014/main" id="{8DB7D7DD-8C2E-4A99-91AF-824436473C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8151" y="4542797"/>
            <a:ext cx="256116" cy="277284"/>
            <a:chOff x="2111" y="2322"/>
            <a:chExt cx="121" cy="131"/>
          </a:xfrm>
          <a:solidFill>
            <a:schemeClr val="bg1"/>
          </a:solidFill>
        </p:grpSpPr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B81DA5CE-3648-48AA-BC46-E7EEFE7F991E}"/>
                </a:ext>
              </a:extLst>
            </p:cNvPr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70B9B73D-CC92-47F4-B10B-7BEF81CCB6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BB95EC14-8991-42D2-BEE7-A1D609F92B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24827FE4-A38E-4098-90F1-DEDD3D57A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02" y="1500644"/>
            <a:ext cx="3336043" cy="112776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F3F82DFB-DABC-4C09-A048-B2D7309D498E}"/>
              </a:ext>
            </a:extLst>
          </p:cNvPr>
          <p:cNvSpPr/>
          <p:nvPr/>
        </p:nvSpPr>
        <p:spPr>
          <a:xfrm>
            <a:off x="3469024" y="3707404"/>
            <a:ext cx="583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 dirty="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华中科技大学 </a:t>
            </a:r>
            <a:r>
              <a:rPr lang="en-US" altLang="zh-CN" sz="2000" spc="300" dirty="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 ROS</a:t>
            </a:r>
            <a:r>
              <a:rPr lang="zh-CN" altLang="en-US" sz="2000" spc="300" dirty="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创新实践教学 </a:t>
            </a:r>
          </a:p>
        </p:txBody>
      </p:sp>
      <p:pic>
        <p:nvPicPr>
          <p:cNvPr id="25" name="图片 3">
            <a:extLst>
              <a:ext uri="{FF2B5EF4-FFF2-40B4-BE49-F238E27FC236}">
                <a16:creationId xmlns:a16="http://schemas.microsoft.com/office/drawing/2014/main" id="{446FF6E1-FEED-440C-B58F-4B020DE25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468" y="1467978"/>
            <a:ext cx="4099134" cy="1152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374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A972E024-6202-4FB3-B06C-155CE4F7AE80}"/>
              </a:ext>
            </a:extLst>
          </p:cNvPr>
          <p:cNvSpPr/>
          <p:nvPr/>
        </p:nvSpPr>
        <p:spPr>
          <a:xfrm flipH="1">
            <a:off x="5009201" y="3032168"/>
            <a:ext cx="3913418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双目相机和识别程序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E5951F0E-974D-4BA3-877D-F120227A06AC}"/>
              </a:ext>
            </a:extLst>
          </p:cNvPr>
          <p:cNvSpPr/>
          <p:nvPr/>
        </p:nvSpPr>
        <p:spPr>
          <a:xfrm flipH="1">
            <a:off x="1313894" y="2060318"/>
            <a:ext cx="2266703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前置连接</a:t>
            </a:r>
          </a:p>
        </p:txBody>
      </p:sp>
      <p:sp>
        <p:nvSpPr>
          <p:cNvPr id="5" name=" 160">
            <a:extLst>
              <a:ext uri="{FF2B5EF4-FFF2-40B4-BE49-F238E27FC236}">
                <a16:creationId xmlns:a16="http://schemas.microsoft.com/office/drawing/2014/main" id="{548E59DA-08E8-4157-B990-989FC360A838}"/>
              </a:ext>
            </a:extLst>
          </p:cNvPr>
          <p:cNvSpPr/>
          <p:nvPr/>
        </p:nvSpPr>
        <p:spPr>
          <a:xfrm rot="10800000" flipH="1">
            <a:off x="3969648" y="2526957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箭头: 五边形 12">
            <a:extLst>
              <a:ext uri="{FF2B5EF4-FFF2-40B4-BE49-F238E27FC236}">
                <a16:creationId xmlns:a16="http://schemas.microsoft.com/office/drawing/2014/main" id="{56F161E6-65DE-4F69-9A0B-17B7B1168F8F}"/>
              </a:ext>
            </a:extLst>
          </p:cNvPr>
          <p:cNvSpPr/>
          <p:nvPr/>
        </p:nvSpPr>
        <p:spPr>
          <a:xfrm>
            <a:off x="1109711" y="2060318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前期</a:t>
            </a:r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99DC91C8-FC34-48C3-8F2F-326DF1FCE2F9}"/>
              </a:ext>
            </a:extLst>
          </p:cNvPr>
          <p:cNvSpPr/>
          <p:nvPr/>
        </p:nvSpPr>
        <p:spPr>
          <a:xfrm>
            <a:off x="4831650" y="3032168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sp>
        <p:nvSpPr>
          <p:cNvPr id="24" name="箭头: 五边形 23">
            <a:extLst>
              <a:ext uri="{FF2B5EF4-FFF2-40B4-BE49-F238E27FC236}">
                <a16:creationId xmlns:a16="http://schemas.microsoft.com/office/drawing/2014/main" id="{6E63A3A9-EC19-4021-82BB-B3CA9981BF0E}"/>
              </a:ext>
            </a:extLst>
          </p:cNvPr>
          <p:cNvSpPr/>
          <p:nvPr/>
        </p:nvSpPr>
        <p:spPr>
          <a:xfrm flipH="1">
            <a:off x="8347972" y="4538863"/>
            <a:ext cx="256707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检验效果</a:t>
            </a: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319F14D5-D909-4117-8E8F-88C063371240}"/>
              </a:ext>
            </a:extLst>
          </p:cNvPr>
          <p:cNvSpPr/>
          <p:nvPr/>
        </p:nvSpPr>
        <p:spPr>
          <a:xfrm>
            <a:off x="8170423" y="4538863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</a:p>
        </p:txBody>
      </p:sp>
      <p:sp>
        <p:nvSpPr>
          <p:cNvPr id="28" name=" 160">
            <a:extLst>
              <a:ext uri="{FF2B5EF4-FFF2-40B4-BE49-F238E27FC236}">
                <a16:creationId xmlns:a16="http://schemas.microsoft.com/office/drawing/2014/main" id="{F85EBE64-3361-4FB0-907A-C172A01672AE}"/>
              </a:ext>
            </a:extLst>
          </p:cNvPr>
          <p:cNvSpPr/>
          <p:nvPr/>
        </p:nvSpPr>
        <p:spPr>
          <a:xfrm rot="10800000" flipH="1">
            <a:off x="6900916" y="3884812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" name="箭头: 五边形 29">
            <a:extLst>
              <a:ext uri="{FF2B5EF4-FFF2-40B4-BE49-F238E27FC236}">
                <a16:creationId xmlns:a16="http://schemas.microsoft.com/office/drawing/2014/main" id="{192A7DFA-75C9-4D95-92AC-B02AB902629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箭头: 五边形 30">
            <a:extLst>
              <a:ext uri="{FF2B5EF4-FFF2-40B4-BE49-F238E27FC236}">
                <a16:creationId xmlns:a16="http://schemas.microsoft.com/office/drawing/2014/main" id="{25A45A79-F2E6-428E-8FFA-1F5F36C3FAE3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　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338882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3" grpId="0" animBg="1"/>
      <p:bldP spid="14" grpId="0" animBg="1"/>
      <p:bldP spid="24" grpId="0" animBg="1"/>
      <p:bldP spid="25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3138471"/>
            <a:ext cx="12192000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参考实验二建立主机与小车间的连接，并在小车端调用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Turtlebot3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　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建立主机与小车的连接</a:t>
            </a:r>
          </a:p>
        </p:txBody>
      </p:sp>
    </p:spTree>
    <p:extLst>
      <p:ext uri="{BB962C8B-B14F-4D97-AF65-F5344CB8AC3E}">
        <p14:creationId xmlns:p14="http://schemas.microsoft.com/office/powerpoint/2010/main" val="89861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A8FE8FFF-D157-4704-9B26-ACF68878BBFD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31B45A3B-3FCA-4BF0-A022-2D03DD48D4F9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　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双目相机和识别程序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小车运行双目相机程序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4BA40E-84B8-414C-9864-631C2E39CEF9}"/>
              </a:ext>
            </a:extLst>
          </p:cNvPr>
          <p:cNvSpPr txBox="1"/>
          <p:nvPr/>
        </p:nvSpPr>
        <p:spPr>
          <a:xfrm>
            <a:off x="8878" y="1880385"/>
            <a:ext cx="12183122" cy="39050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小车端运行双目相机程序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roslaunch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orbbec_camera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gemini.launch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这个命令是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（机器人操作系统）中用于启动奥比中光（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Orbbec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Gemini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系列深度相机驱动的核心命令，其作用是加载并运行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orbbec_camera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功能包下名为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gemini.launch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的启动文件，一键完成相机驱动节点的初始化、硬件参数配置、话题发布（如彩色图像、深度图像、点云等）以及相关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节点的启动。后续主机的限速牌识别程序会从该功能包发布的话题中获得图像。</a:t>
            </a:r>
          </a:p>
        </p:txBody>
      </p:sp>
    </p:spTree>
    <p:extLst>
      <p:ext uri="{BB962C8B-B14F-4D97-AF65-F5344CB8AC3E}">
        <p14:creationId xmlns:p14="http://schemas.microsoft.com/office/powerpoint/2010/main" val="359433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BCF8AA12-3F94-4560-973B-EAA412D4203E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　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双目相机和识别程序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主机运行限速牌识别程序</a:t>
            </a:r>
          </a:p>
        </p:txBody>
      </p:sp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D6261EFA-82ED-4536-BFDD-7653F51DB353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B4ACBC-E315-4590-B01D-F8DCD43789BF}"/>
              </a:ext>
            </a:extLst>
          </p:cNvPr>
          <p:cNvSpPr txBox="1"/>
          <p:nvPr/>
        </p:nvSpPr>
        <p:spPr>
          <a:xfrm>
            <a:off x="-7402" y="1321067"/>
            <a:ext cx="12183122" cy="2243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进入限速牌识别程序目录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/home/s/test/Hand_wrtten-master</a:t>
            </a:r>
          </a:p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运行运行限速牌识别程序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python3 get_num.py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BD17F9-BE34-3335-91DC-AA520FCD1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00" y="3741904"/>
            <a:ext cx="5319178" cy="2915117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810471B1-FFAD-E78A-6B70-26C1B7694BFE}"/>
              </a:ext>
            </a:extLst>
          </p:cNvPr>
          <p:cNvSpPr/>
          <p:nvPr/>
        </p:nvSpPr>
        <p:spPr>
          <a:xfrm flipH="1">
            <a:off x="5796560" y="3748703"/>
            <a:ext cx="5051112" cy="2759681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如果没有出现视频框需要检查小车与主机间是否能够正常通信，因为该视频流是</a:t>
            </a:r>
            <a:r>
              <a:rPr lang="en-US" altLang="zh-CN" sz="2000" dirty="0"/>
              <a:t>get_num.py</a:t>
            </a:r>
            <a:r>
              <a:rPr lang="zh-CN" altLang="en-US" sz="2000" dirty="0"/>
              <a:t>通过小车端发布的</a:t>
            </a:r>
            <a:r>
              <a:rPr lang="en-US" altLang="zh-CN" sz="2000" dirty="0" err="1"/>
              <a:t>ros</a:t>
            </a:r>
            <a:r>
              <a:rPr lang="zh-CN" altLang="en-US" sz="2000" dirty="0"/>
              <a:t>话题获取的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50816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　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检验效果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8D41EB-DAD6-4D60-9336-041246126837}"/>
              </a:ext>
            </a:extLst>
          </p:cNvPr>
          <p:cNvSpPr txBox="1"/>
          <p:nvPr/>
        </p:nvSpPr>
        <p:spPr>
          <a:xfrm>
            <a:off x="0" y="1236492"/>
            <a:ext cx="7045693" cy="4459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让小车识别不同限速牌，观察卷积处理后的图像和小车速度。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、可以用平板、电脑等打开图片来充当限速牌。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、将小车和限速牌放在宽阔场地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、让双目相机对准限速牌，使主机显示的双目相机拍摄画面中能看到限速牌。小车会识别限速牌并按照识别速度运行。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、改变限速牌图片，观察小车速度。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CF5F964-A250-78E3-F165-3D766BCB0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052" y="1371533"/>
            <a:ext cx="4327740" cy="4211120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4F169D41-2BFE-D822-700D-A42917452B92}"/>
              </a:ext>
            </a:extLst>
          </p:cNvPr>
          <p:cNvSpPr/>
          <p:nvPr/>
        </p:nvSpPr>
        <p:spPr>
          <a:xfrm flipH="1">
            <a:off x="7557710" y="5337420"/>
            <a:ext cx="3973082" cy="967676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这里使用平板充当限速牌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43846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　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检验效果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F12C443-FDAE-47BF-1935-4159BE8361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69" y="1314670"/>
            <a:ext cx="1916951" cy="191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F6D0EC2-BF53-F24A-1008-6B4A38799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049" y="2204208"/>
            <a:ext cx="8543258" cy="38089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A36B15F-1DEE-AF96-A24A-C3C34586B201}"/>
              </a:ext>
            </a:extLst>
          </p:cNvPr>
          <p:cNvSpPr txBox="1"/>
          <p:nvPr/>
        </p:nvSpPr>
        <p:spPr>
          <a:xfrm>
            <a:off x="2926080" y="1314670"/>
            <a:ext cx="9265920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下面展示三种不同限速牌的识别结果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81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DDCFA-8C66-2A33-0ED8-5B3C44B8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75392B8C-47D4-F8B6-7591-A263D3204ABE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B75770BA-C52A-04A1-B4FE-78F15386A05B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　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检验效果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E9A50A-BD01-E90A-1C56-30F5559B34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93" y="1324296"/>
            <a:ext cx="1948294" cy="1948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268C979-A78C-AD83-826A-D73AF0C6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680" y="2208029"/>
            <a:ext cx="8524006" cy="377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01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3E83C-8F5B-472F-0C84-6255C56D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C20DEA8D-B5A2-FA3E-CAF0-6DF4FCD85FA4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772FE595-F9CE-6EFA-80AA-011010F66D4D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　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检验效果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266CA2-C639-9A6F-88FC-6542D549C3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27" y="1525036"/>
            <a:ext cx="1922934" cy="1922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1F782E-5809-DB68-FF33-17BD628A5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935" y="2076767"/>
            <a:ext cx="8870336" cy="391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05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远程控制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8B086D-A1C2-4448-B0F4-A9657BDBBA51}"/>
              </a:ext>
            </a:extLst>
          </p:cNvPr>
          <p:cNvSpPr txBox="1"/>
          <p:nvPr/>
        </p:nvSpPr>
        <p:spPr>
          <a:xfrm>
            <a:off x="0" y="2082913"/>
            <a:ext cx="12183122" cy="1689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实验中我们发现，对速度为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80km/h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限速牌中的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进行了虚线化后，系统将其值错误识别为了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8km/h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。当虚线化程度较轻，即虚线块大小控制在合理范围内时，小车能正确识别限速牌的值。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6785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F0181567-F7D0-4343-B7C1-211F743C570C}"/>
              </a:ext>
            </a:extLst>
          </p:cNvPr>
          <p:cNvSpPr/>
          <p:nvPr/>
        </p:nvSpPr>
        <p:spPr>
          <a:xfrm>
            <a:off x="2541588" y="0"/>
            <a:ext cx="6907213" cy="5676900"/>
          </a:xfrm>
          <a:prstGeom prst="triangle">
            <a:avLst/>
          </a:prstGeom>
          <a:noFill/>
          <a:ln>
            <a:solidFill>
              <a:schemeClr val="accent1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A816B2B-96F0-4A05-A735-0D991F8E5595}"/>
              </a:ext>
            </a:extLst>
          </p:cNvPr>
          <p:cNvSpPr/>
          <p:nvPr/>
        </p:nvSpPr>
        <p:spPr>
          <a:xfrm rot="10800000">
            <a:off x="3059113" y="1319213"/>
            <a:ext cx="6008688" cy="4416425"/>
          </a:xfrm>
          <a:prstGeom prst="triangle">
            <a:avLst/>
          </a:prstGeom>
          <a:noFill/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等腰三角形 10">
            <a:extLst>
              <a:ext uri="{FF2B5EF4-FFF2-40B4-BE49-F238E27FC236}">
                <a16:creationId xmlns:a16="http://schemas.microsoft.com/office/drawing/2014/main" id="{3B034A26-43F6-4F69-9BE0-2D399A996E2A}"/>
              </a:ext>
            </a:extLst>
          </p:cNvPr>
          <p:cNvSpPr/>
          <p:nvPr/>
        </p:nvSpPr>
        <p:spPr>
          <a:xfrm rot="7016274">
            <a:off x="1935163" y="454025"/>
            <a:ext cx="3770313" cy="6859588"/>
          </a:xfrm>
          <a:custGeom>
            <a:avLst/>
            <a:gdLst>
              <a:gd name="connsiteX0" fmla="*/ 0 w 7540399"/>
              <a:gd name="connsiteY0" fmla="*/ 6859430 h 6859430"/>
              <a:gd name="connsiteX1" fmla="*/ 3770200 w 7540399"/>
              <a:gd name="connsiteY1" fmla="*/ 0 h 6859430"/>
              <a:gd name="connsiteX2" fmla="*/ 7540399 w 7540399"/>
              <a:gd name="connsiteY2" fmla="*/ 6859430 h 6859430"/>
              <a:gd name="connsiteX3" fmla="*/ 0 w 7540399"/>
              <a:gd name="connsiteY3" fmla="*/ 6859430 h 6859430"/>
              <a:gd name="connsiteX0-1" fmla="*/ 0 w 3770200"/>
              <a:gd name="connsiteY0-2" fmla="*/ 6859430 h 6859430"/>
              <a:gd name="connsiteX1-3" fmla="*/ 3770200 w 3770200"/>
              <a:gd name="connsiteY1-4" fmla="*/ 0 h 6859430"/>
              <a:gd name="connsiteX2-5" fmla="*/ 0 w 3770200"/>
              <a:gd name="connsiteY2-6" fmla="*/ 6859430 h 68594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770200" h="6859430">
                <a:moveTo>
                  <a:pt x="0" y="6859430"/>
                </a:moveTo>
                <a:lnTo>
                  <a:pt x="3770200" y="0"/>
                </a:lnTo>
                <a:lnTo>
                  <a:pt x="0" y="6859430"/>
                </a:lnTo>
                <a:close/>
              </a:path>
            </a:pathLst>
          </a:custGeom>
          <a:solidFill>
            <a:schemeClr val="accent1"/>
          </a:solidFill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任意多边形 2">
            <a:extLst>
              <a:ext uri="{FF2B5EF4-FFF2-40B4-BE49-F238E27FC236}">
                <a16:creationId xmlns:a16="http://schemas.microsoft.com/office/drawing/2014/main" id="{B3DB9AA0-A04A-46A5-9CE6-6652CFE84DB2}"/>
              </a:ext>
            </a:extLst>
          </p:cNvPr>
          <p:cNvSpPr/>
          <p:nvPr/>
        </p:nvSpPr>
        <p:spPr>
          <a:xfrm rot="11211390">
            <a:off x="5659438" y="3959225"/>
            <a:ext cx="922338" cy="866775"/>
          </a:xfrm>
          <a:custGeom>
            <a:avLst/>
            <a:gdLst>
              <a:gd name="connsiteX0" fmla="*/ 0 w 2002971"/>
              <a:gd name="connsiteY0" fmla="*/ 1335314 h 1944914"/>
              <a:gd name="connsiteX1" fmla="*/ 783771 w 2002971"/>
              <a:gd name="connsiteY1" fmla="*/ 0 h 1944914"/>
              <a:gd name="connsiteX2" fmla="*/ 2002971 w 2002971"/>
              <a:gd name="connsiteY2" fmla="*/ 1944914 h 1944914"/>
              <a:gd name="connsiteX0-1" fmla="*/ 0 w 1416184"/>
              <a:gd name="connsiteY0-2" fmla="*/ 1335314 h 1335314"/>
              <a:gd name="connsiteX1-3" fmla="*/ 783771 w 1416184"/>
              <a:gd name="connsiteY1-4" fmla="*/ 0 h 1335314"/>
              <a:gd name="connsiteX2-5" fmla="*/ 1416184 w 1416184"/>
              <a:gd name="connsiteY2-6" fmla="*/ 970990 h 13353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416184" h="1335314">
                <a:moveTo>
                  <a:pt x="0" y="1335314"/>
                </a:moveTo>
                <a:lnTo>
                  <a:pt x="783771" y="0"/>
                </a:lnTo>
                <a:lnTo>
                  <a:pt x="1416184" y="970990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20">
            <a:extLst>
              <a:ext uri="{FF2B5EF4-FFF2-40B4-BE49-F238E27FC236}">
                <a16:creationId xmlns:a16="http://schemas.microsoft.com/office/drawing/2014/main" id="{BE6523AF-051A-4B4A-8B17-B5BBFFAEAC0E}"/>
              </a:ext>
            </a:extLst>
          </p:cNvPr>
          <p:cNvSpPr/>
          <p:nvPr/>
        </p:nvSpPr>
        <p:spPr>
          <a:xfrm rot="11211631">
            <a:off x="4587875" y="2082800"/>
            <a:ext cx="2930525" cy="1257300"/>
          </a:xfrm>
          <a:custGeom>
            <a:avLst/>
            <a:gdLst>
              <a:gd name="connsiteX0" fmla="*/ 4209143 w 5297714"/>
              <a:gd name="connsiteY0" fmla="*/ 0 h 1770743"/>
              <a:gd name="connsiteX1" fmla="*/ 5297714 w 5297714"/>
              <a:gd name="connsiteY1" fmla="*/ 1770743 h 1770743"/>
              <a:gd name="connsiteX2" fmla="*/ 0 w 5297714"/>
              <a:gd name="connsiteY2" fmla="*/ 1306286 h 1770743"/>
              <a:gd name="connsiteX3" fmla="*/ 769257 w 5297714"/>
              <a:gd name="connsiteY3" fmla="*/ 29029 h 1770743"/>
              <a:gd name="connsiteX0-1" fmla="*/ 4209143 w 5297714"/>
              <a:gd name="connsiteY0-2" fmla="*/ 0 h 1770743"/>
              <a:gd name="connsiteX1-3" fmla="*/ 5297714 w 5297714"/>
              <a:gd name="connsiteY1-4" fmla="*/ 1770743 h 1770743"/>
              <a:gd name="connsiteX2-5" fmla="*/ 0 w 5297714"/>
              <a:gd name="connsiteY2-6" fmla="*/ 1306286 h 1770743"/>
              <a:gd name="connsiteX3-7" fmla="*/ 562856 w 5297714"/>
              <a:gd name="connsiteY3-8" fmla="*/ 395863 h 1770743"/>
              <a:gd name="connsiteX0-9" fmla="*/ 3872553 w 5297714"/>
              <a:gd name="connsiteY0-10" fmla="*/ 0 h 2274831"/>
              <a:gd name="connsiteX1-11" fmla="*/ 5297714 w 5297714"/>
              <a:gd name="connsiteY1-12" fmla="*/ 2274831 h 2274831"/>
              <a:gd name="connsiteX2-13" fmla="*/ 0 w 5297714"/>
              <a:gd name="connsiteY2-14" fmla="*/ 1810374 h 2274831"/>
              <a:gd name="connsiteX3-15" fmla="*/ 562856 w 5297714"/>
              <a:gd name="connsiteY3-16" fmla="*/ 899951 h 22748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297714" h="2274831">
                <a:moveTo>
                  <a:pt x="3872553" y="0"/>
                </a:moveTo>
                <a:lnTo>
                  <a:pt x="5297714" y="2274831"/>
                </a:lnTo>
                <a:lnTo>
                  <a:pt x="0" y="1810374"/>
                </a:lnTo>
                <a:lnTo>
                  <a:pt x="562856" y="899951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F5EBEF3-F14D-45B5-AC9A-0AE10D94F43B}"/>
              </a:ext>
            </a:extLst>
          </p:cNvPr>
          <p:cNvSpPr txBox="1"/>
          <p:nvPr/>
        </p:nvSpPr>
        <p:spPr>
          <a:xfrm>
            <a:off x="2292350" y="3133725"/>
            <a:ext cx="789305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6000" b="1" kern="1200" cap="none" spc="300" normalizeH="0" baseline="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155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1">
            <a:lumMod val="20000"/>
            <a:lumOff val="80000"/>
          </a:schemeClr>
        </a:solidFill>
      </a:spPr>
      <a:bodyPr wrap="square" rtlCol="0">
        <a:spAutoFit/>
      </a:bodyPr>
      <a:lstStyle>
        <a:defPPr indent="457200" algn="l">
          <a:lnSpc>
            <a:spcPct val="150000"/>
          </a:lnSpc>
          <a:defRPr sz="240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1028</TotalTime>
  <Words>484</Words>
  <Application>Microsoft Office PowerPoint</Application>
  <PresentationFormat>宽屏</PresentationFormat>
  <Paragraphs>46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方正宋刻本秀楷简体</vt:lpstr>
      <vt:lpstr>方正准圆简体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申 珊靛</dc:creator>
  <cp:lastModifiedBy>挺畅 吴</cp:lastModifiedBy>
  <cp:revision>266</cp:revision>
  <dcterms:created xsi:type="dcterms:W3CDTF">2021-03-12T12:02:50Z</dcterms:created>
  <dcterms:modified xsi:type="dcterms:W3CDTF">2026-03-18T11:06:59Z</dcterms:modified>
</cp:coreProperties>
</file>