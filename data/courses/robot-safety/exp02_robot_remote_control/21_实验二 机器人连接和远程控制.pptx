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5" r:id="rId9"/>
    <p:sldId id="266" r:id="rId10"/>
    <p:sldId id="277" r:id="rId11"/>
    <p:sldId id="268" r:id="rId12"/>
    <p:sldId id="269" r:id="rId13"/>
    <p:sldId id="278" r:id="rId14"/>
    <p:sldId id="280" r:id="rId15"/>
    <p:sldId id="279" r:id="rId16"/>
    <p:sldId id="27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首页" id="{38910652-1D9F-45BF-BD71-1777E84EDD6F}">
          <p14:sldIdLst>
            <p14:sldId id="256"/>
          </p14:sldIdLst>
        </p14:section>
        <p14:section name="概述" id="{7DF12B08-F0B0-462C-A97E-B87E83D9806D}">
          <p14:sldIdLst>
            <p14:sldId id="257"/>
          </p14:sldIdLst>
        </p14:section>
        <p14:section name="1 连线" id="{50BD4C9C-BD31-4051-A6FE-DD72385D00F1}">
          <p14:sldIdLst>
            <p14:sldId id="259"/>
            <p14:sldId id="260"/>
            <p14:sldId id="261"/>
            <p14:sldId id="263"/>
          </p14:sldIdLst>
        </p14:section>
        <p14:section name="2 网络配置" id="{45933C4A-D6F9-4D7D-971E-3B55624CAFD5}">
          <p14:sldIdLst>
            <p14:sldId id="262"/>
            <p14:sldId id="265"/>
            <p14:sldId id="266"/>
            <p14:sldId id="277"/>
          </p14:sldIdLst>
        </p14:section>
        <p14:section name="3 远程控制" id="{0EF7C619-5AED-4E9D-8482-D6278461C313}">
          <p14:sldIdLst>
            <p14:sldId id="268"/>
            <p14:sldId id="269"/>
            <p14:sldId id="278"/>
            <p14:sldId id="280"/>
            <p14:sldId id="279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492B1-0C5A-4196-BD5A-E25E482A5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178BF0-0FB2-4157-94C8-60D23AE41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FEC93F-B58D-4BAC-A643-9C65EE0A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30BD-EEEA-42AA-81A1-6BB0BE517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0CAB7-73A5-4C61-AFE5-E970E7E6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02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59A43-4A1F-4410-9B4D-3925D2F76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D32DFF-9387-4964-8523-216A65401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45149-9F4B-414E-A5A5-1BC20FD4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EF9E98-605C-46A3-A2B0-DE11B019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A20530-1173-46A9-B561-ABC53E04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7236E59-E5E2-4275-BBB2-274FF69106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549" y="5904887"/>
            <a:ext cx="2414451" cy="81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06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AC33F-BC76-4F76-B18F-1F3ABABEA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44EF2A-4F7E-41E3-8B53-23EA70337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9B4D17-2136-49F6-A86F-B3F890DA9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77ADF9-6B16-4A91-984C-EAF74F30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CCE8A-56F3-4D85-B313-C156ACDD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140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E6CB2-0804-4E4F-BD32-414A4167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08AB1-545C-4CF5-8723-A62DE4BE5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D0195D-BE80-4E0A-AC0F-7900C5D92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E6A1DE-DAA3-4F0A-B858-DA7A5AFDC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9C543A-6D2B-49AF-962F-AC42DF27A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27804E-B37F-48DC-9CE6-1B7E8B29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97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B7A21-43EE-42C1-8A5D-F9D82CFC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D43ADA-D3FE-4728-BB57-5EFE47B68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141D56-9192-4359-B128-CF3472502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C5CA01-9162-4DA5-B71C-E30B4C952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CE2240-4C37-494C-8DEF-0BE2F8893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4BF995-C68C-4154-A992-D7629699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D03D2D-FF72-4FF0-B5C8-ECF1064B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FBCA7C-644A-4373-AB14-5D22E44E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003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61089-0F77-431C-B275-14C0C58C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28DD5C-A5FC-4721-A7E5-A5D34A15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37CA22-806D-4280-B77E-CA2C4F467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A51879-0B46-431F-8C0F-3A38090FB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21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F8318D0-AAB2-42F9-9E26-56C1CB7C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817007-959B-4116-925A-43817F38B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8278F3-ACB2-4379-835C-4570EF7C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907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A2BBDF-7CFE-4EFF-B704-790CF5F46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A4827-9BBA-4258-BA50-AC33F1F26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004658-627A-461F-B99F-27392E3E7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AB33D8-A635-4736-A8FC-0E7FB1EF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34F964-AB89-451A-8895-00B77101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EAF20E-5B35-43C4-91D6-5DFDE3B81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15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B7D62-35B1-486A-BA4A-5BD62D878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B77D51-6E0B-4BDB-AB93-B4C68FACD1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2CCFBA-FCB2-4EA4-931C-B0815E5AB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87AEB5-3A92-4059-AC54-3DDE28D72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975F10-5DA9-40FD-B833-1AEE3352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768966-0C69-4938-BD07-608E6904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745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C168C-70CF-489F-AA3C-EAB186829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D8EC20-E3C4-4040-918C-D140F43BE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281EFD-5990-4B49-BEB1-7827F321D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DDDFDE-08EE-4CC7-A8EA-1D5AE271E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507A4D-BB8A-4750-B2A9-1DD61F62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16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3ECB69-D882-4535-B0D7-4E30F131C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C451D9-EE77-4FA7-AA27-96B7A3438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D73AA9-B71F-4C03-85CA-A10ACAF6D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2BCAF-A674-4F07-830F-51ABF482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B3B0B8-9C89-411F-9CE1-B0E7ECE77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73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D0900C-D238-45F2-9A3F-9CC4338D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9D3590-7911-4C76-82B9-2A273AA6F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36424D-17FE-46C6-82EA-9137849D6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253A8-2FA4-4E85-8F40-57D98F8E6A65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D866D1-D453-4383-9F00-E9035E63D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BB7091-FA79-4441-B297-A73323AE3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41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7AB6328-93D6-44D0-B018-7AB05C8C86B7}"/>
              </a:ext>
            </a:extLst>
          </p:cNvPr>
          <p:cNvSpPr/>
          <p:nvPr/>
        </p:nvSpPr>
        <p:spPr>
          <a:xfrm>
            <a:off x="3469024" y="0"/>
            <a:ext cx="500791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3457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5F9966-9130-4CAA-9435-AA0B3D681875}"/>
              </a:ext>
            </a:extLst>
          </p:cNvPr>
          <p:cNvSpPr/>
          <p:nvPr/>
        </p:nvSpPr>
        <p:spPr>
          <a:xfrm>
            <a:off x="370702" y="998837"/>
            <a:ext cx="11450595" cy="48603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<a:extLst>
              <a:ext uri="{FF2B5EF4-FFF2-40B4-BE49-F238E27FC236}">
                <a16:creationId xmlns:a16="http://schemas.microsoft.com/office/drawing/2014/main" id="{92F53D2A-DDCD-421F-923B-DCB0E62EE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985" y="2563944"/>
            <a:ext cx="9650027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48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  <a:sym typeface="Calibri" panose="020F0502020204030204" pitchFamily="34" charset="0"/>
              </a:rPr>
              <a:t>实验二 机器人连接和远程控制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B71B30E-AEA7-4AE3-9A6C-EA71AA5F066A}"/>
              </a:ext>
            </a:extLst>
          </p:cNvPr>
          <p:cNvCxnSpPr/>
          <p:nvPr/>
        </p:nvCxnSpPr>
        <p:spPr>
          <a:xfrm>
            <a:off x="5939450" y="4160852"/>
            <a:ext cx="372724" cy="0"/>
          </a:xfrm>
          <a:prstGeom prst="line">
            <a:avLst/>
          </a:prstGeom>
          <a:ln w="19050">
            <a:solidFill>
              <a:srgbClr val="3457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A6DFE96F-CF89-4918-9DF7-23306AB2179A}"/>
              </a:ext>
            </a:extLst>
          </p:cNvPr>
          <p:cNvSpPr/>
          <p:nvPr/>
        </p:nvSpPr>
        <p:spPr>
          <a:xfrm>
            <a:off x="3567367" y="4477386"/>
            <a:ext cx="468069" cy="468069"/>
          </a:xfrm>
          <a:prstGeom prst="ellipse">
            <a:avLst/>
          </a:prstGeom>
          <a:solidFill>
            <a:srgbClr val="345780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rgbClr val="212834"/>
              </a:solidFill>
            </a:endParaRPr>
          </a:p>
        </p:txBody>
      </p:sp>
      <p:sp>
        <p:nvSpPr>
          <p:cNvPr id="11" name="文本框 10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<a:extLst>
              <a:ext uri="{FF2B5EF4-FFF2-40B4-BE49-F238E27FC236}">
                <a16:creationId xmlns:a16="http://schemas.microsoft.com/office/drawing/2014/main" id="{7CB3D532-35FA-4AC4-9C8B-F288F604F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710" y="4535085"/>
            <a:ext cx="2762533" cy="3796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日期：</a:t>
            </a:r>
            <a:r>
              <a:rPr lang="en-US" altLang="zh-CN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2021.03</a:t>
            </a:r>
            <a:endParaRPr lang="zh-CN" altLang="en-US" sz="1865">
              <a:solidFill>
                <a:srgbClr val="345780"/>
              </a:solidFill>
              <a:latin typeface="方正准圆简体" panose="03000509000000000000" pitchFamily="65" charset="-122"/>
              <a:ea typeface="方正准圆简体" panose="03000509000000000000" pitchFamily="65" charset="-122"/>
              <a:sym typeface="Calibri" panose="020F050202020403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CA6A941-9377-42C6-BCDF-7B7941D7649F}"/>
              </a:ext>
            </a:extLst>
          </p:cNvPr>
          <p:cNvSpPr/>
          <p:nvPr/>
        </p:nvSpPr>
        <p:spPr>
          <a:xfrm>
            <a:off x="6312174" y="4473316"/>
            <a:ext cx="468069" cy="468069"/>
          </a:xfrm>
          <a:prstGeom prst="ellipse">
            <a:avLst/>
          </a:prstGeom>
          <a:solidFill>
            <a:srgbClr val="345780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rgbClr val="212834"/>
              </a:solidFill>
            </a:endParaRPr>
          </a:p>
        </p:txBody>
      </p:sp>
      <p:sp>
        <p:nvSpPr>
          <p:cNvPr id="13" name="文本框 12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<a:extLst>
              <a:ext uri="{FF2B5EF4-FFF2-40B4-BE49-F238E27FC236}">
                <a16:creationId xmlns:a16="http://schemas.microsoft.com/office/drawing/2014/main" id="{A1BB899F-0A56-49A2-8835-5351EF5C8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516" y="4531016"/>
            <a:ext cx="3073942" cy="3793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内容：</a:t>
            </a:r>
            <a:r>
              <a:rPr lang="en-US" altLang="zh-CN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Turtlebot3</a:t>
            </a: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远程控制</a:t>
            </a:r>
          </a:p>
        </p:txBody>
      </p:sp>
      <p:grpSp>
        <p:nvGrpSpPr>
          <p:cNvPr id="14" name="Group 59">
            <a:extLst>
              <a:ext uri="{FF2B5EF4-FFF2-40B4-BE49-F238E27FC236}">
                <a16:creationId xmlns:a16="http://schemas.microsoft.com/office/drawing/2014/main" id="{06848B52-D03E-43E0-8605-71C66A6DDD5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52872" y="4551022"/>
            <a:ext cx="290891" cy="317537"/>
            <a:chOff x="1066" y="1985"/>
            <a:chExt cx="262" cy="286"/>
          </a:xfrm>
          <a:solidFill>
            <a:schemeClr val="bg1"/>
          </a:solidFill>
        </p:grpSpPr>
        <p:sp>
          <p:nvSpPr>
            <p:cNvPr id="15" name="Freeform 60">
              <a:extLst>
                <a:ext uri="{FF2B5EF4-FFF2-40B4-BE49-F238E27FC236}">
                  <a16:creationId xmlns:a16="http://schemas.microsoft.com/office/drawing/2014/main" id="{65AFB32E-06C3-45D3-9241-D2D91F6B4D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6" y="2005"/>
              <a:ext cx="262" cy="266"/>
            </a:xfrm>
            <a:custGeom>
              <a:avLst/>
              <a:gdLst>
                <a:gd name="T0" fmla="*/ 572 w 642"/>
                <a:gd name="T1" fmla="*/ 655 h 655"/>
                <a:gd name="T2" fmla="*/ 70 w 642"/>
                <a:gd name="T3" fmla="*/ 655 h 655"/>
                <a:gd name="T4" fmla="*/ 19 w 642"/>
                <a:gd name="T5" fmla="*/ 630 h 655"/>
                <a:gd name="T6" fmla="*/ 0 w 642"/>
                <a:gd name="T7" fmla="*/ 575 h 655"/>
                <a:gd name="T8" fmla="*/ 0 w 642"/>
                <a:gd name="T9" fmla="*/ 80 h 655"/>
                <a:gd name="T10" fmla="*/ 19 w 642"/>
                <a:gd name="T11" fmla="*/ 25 h 655"/>
                <a:gd name="T12" fmla="*/ 70 w 642"/>
                <a:gd name="T13" fmla="*/ 0 h 655"/>
                <a:gd name="T14" fmla="*/ 93 w 642"/>
                <a:gd name="T15" fmla="*/ 0 h 655"/>
                <a:gd name="T16" fmla="*/ 111 w 642"/>
                <a:gd name="T17" fmla="*/ 18 h 655"/>
                <a:gd name="T18" fmla="*/ 93 w 642"/>
                <a:gd name="T19" fmla="*/ 36 h 655"/>
                <a:gd name="T20" fmla="*/ 70 w 642"/>
                <a:gd name="T21" fmla="*/ 36 h 655"/>
                <a:gd name="T22" fmla="*/ 47 w 642"/>
                <a:gd name="T23" fmla="*/ 48 h 655"/>
                <a:gd name="T24" fmla="*/ 36 w 642"/>
                <a:gd name="T25" fmla="*/ 80 h 655"/>
                <a:gd name="T26" fmla="*/ 36 w 642"/>
                <a:gd name="T27" fmla="*/ 575 h 655"/>
                <a:gd name="T28" fmla="*/ 47 w 642"/>
                <a:gd name="T29" fmla="*/ 607 h 655"/>
                <a:gd name="T30" fmla="*/ 70 w 642"/>
                <a:gd name="T31" fmla="*/ 619 h 655"/>
                <a:gd name="T32" fmla="*/ 572 w 642"/>
                <a:gd name="T33" fmla="*/ 619 h 655"/>
                <a:gd name="T34" fmla="*/ 595 w 642"/>
                <a:gd name="T35" fmla="*/ 607 h 655"/>
                <a:gd name="T36" fmla="*/ 606 w 642"/>
                <a:gd name="T37" fmla="*/ 575 h 655"/>
                <a:gd name="T38" fmla="*/ 606 w 642"/>
                <a:gd name="T39" fmla="*/ 80 h 655"/>
                <a:gd name="T40" fmla="*/ 595 w 642"/>
                <a:gd name="T41" fmla="*/ 48 h 655"/>
                <a:gd name="T42" fmla="*/ 572 w 642"/>
                <a:gd name="T43" fmla="*/ 36 h 655"/>
                <a:gd name="T44" fmla="*/ 547 w 642"/>
                <a:gd name="T45" fmla="*/ 36 h 655"/>
                <a:gd name="T46" fmla="*/ 529 w 642"/>
                <a:gd name="T47" fmla="*/ 18 h 655"/>
                <a:gd name="T48" fmla="*/ 547 w 642"/>
                <a:gd name="T49" fmla="*/ 0 h 655"/>
                <a:gd name="T50" fmla="*/ 572 w 642"/>
                <a:gd name="T51" fmla="*/ 0 h 655"/>
                <a:gd name="T52" fmla="*/ 622 w 642"/>
                <a:gd name="T53" fmla="*/ 25 h 655"/>
                <a:gd name="T54" fmla="*/ 642 w 642"/>
                <a:gd name="T55" fmla="*/ 80 h 655"/>
                <a:gd name="T56" fmla="*/ 642 w 642"/>
                <a:gd name="T57" fmla="*/ 575 h 655"/>
                <a:gd name="T58" fmla="*/ 622 w 642"/>
                <a:gd name="T59" fmla="*/ 630 h 655"/>
                <a:gd name="T60" fmla="*/ 572 w 642"/>
                <a:gd name="T61" fmla="*/ 655 h 655"/>
                <a:gd name="T62" fmla="*/ 418 w 642"/>
                <a:gd name="T63" fmla="*/ 36 h 655"/>
                <a:gd name="T64" fmla="*/ 224 w 642"/>
                <a:gd name="T65" fmla="*/ 36 h 655"/>
                <a:gd name="T66" fmla="*/ 206 w 642"/>
                <a:gd name="T67" fmla="*/ 18 h 655"/>
                <a:gd name="T68" fmla="*/ 224 w 642"/>
                <a:gd name="T69" fmla="*/ 0 h 655"/>
                <a:gd name="T70" fmla="*/ 418 w 642"/>
                <a:gd name="T71" fmla="*/ 0 h 655"/>
                <a:gd name="T72" fmla="*/ 436 w 642"/>
                <a:gd name="T73" fmla="*/ 18 h 655"/>
                <a:gd name="T74" fmla="*/ 418 w 642"/>
                <a:gd name="T75" fmla="*/ 36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2" h="655">
                  <a:moveTo>
                    <a:pt x="572" y="655"/>
                  </a:moveTo>
                  <a:cubicBezTo>
                    <a:pt x="70" y="655"/>
                    <a:pt x="70" y="655"/>
                    <a:pt x="70" y="655"/>
                  </a:cubicBezTo>
                  <a:cubicBezTo>
                    <a:pt x="51" y="655"/>
                    <a:pt x="33" y="646"/>
                    <a:pt x="19" y="630"/>
                  </a:cubicBezTo>
                  <a:cubicBezTo>
                    <a:pt x="7" y="615"/>
                    <a:pt x="0" y="596"/>
                    <a:pt x="0" y="575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60"/>
                    <a:pt x="7" y="40"/>
                    <a:pt x="19" y="25"/>
                  </a:cubicBezTo>
                  <a:cubicBezTo>
                    <a:pt x="33" y="9"/>
                    <a:pt x="51" y="0"/>
                    <a:pt x="70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103" y="0"/>
                    <a:pt x="111" y="8"/>
                    <a:pt x="111" y="18"/>
                  </a:cubicBezTo>
                  <a:cubicBezTo>
                    <a:pt x="111" y="28"/>
                    <a:pt x="103" y="36"/>
                    <a:pt x="93" y="36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61" y="36"/>
                    <a:pt x="53" y="40"/>
                    <a:pt x="47" y="48"/>
                  </a:cubicBezTo>
                  <a:cubicBezTo>
                    <a:pt x="40" y="56"/>
                    <a:pt x="36" y="68"/>
                    <a:pt x="36" y="80"/>
                  </a:cubicBezTo>
                  <a:cubicBezTo>
                    <a:pt x="36" y="575"/>
                    <a:pt x="36" y="575"/>
                    <a:pt x="36" y="575"/>
                  </a:cubicBezTo>
                  <a:cubicBezTo>
                    <a:pt x="36" y="587"/>
                    <a:pt x="40" y="599"/>
                    <a:pt x="47" y="607"/>
                  </a:cubicBezTo>
                  <a:cubicBezTo>
                    <a:pt x="53" y="615"/>
                    <a:pt x="61" y="619"/>
                    <a:pt x="70" y="619"/>
                  </a:cubicBezTo>
                  <a:cubicBezTo>
                    <a:pt x="572" y="619"/>
                    <a:pt x="572" y="619"/>
                    <a:pt x="572" y="619"/>
                  </a:cubicBezTo>
                  <a:cubicBezTo>
                    <a:pt x="580" y="619"/>
                    <a:pt x="588" y="615"/>
                    <a:pt x="595" y="607"/>
                  </a:cubicBezTo>
                  <a:cubicBezTo>
                    <a:pt x="602" y="599"/>
                    <a:pt x="606" y="587"/>
                    <a:pt x="606" y="575"/>
                  </a:cubicBezTo>
                  <a:cubicBezTo>
                    <a:pt x="606" y="80"/>
                    <a:pt x="606" y="80"/>
                    <a:pt x="606" y="80"/>
                  </a:cubicBezTo>
                  <a:cubicBezTo>
                    <a:pt x="606" y="68"/>
                    <a:pt x="602" y="56"/>
                    <a:pt x="595" y="48"/>
                  </a:cubicBezTo>
                  <a:cubicBezTo>
                    <a:pt x="588" y="40"/>
                    <a:pt x="580" y="36"/>
                    <a:pt x="572" y="36"/>
                  </a:cubicBezTo>
                  <a:cubicBezTo>
                    <a:pt x="547" y="36"/>
                    <a:pt x="547" y="36"/>
                    <a:pt x="547" y="36"/>
                  </a:cubicBezTo>
                  <a:cubicBezTo>
                    <a:pt x="537" y="36"/>
                    <a:pt x="529" y="28"/>
                    <a:pt x="529" y="18"/>
                  </a:cubicBezTo>
                  <a:cubicBezTo>
                    <a:pt x="529" y="8"/>
                    <a:pt x="537" y="0"/>
                    <a:pt x="547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1" y="0"/>
                    <a:pt x="609" y="9"/>
                    <a:pt x="622" y="25"/>
                  </a:cubicBezTo>
                  <a:cubicBezTo>
                    <a:pt x="635" y="40"/>
                    <a:pt x="642" y="60"/>
                    <a:pt x="642" y="80"/>
                  </a:cubicBezTo>
                  <a:cubicBezTo>
                    <a:pt x="642" y="575"/>
                    <a:pt x="642" y="575"/>
                    <a:pt x="642" y="575"/>
                  </a:cubicBezTo>
                  <a:cubicBezTo>
                    <a:pt x="642" y="596"/>
                    <a:pt x="635" y="615"/>
                    <a:pt x="622" y="630"/>
                  </a:cubicBezTo>
                  <a:cubicBezTo>
                    <a:pt x="609" y="646"/>
                    <a:pt x="591" y="655"/>
                    <a:pt x="572" y="655"/>
                  </a:cubicBezTo>
                  <a:close/>
                  <a:moveTo>
                    <a:pt x="418" y="36"/>
                  </a:moveTo>
                  <a:cubicBezTo>
                    <a:pt x="224" y="36"/>
                    <a:pt x="224" y="36"/>
                    <a:pt x="224" y="36"/>
                  </a:cubicBezTo>
                  <a:cubicBezTo>
                    <a:pt x="214" y="36"/>
                    <a:pt x="206" y="28"/>
                    <a:pt x="206" y="18"/>
                  </a:cubicBezTo>
                  <a:cubicBezTo>
                    <a:pt x="206" y="8"/>
                    <a:pt x="214" y="0"/>
                    <a:pt x="224" y="0"/>
                  </a:cubicBezTo>
                  <a:cubicBezTo>
                    <a:pt x="418" y="0"/>
                    <a:pt x="418" y="0"/>
                    <a:pt x="418" y="0"/>
                  </a:cubicBezTo>
                  <a:cubicBezTo>
                    <a:pt x="428" y="0"/>
                    <a:pt x="436" y="8"/>
                    <a:pt x="436" y="18"/>
                  </a:cubicBezTo>
                  <a:cubicBezTo>
                    <a:pt x="436" y="28"/>
                    <a:pt x="428" y="36"/>
                    <a:pt x="41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6" name="Freeform 61">
              <a:extLst>
                <a:ext uri="{FF2B5EF4-FFF2-40B4-BE49-F238E27FC236}">
                  <a16:creationId xmlns:a16="http://schemas.microsoft.com/office/drawing/2014/main" id="{42E249E5-CB8F-49AB-ACAC-32DC1584A0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" y="1985"/>
              <a:ext cx="146" cy="64"/>
            </a:xfrm>
            <a:custGeom>
              <a:avLst/>
              <a:gdLst>
                <a:gd name="T0" fmla="*/ 18 w 357"/>
                <a:gd name="T1" fmla="*/ 0 h 157"/>
                <a:gd name="T2" fmla="*/ 36 w 357"/>
                <a:gd name="T3" fmla="*/ 18 h 157"/>
                <a:gd name="T4" fmla="*/ 36 w 357"/>
                <a:gd name="T5" fmla="*/ 139 h 157"/>
                <a:gd name="T6" fmla="*/ 18 w 357"/>
                <a:gd name="T7" fmla="*/ 157 h 157"/>
                <a:gd name="T8" fmla="*/ 0 w 357"/>
                <a:gd name="T9" fmla="*/ 139 h 157"/>
                <a:gd name="T10" fmla="*/ 0 w 357"/>
                <a:gd name="T11" fmla="*/ 18 h 157"/>
                <a:gd name="T12" fmla="*/ 18 w 357"/>
                <a:gd name="T13" fmla="*/ 0 h 157"/>
                <a:gd name="T14" fmla="*/ 339 w 357"/>
                <a:gd name="T15" fmla="*/ 0 h 157"/>
                <a:gd name="T16" fmla="*/ 357 w 357"/>
                <a:gd name="T17" fmla="*/ 18 h 157"/>
                <a:gd name="T18" fmla="*/ 357 w 357"/>
                <a:gd name="T19" fmla="*/ 139 h 157"/>
                <a:gd name="T20" fmla="*/ 339 w 357"/>
                <a:gd name="T21" fmla="*/ 157 h 157"/>
                <a:gd name="T22" fmla="*/ 321 w 357"/>
                <a:gd name="T23" fmla="*/ 139 h 157"/>
                <a:gd name="T24" fmla="*/ 321 w 357"/>
                <a:gd name="T25" fmla="*/ 18 h 157"/>
                <a:gd name="T26" fmla="*/ 339 w 357"/>
                <a:gd name="T2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7" h="157">
                  <a:moveTo>
                    <a:pt x="18" y="0"/>
                  </a:moveTo>
                  <a:cubicBezTo>
                    <a:pt x="28" y="0"/>
                    <a:pt x="36" y="8"/>
                    <a:pt x="36" y="18"/>
                  </a:cubicBezTo>
                  <a:cubicBezTo>
                    <a:pt x="36" y="139"/>
                    <a:pt x="36" y="139"/>
                    <a:pt x="36" y="139"/>
                  </a:cubicBezTo>
                  <a:cubicBezTo>
                    <a:pt x="36" y="149"/>
                    <a:pt x="28" y="157"/>
                    <a:pt x="18" y="157"/>
                  </a:cubicBezTo>
                  <a:cubicBezTo>
                    <a:pt x="8" y="157"/>
                    <a:pt x="0" y="149"/>
                    <a:pt x="0" y="13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lose/>
                  <a:moveTo>
                    <a:pt x="339" y="0"/>
                  </a:moveTo>
                  <a:cubicBezTo>
                    <a:pt x="349" y="0"/>
                    <a:pt x="357" y="8"/>
                    <a:pt x="357" y="18"/>
                  </a:cubicBezTo>
                  <a:cubicBezTo>
                    <a:pt x="357" y="139"/>
                    <a:pt x="357" y="139"/>
                    <a:pt x="357" y="139"/>
                  </a:cubicBezTo>
                  <a:cubicBezTo>
                    <a:pt x="357" y="149"/>
                    <a:pt x="349" y="157"/>
                    <a:pt x="339" y="157"/>
                  </a:cubicBezTo>
                  <a:cubicBezTo>
                    <a:pt x="329" y="157"/>
                    <a:pt x="321" y="149"/>
                    <a:pt x="321" y="139"/>
                  </a:cubicBezTo>
                  <a:cubicBezTo>
                    <a:pt x="321" y="18"/>
                    <a:pt x="321" y="18"/>
                    <a:pt x="321" y="18"/>
                  </a:cubicBezTo>
                  <a:cubicBezTo>
                    <a:pt x="321" y="8"/>
                    <a:pt x="329" y="0"/>
                    <a:pt x="33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7" name="Freeform 62">
              <a:extLst>
                <a:ext uri="{FF2B5EF4-FFF2-40B4-BE49-F238E27FC236}">
                  <a16:creationId xmlns:a16="http://schemas.microsoft.com/office/drawing/2014/main" id="{45829222-856C-4259-9584-C856FD8F1A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4" y="2044"/>
              <a:ext cx="246" cy="183"/>
            </a:xfrm>
            <a:custGeom>
              <a:avLst/>
              <a:gdLst>
                <a:gd name="T0" fmla="*/ 0 w 603"/>
                <a:gd name="T1" fmla="*/ 18 h 450"/>
                <a:gd name="T2" fmla="*/ 18 w 603"/>
                <a:gd name="T3" fmla="*/ 0 h 450"/>
                <a:gd name="T4" fmla="*/ 585 w 603"/>
                <a:gd name="T5" fmla="*/ 0 h 450"/>
                <a:gd name="T6" fmla="*/ 603 w 603"/>
                <a:gd name="T7" fmla="*/ 18 h 450"/>
                <a:gd name="T8" fmla="*/ 585 w 603"/>
                <a:gd name="T9" fmla="*/ 36 h 450"/>
                <a:gd name="T10" fmla="*/ 18 w 603"/>
                <a:gd name="T11" fmla="*/ 36 h 450"/>
                <a:gd name="T12" fmla="*/ 0 w 603"/>
                <a:gd name="T13" fmla="*/ 18 h 450"/>
                <a:gd name="T14" fmla="*/ 306 w 603"/>
                <a:gd name="T15" fmla="*/ 450 h 450"/>
                <a:gd name="T16" fmla="*/ 184 w 603"/>
                <a:gd name="T17" fmla="*/ 400 h 450"/>
                <a:gd name="T18" fmla="*/ 134 w 603"/>
                <a:gd name="T19" fmla="*/ 279 h 450"/>
                <a:gd name="T20" fmla="*/ 184 w 603"/>
                <a:gd name="T21" fmla="*/ 158 h 450"/>
                <a:gd name="T22" fmla="*/ 306 w 603"/>
                <a:gd name="T23" fmla="*/ 107 h 450"/>
                <a:gd name="T24" fmla="*/ 324 w 603"/>
                <a:gd name="T25" fmla="*/ 125 h 450"/>
                <a:gd name="T26" fmla="*/ 306 w 603"/>
                <a:gd name="T27" fmla="*/ 143 h 450"/>
                <a:gd name="T28" fmla="*/ 170 w 603"/>
                <a:gd name="T29" fmla="*/ 279 h 450"/>
                <a:gd name="T30" fmla="*/ 306 w 603"/>
                <a:gd name="T31" fmla="*/ 414 h 450"/>
                <a:gd name="T32" fmla="*/ 441 w 603"/>
                <a:gd name="T33" fmla="*/ 279 h 450"/>
                <a:gd name="T34" fmla="*/ 459 w 603"/>
                <a:gd name="T35" fmla="*/ 261 h 450"/>
                <a:gd name="T36" fmla="*/ 477 w 603"/>
                <a:gd name="T37" fmla="*/ 279 h 450"/>
                <a:gd name="T38" fmla="*/ 427 w 603"/>
                <a:gd name="T39" fmla="*/ 400 h 450"/>
                <a:gd name="T40" fmla="*/ 306 w 603"/>
                <a:gd name="T41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03" h="450">
                  <a:moveTo>
                    <a:pt x="0" y="18"/>
                  </a:moveTo>
                  <a:cubicBezTo>
                    <a:pt x="0" y="8"/>
                    <a:pt x="8" y="0"/>
                    <a:pt x="18" y="0"/>
                  </a:cubicBezTo>
                  <a:cubicBezTo>
                    <a:pt x="585" y="0"/>
                    <a:pt x="585" y="0"/>
                    <a:pt x="585" y="0"/>
                  </a:cubicBezTo>
                  <a:cubicBezTo>
                    <a:pt x="595" y="0"/>
                    <a:pt x="603" y="8"/>
                    <a:pt x="603" y="18"/>
                  </a:cubicBezTo>
                  <a:cubicBezTo>
                    <a:pt x="603" y="28"/>
                    <a:pt x="595" y="36"/>
                    <a:pt x="585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8" y="36"/>
                    <a:pt x="0" y="28"/>
                    <a:pt x="0" y="18"/>
                  </a:cubicBezTo>
                  <a:close/>
                  <a:moveTo>
                    <a:pt x="306" y="450"/>
                  </a:moveTo>
                  <a:cubicBezTo>
                    <a:pt x="260" y="450"/>
                    <a:pt x="217" y="433"/>
                    <a:pt x="184" y="400"/>
                  </a:cubicBezTo>
                  <a:cubicBezTo>
                    <a:pt x="152" y="368"/>
                    <a:pt x="134" y="325"/>
                    <a:pt x="134" y="279"/>
                  </a:cubicBezTo>
                  <a:cubicBezTo>
                    <a:pt x="134" y="233"/>
                    <a:pt x="152" y="190"/>
                    <a:pt x="184" y="158"/>
                  </a:cubicBezTo>
                  <a:cubicBezTo>
                    <a:pt x="217" y="125"/>
                    <a:pt x="260" y="107"/>
                    <a:pt x="306" y="107"/>
                  </a:cubicBezTo>
                  <a:cubicBezTo>
                    <a:pt x="316" y="107"/>
                    <a:pt x="324" y="115"/>
                    <a:pt x="324" y="125"/>
                  </a:cubicBezTo>
                  <a:cubicBezTo>
                    <a:pt x="324" y="135"/>
                    <a:pt x="316" y="143"/>
                    <a:pt x="306" y="143"/>
                  </a:cubicBezTo>
                  <a:cubicBezTo>
                    <a:pt x="231" y="143"/>
                    <a:pt x="170" y="204"/>
                    <a:pt x="170" y="279"/>
                  </a:cubicBezTo>
                  <a:cubicBezTo>
                    <a:pt x="170" y="354"/>
                    <a:pt x="231" y="414"/>
                    <a:pt x="306" y="414"/>
                  </a:cubicBezTo>
                  <a:cubicBezTo>
                    <a:pt x="380" y="414"/>
                    <a:pt x="441" y="354"/>
                    <a:pt x="441" y="279"/>
                  </a:cubicBezTo>
                  <a:cubicBezTo>
                    <a:pt x="441" y="269"/>
                    <a:pt x="449" y="261"/>
                    <a:pt x="459" y="261"/>
                  </a:cubicBezTo>
                  <a:cubicBezTo>
                    <a:pt x="469" y="261"/>
                    <a:pt x="477" y="269"/>
                    <a:pt x="477" y="279"/>
                  </a:cubicBezTo>
                  <a:cubicBezTo>
                    <a:pt x="477" y="325"/>
                    <a:pt x="459" y="368"/>
                    <a:pt x="427" y="400"/>
                  </a:cubicBezTo>
                  <a:cubicBezTo>
                    <a:pt x="395" y="433"/>
                    <a:pt x="351" y="450"/>
                    <a:pt x="306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8" name="Freeform 63">
              <a:extLst>
                <a:ext uri="{FF2B5EF4-FFF2-40B4-BE49-F238E27FC236}">
                  <a16:creationId xmlns:a16="http://schemas.microsoft.com/office/drawing/2014/main" id="{6571DE4D-C05A-45D1-8431-0F042F30CA2C}"/>
                </a:ext>
              </a:extLst>
            </p:cNvPr>
            <p:cNvSpPr/>
            <p:nvPr/>
          </p:nvSpPr>
          <p:spPr bwMode="auto">
            <a:xfrm>
              <a:off x="1193" y="2088"/>
              <a:ext cx="53" cy="72"/>
            </a:xfrm>
            <a:custGeom>
              <a:avLst/>
              <a:gdLst>
                <a:gd name="T0" fmla="*/ 113 w 131"/>
                <a:gd name="T1" fmla="*/ 176 h 176"/>
                <a:gd name="T2" fmla="*/ 18 w 131"/>
                <a:gd name="T3" fmla="*/ 176 h 176"/>
                <a:gd name="T4" fmla="*/ 0 w 131"/>
                <a:gd name="T5" fmla="*/ 158 h 176"/>
                <a:gd name="T6" fmla="*/ 0 w 131"/>
                <a:gd name="T7" fmla="*/ 18 h 176"/>
                <a:gd name="T8" fmla="*/ 18 w 131"/>
                <a:gd name="T9" fmla="*/ 0 h 176"/>
                <a:gd name="T10" fmla="*/ 36 w 131"/>
                <a:gd name="T11" fmla="*/ 18 h 176"/>
                <a:gd name="T12" fmla="*/ 36 w 131"/>
                <a:gd name="T13" fmla="*/ 140 h 176"/>
                <a:gd name="T14" fmla="*/ 113 w 131"/>
                <a:gd name="T15" fmla="*/ 140 h 176"/>
                <a:gd name="T16" fmla="*/ 131 w 131"/>
                <a:gd name="T17" fmla="*/ 158 h 176"/>
                <a:gd name="T18" fmla="*/ 113 w 131"/>
                <a:gd name="T1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1" h="176">
                  <a:moveTo>
                    <a:pt x="113" y="176"/>
                  </a:moveTo>
                  <a:cubicBezTo>
                    <a:pt x="18" y="176"/>
                    <a:pt x="18" y="176"/>
                    <a:pt x="18" y="176"/>
                  </a:cubicBezTo>
                  <a:cubicBezTo>
                    <a:pt x="8" y="176"/>
                    <a:pt x="0" y="168"/>
                    <a:pt x="0" y="15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23" y="140"/>
                    <a:pt x="131" y="148"/>
                    <a:pt x="131" y="158"/>
                  </a:cubicBezTo>
                  <a:cubicBezTo>
                    <a:pt x="131" y="168"/>
                    <a:pt x="123" y="176"/>
                    <a:pt x="113" y="1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</p:grpSp>
      <p:grpSp>
        <p:nvGrpSpPr>
          <p:cNvPr id="19" name="Group 66">
            <a:extLst>
              <a:ext uri="{FF2B5EF4-FFF2-40B4-BE49-F238E27FC236}">
                <a16:creationId xmlns:a16="http://schemas.microsoft.com/office/drawing/2014/main" id="{8DB7D7DD-8C2E-4A99-91AF-824436473C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18151" y="4542797"/>
            <a:ext cx="256116" cy="277284"/>
            <a:chOff x="2111" y="2322"/>
            <a:chExt cx="121" cy="131"/>
          </a:xfrm>
          <a:solidFill>
            <a:schemeClr val="bg1"/>
          </a:solidFill>
        </p:grpSpPr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B81DA5CE-3648-48AA-BC46-E7EEFE7F991E}"/>
                </a:ext>
              </a:extLst>
            </p:cNvPr>
            <p:cNvSpPr/>
            <p:nvPr/>
          </p:nvSpPr>
          <p:spPr bwMode="auto">
            <a:xfrm>
              <a:off x="2159" y="2350"/>
              <a:ext cx="40" cy="37"/>
            </a:xfrm>
            <a:custGeom>
              <a:avLst/>
              <a:gdLst>
                <a:gd name="T0" fmla="*/ 89 w 213"/>
                <a:gd name="T1" fmla="*/ 19 h 198"/>
                <a:gd name="T2" fmla="*/ 196 w 213"/>
                <a:gd name="T3" fmla="*/ 143 h 198"/>
                <a:gd name="T4" fmla="*/ 208 w 213"/>
                <a:gd name="T5" fmla="*/ 189 h 198"/>
                <a:gd name="T6" fmla="*/ 206 w 213"/>
                <a:gd name="T7" fmla="*/ 191 h 198"/>
                <a:gd name="T8" fmla="*/ 158 w 213"/>
                <a:gd name="T9" fmla="*/ 186 h 198"/>
                <a:gd name="T10" fmla="*/ 22 w 213"/>
                <a:gd name="T11" fmla="*/ 92 h 198"/>
                <a:gd name="T12" fmla="*/ 13 w 213"/>
                <a:gd name="T13" fmla="*/ 44 h 198"/>
                <a:gd name="T14" fmla="*/ 40 w 213"/>
                <a:gd name="T15" fmla="*/ 15 h 198"/>
                <a:gd name="T16" fmla="*/ 89 w 213"/>
                <a:gd name="T17" fmla="*/ 1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3" h="198">
                  <a:moveTo>
                    <a:pt x="89" y="19"/>
                  </a:moveTo>
                  <a:cubicBezTo>
                    <a:pt x="196" y="143"/>
                    <a:pt x="196" y="143"/>
                    <a:pt x="196" y="143"/>
                  </a:cubicBezTo>
                  <a:cubicBezTo>
                    <a:pt x="210" y="160"/>
                    <a:pt x="213" y="183"/>
                    <a:pt x="208" y="189"/>
                  </a:cubicBezTo>
                  <a:cubicBezTo>
                    <a:pt x="206" y="191"/>
                    <a:pt x="206" y="191"/>
                    <a:pt x="206" y="191"/>
                  </a:cubicBezTo>
                  <a:cubicBezTo>
                    <a:pt x="200" y="197"/>
                    <a:pt x="176" y="198"/>
                    <a:pt x="158" y="186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4" y="80"/>
                    <a:pt x="0" y="58"/>
                    <a:pt x="13" y="44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53" y="0"/>
                    <a:pt x="74" y="2"/>
                    <a:pt x="89" y="1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70B9B73D-CC92-47F4-B10B-7BEF81CCB6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9" y="2322"/>
              <a:ext cx="71" cy="90"/>
            </a:xfrm>
            <a:custGeom>
              <a:avLst/>
              <a:gdLst>
                <a:gd name="T0" fmla="*/ 142 w 381"/>
                <a:gd name="T1" fmla="*/ 449 h 481"/>
                <a:gd name="T2" fmla="*/ 348 w 381"/>
                <a:gd name="T3" fmla="*/ 236 h 481"/>
                <a:gd name="T4" fmla="*/ 374 w 381"/>
                <a:gd name="T5" fmla="*/ 235 h 481"/>
                <a:gd name="T6" fmla="*/ 374 w 381"/>
                <a:gd name="T7" fmla="*/ 260 h 481"/>
                <a:gd name="T8" fmla="*/ 168 w 381"/>
                <a:gd name="T9" fmla="*/ 474 h 481"/>
                <a:gd name="T10" fmla="*/ 142 w 381"/>
                <a:gd name="T11" fmla="*/ 474 h 481"/>
                <a:gd name="T12" fmla="*/ 142 w 381"/>
                <a:gd name="T13" fmla="*/ 449 h 481"/>
                <a:gd name="T14" fmla="*/ 122 w 381"/>
                <a:gd name="T15" fmla="*/ 245 h 481"/>
                <a:gd name="T16" fmla="*/ 0 w 381"/>
                <a:gd name="T17" fmla="*/ 123 h 481"/>
                <a:gd name="T18" fmla="*/ 20 w 381"/>
                <a:gd name="T19" fmla="*/ 56 h 481"/>
                <a:gd name="T20" fmla="*/ 45 w 381"/>
                <a:gd name="T21" fmla="*/ 51 h 481"/>
                <a:gd name="T22" fmla="*/ 50 w 381"/>
                <a:gd name="T23" fmla="*/ 76 h 481"/>
                <a:gd name="T24" fmla="*/ 36 w 381"/>
                <a:gd name="T25" fmla="*/ 123 h 481"/>
                <a:gd name="T26" fmla="*/ 122 w 381"/>
                <a:gd name="T27" fmla="*/ 209 h 481"/>
                <a:gd name="T28" fmla="*/ 209 w 381"/>
                <a:gd name="T29" fmla="*/ 123 h 481"/>
                <a:gd name="T30" fmla="*/ 133 w 381"/>
                <a:gd name="T31" fmla="*/ 37 h 481"/>
                <a:gd name="T32" fmla="*/ 117 w 381"/>
                <a:gd name="T33" fmla="*/ 17 h 481"/>
                <a:gd name="T34" fmla="*/ 137 w 381"/>
                <a:gd name="T35" fmla="*/ 2 h 481"/>
                <a:gd name="T36" fmla="*/ 245 w 381"/>
                <a:gd name="T37" fmla="*/ 123 h 481"/>
                <a:gd name="T38" fmla="*/ 122 w 381"/>
                <a:gd name="T39" fmla="*/ 245 h 481"/>
                <a:gd name="T40" fmla="*/ 67 w 381"/>
                <a:gd name="T41" fmla="*/ 52 h 481"/>
                <a:gd name="T42" fmla="*/ 52 w 381"/>
                <a:gd name="T43" fmla="*/ 44 h 481"/>
                <a:gd name="T44" fmla="*/ 58 w 381"/>
                <a:gd name="T45" fmla="*/ 19 h 481"/>
                <a:gd name="T46" fmla="*/ 81 w 381"/>
                <a:gd name="T47" fmla="*/ 8 h 481"/>
                <a:gd name="T48" fmla="*/ 104 w 381"/>
                <a:gd name="T49" fmla="*/ 19 h 481"/>
                <a:gd name="T50" fmla="*/ 93 w 381"/>
                <a:gd name="T51" fmla="*/ 42 h 481"/>
                <a:gd name="T52" fmla="*/ 77 w 381"/>
                <a:gd name="T53" fmla="*/ 50 h 481"/>
                <a:gd name="T54" fmla="*/ 67 w 381"/>
                <a:gd name="T55" fmla="*/ 52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81" h="481">
                  <a:moveTo>
                    <a:pt x="142" y="449"/>
                  </a:moveTo>
                  <a:cubicBezTo>
                    <a:pt x="348" y="236"/>
                    <a:pt x="348" y="236"/>
                    <a:pt x="348" y="236"/>
                  </a:cubicBezTo>
                  <a:cubicBezTo>
                    <a:pt x="355" y="228"/>
                    <a:pt x="366" y="228"/>
                    <a:pt x="374" y="235"/>
                  </a:cubicBezTo>
                  <a:cubicBezTo>
                    <a:pt x="381" y="242"/>
                    <a:pt x="381" y="253"/>
                    <a:pt x="374" y="260"/>
                  </a:cubicBezTo>
                  <a:cubicBezTo>
                    <a:pt x="168" y="474"/>
                    <a:pt x="168" y="474"/>
                    <a:pt x="168" y="474"/>
                  </a:cubicBezTo>
                  <a:cubicBezTo>
                    <a:pt x="161" y="481"/>
                    <a:pt x="150" y="481"/>
                    <a:pt x="142" y="474"/>
                  </a:cubicBezTo>
                  <a:cubicBezTo>
                    <a:pt x="135" y="467"/>
                    <a:pt x="135" y="456"/>
                    <a:pt x="142" y="449"/>
                  </a:cubicBezTo>
                  <a:close/>
                  <a:moveTo>
                    <a:pt x="122" y="245"/>
                  </a:moveTo>
                  <a:cubicBezTo>
                    <a:pt x="55" y="245"/>
                    <a:pt x="0" y="190"/>
                    <a:pt x="0" y="123"/>
                  </a:cubicBezTo>
                  <a:cubicBezTo>
                    <a:pt x="0" y="99"/>
                    <a:pt x="7" y="76"/>
                    <a:pt x="20" y="56"/>
                  </a:cubicBezTo>
                  <a:cubicBezTo>
                    <a:pt x="26" y="48"/>
                    <a:pt x="37" y="45"/>
                    <a:pt x="45" y="51"/>
                  </a:cubicBezTo>
                  <a:cubicBezTo>
                    <a:pt x="53" y="56"/>
                    <a:pt x="56" y="67"/>
                    <a:pt x="50" y="76"/>
                  </a:cubicBezTo>
                  <a:cubicBezTo>
                    <a:pt x="41" y="90"/>
                    <a:pt x="36" y="106"/>
                    <a:pt x="36" y="123"/>
                  </a:cubicBezTo>
                  <a:cubicBezTo>
                    <a:pt x="36" y="171"/>
                    <a:pt x="75" y="209"/>
                    <a:pt x="122" y="209"/>
                  </a:cubicBezTo>
                  <a:cubicBezTo>
                    <a:pt x="170" y="209"/>
                    <a:pt x="209" y="171"/>
                    <a:pt x="209" y="123"/>
                  </a:cubicBezTo>
                  <a:cubicBezTo>
                    <a:pt x="209" y="79"/>
                    <a:pt x="176" y="42"/>
                    <a:pt x="133" y="37"/>
                  </a:cubicBezTo>
                  <a:cubicBezTo>
                    <a:pt x="123" y="36"/>
                    <a:pt x="116" y="27"/>
                    <a:pt x="117" y="17"/>
                  </a:cubicBezTo>
                  <a:cubicBezTo>
                    <a:pt x="118" y="7"/>
                    <a:pt x="127" y="0"/>
                    <a:pt x="137" y="2"/>
                  </a:cubicBezTo>
                  <a:cubicBezTo>
                    <a:pt x="198" y="9"/>
                    <a:pt x="245" y="61"/>
                    <a:pt x="245" y="123"/>
                  </a:cubicBezTo>
                  <a:cubicBezTo>
                    <a:pt x="245" y="190"/>
                    <a:pt x="190" y="245"/>
                    <a:pt x="122" y="245"/>
                  </a:cubicBezTo>
                  <a:close/>
                  <a:moveTo>
                    <a:pt x="67" y="52"/>
                  </a:moveTo>
                  <a:cubicBezTo>
                    <a:pt x="61" y="52"/>
                    <a:pt x="55" y="50"/>
                    <a:pt x="52" y="44"/>
                  </a:cubicBezTo>
                  <a:cubicBezTo>
                    <a:pt x="47" y="36"/>
                    <a:pt x="49" y="25"/>
                    <a:pt x="58" y="19"/>
                  </a:cubicBezTo>
                  <a:cubicBezTo>
                    <a:pt x="65" y="15"/>
                    <a:pt x="73" y="11"/>
                    <a:pt x="81" y="8"/>
                  </a:cubicBezTo>
                  <a:cubicBezTo>
                    <a:pt x="91" y="5"/>
                    <a:pt x="101" y="9"/>
                    <a:pt x="104" y="19"/>
                  </a:cubicBezTo>
                  <a:cubicBezTo>
                    <a:pt x="107" y="28"/>
                    <a:pt x="103" y="38"/>
                    <a:pt x="93" y="42"/>
                  </a:cubicBezTo>
                  <a:cubicBezTo>
                    <a:pt x="87" y="44"/>
                    <a:pt x="82" y="47"/>
                    <a:pt x="77" y="50"/>
                  </a:cubicBezTo>
                  <a:cubicBezTo>
                    <a:pt x="74" y="52"/>
                    <a:pt x="71" y="52"/>
                    <a:pt x="67" y="5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BB95EC14-8991-42D2-BEE7-A1D609F92B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1" y="2406"/>
              <a:ext cx="121" cy="47"/>
            </a:xfrm>
            <a:custGeom>
              <a:avLst/>
              <a:gdLst>
                <a:gd name="T0" fmla="*/ 597 w 648"/>
                <a:gd name="T1" fmla="*/ 249 h 249"/>
                <a:gd name="T2" fmla="*/ 50 w 648"/>
                <a:gd name="T3" fmla="*/ 249 h 249"/>
                <a:gd name="T4" fmla="*/ 0 w 648"/>
                <a:gd name="T5" fmla="*/ 198 h 249"/>
                <a:gd name="T6" fmla="*/ 0 w 648"/>
                <a:gd name="T7" fmla="*/ 50 h 249"/>
                <a:gd name="T8" fmla="*/ 50 w 648"/>
                <a:gd name="T9" fmla="*/ 0 h 249"/>
                <a:gd name="T10" fmla="*/ 597 w 648"/>
                <a:gd name="T11" fmla="*/ 0 h 249"/>
                <a:gd name="T12" fmla="*/ 648 w 648"/>
                <a:gd name="T13" fmla="*/ 50 h 249"/>
                <a:gd name="T14" fmla="*/ 648 w 648"/>
                <a:gd name="T15" fmla="*/ 198 h 249"/>
                <a:gd name="T16" fmla="*/ 597 w 648"/>
                <a:gd name="T17" fmla="*/ 249 h 249"/>
                <a:gd name="T18" fmla="*/ 50 w 648"/>
                <a:gd name="T19" fmla="*/ 35 h 249"/>
                <a:gd name="T20" fmla="*/ 36 w 648"/>
                <a:gd name="T21" fmla="*/ 50 h 249"/>
                <a:gd name="T22" fmla="*/ 36 w 648"/>
                <a:gd name="T23" fmla="*/ 198 h 249"/>
                <a:gd name="T24" fmla="*/ 50 w 648"/>
                <a:gd name="T25" fmla="*/ 213 h 249"/>
                <a:gd name="T26" fmla="*/ 597 w 648"/>
                <a:gd name="T27" fmla="*/ 213 h 249"/>
                <a:gd name="T28" fmla="*/ 612 w 648"/>
                <a:gd name="T29" fmla="*/ 198 h 249"/>
                <a:gd name="T30" fmla="*/ 612 w 648"/>
                <a:gd name="T31" fmla="*/ 50 h 249"/>
                <a:gd name="T32" fmla="*/ 597 w 648"/>
                <a:gd name="T33" fmla="*/ 35 h 249"/>
                <a:gd name="T34" fmla="*/ 50 w 648"/>
                <a:gd name="T35" fmla="*/ 3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48" h="249">
                  <a:moveTo>
                    <a:pt x="597" y="249"/>
                  </a:moveTo>
                  <a:cubicBezTo>
                    <a:pt x="50" y="249"/>
                    <a:pt x="50" y="249"/>
                    <a:pt x="50" y="249"/>
                  </a:cubicBezTo>
                  <a:cubicBezTo>
                    <a:pt x="22" y="249"/>
                    <a:pt x="0" y="226"/>
                    <a:pt x="0" y="198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22"/>
                    <a:pt x="22" y="0"/>
                    <a:pt x="5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625" y="0"/>
                    <a:pt x="648" y="22"/>
                    <a:pt x="648" y="50"/>
                  </a:cubicBezTo>
                  <a:cubicBezTo>
                    <a:pt x="648" y="198"/>
                    <a:pt x="648" y="198"/>
                    <a:pt x="648" y="198"/>
                  </a:cubicBezTo>
                  <a:cubicBezTo>
                    <a:pt x="648" y="226"/>
                    <a:pt x="625" y="249"/>
                    <a:pt x="597" y="249"/>
                  </a:cubicBezTo>
                  <a:close/>
                  <a:moveTo>
                    <a:pt x="50" y="35"/>
                  </a:moveTo>
                  <a:cubicBezTo>
                    <a:pt x="42" y="35"/>
                    <a:pt x="36" y="42"/>
                    <a:pt x="36" y="50"/>
                  </a:cubicBezTo>
                  <a:cubicBezTo>
                    <a:pt x="36" y="198"/>
                    <a:pt x="36" y="198"/>
                    <a:pt x="36" y="198"/>
                  </a:cubicBezTo>
                  <a:cubicBezTo>
                    <a:pt x="36" y="206"/>
                    <a:pt x="42" y="213"/>
                    <a:pt x="50" y="213"/>
                  </a:cubicBezTo>
                  <a:cubicBezTo>
                    <a:pt x="597" y="213"/>
                    <a:pt x="597" y="213"/>
                    <a:pt x="597" y="213"/>
                  </a:cubicBezTo>
                  <a:cubicBezTo>
                    <a:pt x="605" y="213"/>
                    <a:pt x="612" y="206"/>
                    <a:pt x="612" y="198"/>
                  </a:cubicBezTo>
                  <a:cubicBezTo>
                    <a:pt x="612" y="50"/>
                    <a:pt x="612" y="50"/>
                    <a:pt x="612" y="50"/>
                  </a:cubicBezTo>
                  <a:cubicBezTo>
                    <a:pt x="612" y="42"/>
                    <a:pt x="605" y="35"/>
                    <a:pt x="597" y="35"/>
                  </a:cubicBezTo>
                  <a:lnTo>
                    <a:pt x="50" y="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24827FE4-A38E-4098-90F1-DEDD3D57A1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002" y="1500644"/>
            <a:ext cx="3336043" cy="1127763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F3F82DFB-DABC-4C09-A048-B2D7309D498E}"/>
              </a:ext>
            </a:extLst>
          </p:cNvPr>
          <p:cNvSpPr/>
          <p:nvPr/>
        </p:nvSpPr>
        <p:spPr>
          <a:xfrm>
            <a:off x="3469024" y="3707404"/>
            <a:ext cx="5831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华中科技大学 </a:t>
            </a:r>
            <a:r>
              <a:rPr lang="en-US" altLang="zh-CN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2021 ROS</a:t>
            </a:r>
            <a:r>
              <a:rPr lang="zh-CN" altLang="en-US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创新实践教学 </a:t>
            </a:r>
          </a:p>
        </p:txBody>
      </p:sp>
      <p:pic>
        <p:nvPicPr>
          <p:cNvPr id="25" name="图片 3">
            <a:extLst>
              <a:ext uri="{FF2B5EF4-FFF2-40B4-BE49-F238E27FC236}">
                <a16:creationId xmlns:a16="http://schemas.microsoft.com/office/drawing/2014/main" id="{446FF6E1-FEED-440C-B58F-4B020DE25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468" y="1467978"/>
            <a:ext cx="4099134" cy="1152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3740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箭头: 五边形 18">
            <a:extLst>
              <a:ext uri="{FF2B5EF4-FFF2-40B4-BE49-F238E27FC236}">
                <a16:creationId xmlns:a16="http://schemas.microsoft.com/office/drawing/2014/main" id="{A972E024-6202-4FB3-B06C-155CE4F7AE80}"/>
              </a:ext>
            </a:extLst>
          </p:cNvPr>
          <p:cNvSpPr/>
          <p:nvPr/>
        </p:nvSpPr>
        <p:spPr>
          <a:xfrm flipH="1">
            <a:off x="5009201" y="3032168"/>
            <a:ext cx="1678150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网络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E5951F0E-974D-4BA3-877D-F120227A06AC}"/>
              </a:ext>
            </a:extLst>
          </p:cNvPr>
          <p:cNvSpPr/>
          <p:nvPr/>
        </p:nvSpPr>
        <p:spPr>
          <a:xfrm flipH="1">
            <a:off x="1313895" y="2060318"/>
            <a:ext cx="2069867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并通电</a:t>
            </a:r>
          </a:p>
        </p:txBody>
      </p:sp>
      <p:sp>
        <p:nvSpPr>
          <p:cNvPr id="5" name=" 160">
            <a:extLst>
              <a:ext uri="{FF2B5EF4-FFF2-40B4-BE49-F238E27FC236}">
                <a16:creationId xmlns:a16="http://schemas.microsoft.com/office/drawing/2014/main" id="{548E59DA-08E8-4157-B990-989FC360A838}"/>
              </a:ext>
            </a:extLst>
          </p:cNvPr>
          <p:cNvSpPr/>
          <p:nvPr/>
        </p:nvSpPr>
        <p:spPr>
          <a:xfrm rot="10800000" flipH="1">
            <a:off x="3969648" y="2526957"/>
            <a:ext cx="722630" cy="65405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solidFill>
            <a:srgbClr val="D4F1F9">
              <a:alpha val="41000"/>
            </a:srgbClr>
          </a:solidFill>
          <a:ln>
            <a:solidFill>
              <a:srgbClr val="58B6E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3" name="箭头: 五边形 12">
            <a:extLst>
              <a:ext uri="{FF2B5EF4-FFF2-40B4-BE49-F238E27FC236}">
                <a16:creationId xmlns:a16="http://schemas.microsoft.com/office/drawing/2014/main" id="{56F161E6-65DE-4F69-9A0B-17B7B1168F8F}"/>
              </a:ext>
            </a:extLst>
          </p:cNvPr>
          <p:cNvSpPr/>
          <p:nvPr/>
        </p:nvSpPr>
        <p:spPr>
          <a:xfrm>
            <a:off x="1109711" y="2060318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连线</a:t>
            </a:r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99DC91C8-FC34-48C3-8F2F-326DF1FCE2F9}"/>
              </a:ext>
            </a:extLst>
          </p:cNvPr>
          <p:cNvSpPr/>
          <p:nvPr/>
        </p:nvSpPr>
        <p:spPr>
          <a:xfrm>
            <a:off x="4831650" y="3032168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</a:p>
        </p:txBody>
      </p:sp>
      <p:sp>
        <p:nvSpPr>
          <p:cNvPr id="24" name="箭头: 五边形 23">
            <a:extLst>
              <a:ext uri="{FF2B5EF4-FFF2-40B4-BE49-F238E27FC236}">
                <a16:creationId xmlns:a16="http://schemas.microsoft.com/office/drawing/2014/main" id="{6E63A3A9-EC19-4021-82BB-B3CA9981BF0E}"/>
              </a:ext>
            </a:extLst>
          </p:cNvPr>
          <p:cNvSpPr/>
          <p:nvPr/>
        </p:nvSpPr>
        <p:spPr>
          <a:xfrm flipH="1">
            <a:off x="8347973" y="4538863"/>
            <a:ext cx="2788663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操控真小车</a:t>
            </a:r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319F14D5-D909-4117-8E8F-88C063371240}"/>
              </a:ext>
            </a:extLst>
          </p:cNvPr>
          <p:cNvSpPr/>
          <p:nvPr/>
        </p:nvSpPr>
        <p:spPr>
          <a:xfrm>
            <a:off x="8170423" y="4538863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远程</a:t>
            </a:r>
          </a:p>
        </p:txBody>
      </p:sp>
      <p:sp>
        <p:nvSpPr>
          <p:cNvPr id="28" name=" 160">
            <a:extLst>
              <a:ext uri="{FF2B5EF4-FFF2-40B4-BE49-F238E27FC236}">
                <a16:creationId xmlns:a16="http://schemas.microsoft.com/office/drawing/2014/main" id="{F85EBE64-3361-4FB0-907A-C172A01672AE}"/>
              </a:ext>
            </a:extLst>
          </p:cNvPr>
          <p:cNvSpPr/>
          <p:nvPr/>
        </p:nvSpPr>
        <p:spPr>
          <a:xfrm rot="10800000" flipH="1">
            <a:off x="6900916" y="3884812"/>
            <a:ext cx="722630" cy="65405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solidFill>
            <a:srgbClr val="D4F1F9">
              <a:alpha val="41000"/>
            </a:srgbClr>
          </a:solidFill>
          <a:ln>
            <a:solidFill>
              <a:srgbClr val="58B6E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" name="箭头: 五边形 29">
            <a:extLst>
              <a:ext uri="{FF2B5EF4-FFF2-40B4-BE49-F238E27FC236}">
                <a16:creationId xmlns:a16="http://schemas.microsoft.com/office/drawing/2014/main" id="{192A7DFA-75C9-4D95-92AC-B02AB902629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箭头: 五边形 30">
            <a:extLst>
              <a:ext uri="{FF2B5EF4-FFF2-40B4-BE49-F238E27FC236}">
                <a16:creationId xmlns:a16="http://schemas.microsoft.com/office/drawing/2014/main" id="{25A45A79-F2E6-428E-8FFA-1F5F36C3FAE3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</p:spTree>
    <p:extLst>
      <p:ext uri="{BB962C8B-B14F-4D97-AF65-F5344CB8AC3E}">
        <p14:creationId xmlns:p14="http://schemas.microsoft.com/office/powerpoint/2010/main" val="338882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3" grpId="0" animBg="1"/>
      <p:bldP spid="14" grpId="0" animBg="1"/>
      <p:bldP spid="24" grpId="0" animBg="1"/>
      <p:bldP spid="25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E2F684E-3E11-4385-BE50-392F0FB0DBDE}"/>
              </a:ext>
            </a:extLst>
          </p:cNvPr>
          <p:cNvSpPr txBox="1"/>
          <p:nvPr/>
        </p:nvSpPr>
        <p:spPr>
          <a:xfrm>
            <a:off x="0" y="1280402"/>
            <a:ext cx="12192000" cy="11350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本关涉及的设备：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显示器、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Burger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小车、路由器、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HDMI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、网线、电源适配器、电池充电头等。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连线并通电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B7B44F-68EC-4C5D-B9D3-1FDCA1806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29" y="2562930"/>
            <a:ext cx="4436247" cy="3348331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F268B5D2-508B-4289-A11A-FA6536048A56}"/>
              </a:ext>
            </a:extLst>
          </p:cNvPr>
          <p:cNvSpPr/>
          <p:nvPr/>
        </p:nvSpPr>
        <p:spPr>
          <a:xfrm>
            <a:off x="758433" y="3422946"/>
            <a:ext cx="1175552" cy="71889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显示器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800E900F-109F-4C02-87E6-9DF52169155C}"/>
              </a:ext>
            </a:extLst>
          </p:cNvPr>
          <p:cNvSpPr/>
          <p:nvPr/>
        </p:nvSpPr>
        <p:spPr>
          <a:xfrm>
            <a:off x="2153202" y="4783482"/>
            <a:ext cx="1175552" cy="545106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鼠标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AAE2E3FE-DB71-4A13-8A24-4E645E2AFA53}"/>
              </a:ext>
            </a:extLst>
          </p:cNvPr>
          <p:cNvSpPr/>
          <p:nvPr/>
        </p:nvSpPr>
        <p:spPr>
          <a:xfrm>
            <a:off x="977650" y="5259910"/>
            <a:ext cx="1175552" cy="43266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键盘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2C693C-C9B8-4BDB-80C7-3EB53E42C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476" y="2562930"/>
            <a:ext cx="2511248" cy="3348331"/>
          </a:xfrm>
          <a:prstGeom prst="rect">
            <a:avLst/>
          </a:prstGeom>
        </p:spPr>
      </p:pic>
      <p:sp>
        <p:nvSpPr>
          <p:cNvPr id="12" name="箭头: 右 11">
            <a:extLst>
              <a:ext uri="{FF2B5EF4-FFF2-40B4-BE49-F238E27FC236}">
                <a16:creationId xmlns:a16="http://schemas.microsoft.com/office/drawing/2014/main" id="{36FEE9E0-182B-471A-87AB-B0E7C2BF617C}"/>
              </a:ext>
            </a:extLst>
          </p:cNvPr>
          <p:cNvSpPr/>
          <p:nvPr/>
        </p:nvSpPr>
        <p:spPr>
          <a:xfrm>
            <a:off x="3773010" y="3767914"/>
            <a:ext cx="1604025" cy="469181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Burger</a:t>
            </a:r>
            <a:r>
              <a:rPr lang="zh-CN" altLang="en-US"/>
              <a:t>小车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7332DA8-5E51-4EA8-8D41-9B2431A4BC3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6" r="8512"/>
          <a:stretch/>
        </p:blipFill>
        <p:spPr>
          <a:xfrm>
            <a:off x="7293724" y="2562930"/>
            <a:ext cx="3066517" cy="3351007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39C3952C-FAAE-421D-B195-AE147C9E8AB2}"/>
              </a:ext>
            </a:extLst>
          </p:cNvPr>
          <p:cNvSpPr/>
          <p:nvPr/>
        </p:nvSpPr>
        <p:spPr>
          <a:xfrm>
            <a:off x="6400734" y="4650377"/>
            <a:ext cx="1785979" cy="469181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路由器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2E8AADD-3BF8-43F3-AD39-C415EECC1FE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49" r="27332"/>
          <a:stretch/>
        </p:blipFill>
        <p:spPr>
          <a:xfrm>
            <a:off x="10360241" y="2562930"/>
            <a:ext cx="1497188" cy="3348331"/>
          </a:xfrm>
          <a:prstGeom prst="rect">
            <a:avLst/>
          </a:prstGeom>
        </p:spPr>
      </p:pic>
      <p:sp>
        <p:nvSpPr>
          <p:cNvPr id="18" name="箭头: 右 17">
            <a:extLst>
              <a:ext uri="{FF2B5EF4-FFF2-40B4-BE49-F238E27FC236}">
                <a16:creationId xmlns:a16="http://schemas.microsoft.com/office/drawing/2014/main" id="{6A8693E1-1F9D-4E8F-A2AC-2AB9B220F829}"/>
              </a:ext>
            </a:extLst>
          </p:cNvPr>
          <p:cNvSpPr/>
          <p:nvPr/>
        </p:nvSpPr>
        <p:spPr>
          <a:xfrm>
            <a:off x="8721946" y="3723949"/>
            <a:ext cx="1785979" cy="469181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电池充电头</a:t>
            </a:r>
          </a:p>
        </p:txBody>
      </p:sp>
    </p:spTree>
    <p:extLst>
      <p:ext uri="{BB962C8B-B14F-4D97-AF65-F5344CB8AC3E}">
        <p14:creationId xmlns:p14="http://schemas.microsoft.com/office/powerpoint/2010/main" val="89861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5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连接充电线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4BD928-3B1C-423D-8B83-0CBC8CC12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45" y="2434608"/>
            <a:ext cx="3162468" cy="42169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7B08819-0B7A-44CF-8A0F-4A06982E67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911" y="2434608"/>
            <a:ext cx="3162468" cy="4216962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90C96368-1E63-46BB-8E74-24B7E4742FAE}"/>
              </a:ext>
            </a:extLst>
          </p:cNvPr>
          <p:cNvSpPr/>
          <p:nvPr/>
        </p:nvSpPr>
        <p:spPr>
          <a:xfrm>
            <a:off x="158869" y="4783731"/>
            <a:ext cx="1175552" cy="71889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扩展板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821F3292-C9D9-4018-83E1-61AE2B7CA398}"/>
              </a:ext>
            </a:extLst>
          </p:cNvPr>
          <p:cNvSpPr/>
          <p:nvPr/>
        </p:nvSpPr>
        <p:spPr>
          <a:xfrm flipH="1">
            <a:off x="7951433" y="4183643"/>
            <a:ext cx="3074633" cy="71889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扩展板下面一层的电池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BB0DD0-3760-4A8F-8B51-69257219F6A9}"/>
              </a:ext>
            </a:extLst>
          </p:cNvPr>
          <p:cNvSpPr txBox="1"/>
          <p:nvPr/>
        </p:nvSpPr>
        <p:spPr>
          <a:xfrm>
            <a:off x="8878" y="1216241"/>
            <a:ext cx="12183122" cy="11350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供电分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直接供电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电池供电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，可以直接用电源适配器供电（如左图），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也可以用电源适配器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充电头给电池充电（如右图）。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F959FC5F-F08D-42BF-BC00-7158BFB3F6BB}"/>
              </a:ext>
            </a:extLst>
          </p:cNvPr>
          <p:cNvSpPr/>
          <p:nvPr/>
        </p:nvSpPr>
        <p:spPr>
          <a:xfrm flipH="1">
            <a:off x="6096000" y="5502623"/>
            <a:ext cx="3074633" cy="71889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电源适配器</a:t>
            </a:r>
          </a:p>
        </p:txBody>
      </p:sp>
      <p:sp>
        <p:nvSpPr>
          <p:cNvPr id="7" name="爆炸形: 8 pt  6">
            <a:extLst>
              <a:ext uri="{FF2B5EF4-FFF2-40B4-BE49-F238E27FC236}">
                <a16:creationId xmlns:a16="http://schemas.microsoft.com/office/drawing/2014/main" id="{E2C59631-0F34-458F-BF3F-85B9B2F0052E}"/>
              </a:ext>
            </a:extLst>
          </p:cNvPr>
          <p:cNvSpPr/>
          <p:nvPr/>
        </p:nvSpPr>
        <p:spPr>
          <a:xfrm>
            <a:off x="9081856" y="2477933"/>
            <a:ext cx="2530136" cy="1662385"/>
          </a:xfrm>
          <a:prstGeom prst="irregularSeal1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建议本实验</a:t>
            </a:r>
            <a:r>
              <a:rPr lang="zh-CN" altLang="en-US" b="1"/>
              <a:t>直接供电</a:t>
            </a:r>
          </a:p>
        </p:txBody>
      </p:sp>
    </p:spTree>
    <p:extLst>
      <p:ext uri="{BB962C8B-B14F-4D97-AF65-F5344CB8AC3E}">
        <p14:creationId xmlns:p14="http://schemas.microsoft.com/office/powerpoint/2010/main" val="266778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HDMI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C8F8F6-3260-4BEF-A71F-6CC56A115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03" y="2443886"/>
            <a:ext cx="3055893" cy="40748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84CFFEF-BB63-4337-96F2-B335E7ED8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511" y="2789716"/>
            <a:ext cx="4128571" cy="309618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E152420-481E-4EE4-8037-9C3E0E0FB3F3}"/>
              </a:ext>
            </a:extLst>
          </p:cNvPr>
          <p:cNvSpPr txBox="1"/>
          <p:nvPr/>
        </p:nvSpPr>
        <p:spPr>
          <a:xfrm>
            <a:off x="8878" y="1216241"/>
            <a:ext cx="12183122" cy="11350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HDMI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线一头接在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Burger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的树莓派上面那一层（如左图），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另一头接在显示器背面（如右图），连接好显示器的电源并通电。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8D3CB0F-C784-42CE-94A2-A1D94560D658}"/>
              </a:ext>
            </a:extLst>
          </p:cNvPr>
          <p:cNvSpPr/>
          <p:nvPr/>
        </p:nvSpPr>
        <p:spPr>
          <a:xfrm flipH="1">
            <a:off x="3845030" y="4147260"/>
            <a:ext cx="2342705" cy="71889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树莓派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2A24828E-B965-498E-8DCD-507708B5EED0}"/>
              </a:ext>
            </a:extLst>
          </p:cNvPr>
          <p:cNvSpPr/>
          <p:nvPr/>
        </p:nvSpPr>
        <p:spPr>
          <a:xfrm>
            <a:off x="5261243" y="3407692"/>
            <a:ext cx="2675866" cy="71889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HDMI</a:t>
            </a:r>
            <a:r>
              <a:rPr lang="zh-CN" altLang="en-US"/>
              <a:t>线</a:t>
            </a:r>
          </a:p>
        </p:txBody>
      </p:sp>
    </p:spTree>
    <p:extLst>
      <p:ext uri="{BB962C8B-B14F-4D97-AF65-F5344CB8AC3E}">
        <p14:creationId xmlns:p14="http://schemas.microsoft.com/office/powerpoint/2010/main" val="422713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通电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7FE194A-86C7-4346-94B9-1BE2D6B4C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31" y="1783768"/>
            <a:ext cx="3621799" cy="4829452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E79D61D8-C3CC-49CB-84D3-111B80D79466}"/>
              </a:ext>
            </a:extLst>
          </p:cNvPr>
          <p:cNvSpPr/>
          <p:nvPr/>
        </p:nvSpPr>
        <p:spPr>
          <a:xfrm flipH="1">
            <a:off x="3850950" y="4771946"/>
            <a:ext cx="2342705" cy="71889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扩展板上的开关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3C2B86-B981-4149-BB99-CCD19C4FF1BB}"/>
              </a:ext>
            </a:extLst>
          </p:cNvPr>
          <p:cNvSpPr txBox="1"/>
          <p:nvPr/>
        </p:nvSpPr>
        <p:spPr>
          <a:xfrm>
            <a:off x="8878" y="1216241"/>
            <a:ext cx="12183122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打开树莓派上的开关（如左图）。并连接鼠标和键盘（树莓派的上一层的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接口）。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3E06F4-1CD5-49FF-9ACC-BA65CCF2B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302" y="2021426"/>
            <a:ext cx="2941467" cy="3921956"/>
          </a:xfrm>
          <a:prstGeom prst="rect">
            <a:avLst/>
          </a:prstGeom>
        </p:spPr>
      </p:pic>
      <p:sp>
        <p:nvSpPr>
          <p:cNvPr id="11" name="箭头: 右 10">
            <a:extLst>
              <a:ext uri="{FF2B5EF4-FFF2-40B4-BE49-F238E27FC236}">
                <a16:creationId xmlns:a16="http://schemas.microsoft.com/office/drawing/2014/main" id="{18FDAB1C-4FD4-4155-A1BA-7186D3BEA827}"/>
              </a:ext>
            </a:extLst>
          </p:cNvPr>
          <p:cNvSpPr/>
          <p:nvPr/>
        </p:nvSpPr>
        <p:spPr>
          <a:xfrm>
            <a:off x="4649729" y="1797298"/>
            <a:ext cx="3572873" cy="71889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结果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D0127BC6-DEE4-4889-B4B8-5C61F4440879}"/>
              </a:ext>
            </a:extLst>
          </p:cNvPr>
          <p:cNvSpPr/>
          <p:nvPr/>
        </p:nvSpPr>
        <p:spPr>
          <a:xfrm>
            <a:off x="6657278" y="2461282"/>
            <a:ext cx="1554625" cy="449400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1.</a:t>
            </a:r>
            <a:r>
              <a:rPr lang="zh-CN" altLang="en-US"/>
              <a:t>旋转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6C951322-0F46-4473-958F-7242C68B60C3}"/>
              </a:ext>
            </a:extLst>
          </p:cNvPr>
          <p:cNvSpPr/>
          <p:nvPr/>
        </p:nvSpPr>
        <p:spPr>
          <a:xfrm>
            <a:off x="6533965" y="3946699"/>
            <a:ext cx="1677938" cy="449400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2.</a:t>
            </a:r>
            <a:r>
              <a:rPr lang="zh-CN" altLang="en-US"/>
              <a:t>亮灯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90391C1C-695C-4AA4-8914-35115D861B28}"/>
              </a:ext>
            </a:extLst>
          </p:cNvPr>
          <p:cNvSpPr/>
          <p:nvPr/>
        </p:nvSpPr>
        <p:spPr>
          <a:xfrm flipH="1">
            <a:off x="3829551" y="3181443"/>
            <a:ext cx="2342705" cy="71889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树莓派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D1D69223-6CF6-455C-9126-7BB1BCB066BE}"/>
              </a:ext>
            </a:extLst>
          </p:cNvPr>
          <p:cNvSpPr/>
          <p:nvPr/>
        </p:nvSpPr>
        <p:spPr>
          <a:xfrm>
            <a:off x="6338656" y="5192359"/>
            <a:ext cx="1873247" cy="449400"/>
          </a:xfrm>
          <a:prstGeom prst="rightArrow">
            <a:avLst>
              <a:gd name="adj1" fmla="val 59613"/>
              <a:gd name="adj2" fmla="val 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3.</a:t>
            </a:r>
            <a:r>
              <a:rPr lang="zh-CN" altLang="en-US"/>
              <a:t>显示器亮屏</a:t>
            </a:r>
          </a:p>
        </p:txBody>
      </p:sp>
    </p:spTree>
    <p:extLst>
      <p:ext uri="{BB962C8B-B14F-4D97-AF65-F5344CB8AC3E}">
        <p14:creationId xmlns:p14="http://schemas.microsoft.com/office/powerpoint/2010/main" val="245261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箭头: 五边形 21">
            <a:extLst>
              <a:ext uri="{FF2B5EF4-FFF2-40B4-BE49-F238E27FC236}">
                <a16:creationId xmlns:a16="http://schemas.microsoft.com/office/drawing/2014/main" id="{A8FE8FFF-D157-4704-9B26-ACF68878BBFD}"/>
              </a:ext>
            </a:extLst>
          </p:cNvPr>
          <p:cNvSpPr/>
          <p:nvPr/>
        </p:nvSpPr>
        <p:spPr>
          <a:xfrm>
            <a:off x="-7402" y="349616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箭头: 五边形 22">
            <a:extLst>
              <a:ext uri="{FF2B5EF4-FFF2-40B4-BE49-F238E27FC236}">
                <a16:creationId xmlns:a16="http://schemas.microsoft.com/office/drawing/2014/main" id="{31B45A3B-3FCA-4BF0-A022-2D03DD48D4F9}"/>
              </a:ext>
            </a:extLst>
          </p:cNvPr>
          <p:cNvSpPr/>
          <p:nvPr/>
        </p:nvSpPr>
        <p:spPr>
          <a:xfrm flipH="1">
            <a:off x="1306493" y="349616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网络配置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小车连接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B44AF55-EBAB-4BEA-A674-6DA6FB02D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820" y="1874240"/>
            <a:ext cx="6177356" cy="463414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84BA40E-84B8-414C-9864-631C2E39CEF9}"/>
              </a:ext>
            </a:extLst>
          </p:cNvPr>
          <p:cNvSpPr txBox="1"/>
          <p:nvPr/>
        </p:nvSpPr>
        <p:spPr>
          <a:xfrm>
            <a:off x="8878" y="1216241"/>
            <a:ext cx="12183122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路由器通电，在显示器上为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Burger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小车连接网络。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F33BDE2A-9428-4566-A390-BCEDF337253E}"/>
              </a:ext>
            </a:extLst>
          </p:cNvPr>
          <p:cNvSpPr/>
          <p:nvPr/>
        </p:nvSpPr>
        <p:spPr>
          <a:xfrm flipH="1">
            <a:off x="6617928" y="2267815"/>
            <a:ext cx="2323780" cy="71889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连接结果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FE92DC60-B23A-4E21-AC2D-C3A510605A57}"/>
              </a:ext>
            </a:extLst>
          </p:cNvPr>
          <p:cNvSpPr/>
          <p:nvPr/>
        </p:nvSpPr>
        <p:spPr>
          <a:xfrm flipH="1">
            <a:off x="5540457" y="3578752"/>
            <a:ext cx="6178858" cy="1978669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提示：可通过路由器设置对小车分配静态</a:t>
            </a:r>
            <a:r>
              <a:rPr lang="en-US" altLang="zh-CN" sz="2800"/>
              <a:t>ip</a:t>
            </a:r>
            <a:r>
              <a:rPr lang="zh-CN" altLang="en-US" sz="2800"/>
              <a:t>，以免之后修改配置文件</a:t>
            </a:r>
          </a:p>
        </p:txBody>
      </p:sp>
    </p:spTree>
    <p:extLst>
      <p:ext uri="{BB962C8B-B14F-4D97-AF65-F5344CB8AC3E}">
        <p14:creationId xmlns:p14="http://schemas.microsoft.com/office/powerpoint/2010/main" val="359433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箭头: 五边形 16">
            <a:extLst>
              <a:ext uri="{FF2B5EF4-FFF2-40B4-BE49-F238E27FC236}">
                <a16:creationId xmlns:a16="http://schemas.microsoft.com/office/drawing/2014/main" id="{BCF8AA12-3F94-4560-973B-EAA412D4203E}"/>
              </a:ext>
            </a:extLst>
          </p:cNvPr>
          <p:cNvSpPr/>
          <p:nvPr/>
        </p:nvSpPr>
        <p:spPr>
          <a:xfrm flipH="1">
            <a:off x="1306493" y="349616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网络配置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主机连接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箭头: 五边形 15">
            <a:extLst>
              <a:ext uri="{FF2B5EF4-FFF2-40B4-BE49-F238E27FC236}">
                <a16:creationId xmlns:a16="http://schemas.microsoft.com/office/drawing/2014/main" id="{D6261EFA-82ED-4536-BFDD-7653F51DB353}"/>
              </a:ext>
            </a:extLst>
          </p:cNvPr>
          <p:cNvSpPr/>
          <p:nvPr/>
        </p:nvSpPr>
        <p:spPr>
          <a:xfrm>
            <a:off x="-7402" y="349616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87DD56-8F1D-4799-92C2-5B0782F84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13" y="1870259"/>
            <a:ext cx="10814423" cy="4221902"/>
          </a:xfrm>
          <a:prstGeom prst="rect">
            <a:avLst/>
          </a:prstGeom>
        </p:spPr>
      </p:pic>
      <p:sp>
        <p:nvSpPr>
          <p:cNvPr id="19" name="箭头: 右 18">
            <a:extLst>
              <a:ext uri="{FF2B5EF4-FFF2-40B4-BE49-F238E27FC236}">
                <a16:creationId xmlns:a16="http://schemas.microsoft.com/office/drawing/2014/main" id="{FED777E6-7247-431B-8581-A7C9416382B1}"/>
              </a:ext>
            </a:extLst>
          </p:cNvPr>
          <p:cNvSpPr/>
          <p:nvPr/>
        </p:nvSpPr>
        <p:spPr>
          <a:xfrm flipH="1">
            <a:off x="3584643" y="4105493"/>
            <a:ext cx="3331062" cy="71889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选择自己的网卡</a:t>
            </a:r>
            <a:endParaRPr lang="en-US" altLang="zh-CN" sz="2800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1266C2D5-B730-40A5-BC9D-B666413F83CC}"/>
              </a:ext>
            </a:extLst>
          </p:cNvPr>
          <p:cNvSpPr/>
          <p:nvPr/>
        </p:nvSpPr>
        <p:spPr>
          <a:xfrm>
            <a:off x="2269724" y="2861421"/>
            <a:ext cx="3749336" cy="71889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选择桥接模式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B4ACBC-E315-4590-B01D-F8DCD43789BF}"/>
              </a:ext>
            </a:extLst>
          </p:cNvPr>
          <p:cNvSpPr txBox="1"/>
          <p:nvPr/>
        </p:nvSpPr>
        <p:spPr>
          <a:xfrm>
            <a:off x="8878" y="1216241"/>
            <a:ext cx="12183122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编辑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虚拟网络编辑器（左）。虚拟机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设置（右）。</a:t>
            </a:r>
          </a:p>
        </p:txBody>
      </p:sp>
    </p:spTree>
    <p:extLst>
      <p:ext uri="{BB962C8B-B14F-4D97-AF65-F5344CB8AC3E}">
        <p14:creationId xmlns:p14="http://schemas.microsoft.com/office/powerpoint/2010/main" val="150816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网络配置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连接小车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F8A2E0-9653-467E-8236-C926B8A664BA}"/>
              </a:ext>
            </a:extLst>
          </p:cNvPr>
          <p:cNvSpPr txBox="1"/>
          <p:nvPr/>
        </p:nvSpPr>
        <p:spPr>
          <a:xfrm>
            <a:off x="8878" y="1216241"/>
            <a:ext cx="12183122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ssh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用户名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@IP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然后输入密码（默认密码是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turtlebot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1D08F0-C98E-4E40-9032-E704C26C3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797" y="1880611"/>
            <a:ext cx="4741273" cy="408518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ACA555B-D33B-4354-8F01-B0825636D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7" y="1880611"/>
            <a:ext cx="6178859" cy="4634144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D49D594A-F10E-407E-87CC-7ABEE871A692}"/>
              </a:ext>
            </a:extLst>
          </p:cNvPr>
          <p:cNvSpPr/>
          <p:nvPr/>
        </p:nvSpPr>
        <p:spPr>
          <a:xfrm flipH="1">
            <a:off x="1760737" y="5157926"/>
            <a:ext cx="5439060" cy="64830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小车用户名：</a:t>
            </a:r>
            <a:r>
              <a:rPr lang="en-US" altLang="zh-CN" sz="2800"/>
              <a:t>pi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E2A1E8-306A-43EF-930F-31AE64EC8DA9}"/>
              </a:ext>
            </a:extLst>
          </p:cNvPr>
          <p:cNvSpPr/>
          <p:nvPr/>
        </p:nvSpPr>
        <p:spPr>
          <a:xfrm>
            <a:off x="337351" y="5335479"/>
            <a:ext cx="1411550" cy="3062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35CC8D-ECC0-45AB-BD12-8F2D1E797ACA}"/>
              </a:ext>
            </a:extLst>
          </p:cNvPr>
          <p:cNvSpPr/>
          <p:nvPr/>
        </p:nvSpPr>
        <p:spPr>
          <a:xfrm>
            <a:off x="862613" y="4462482"/>
            <a:ext cx="1312416" cy="125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DBCB1BCA-6903-4608-8562-726AF6B3EFA0}"/>
              </a:ext>
            </a:extLst>
          </p:cNvPr>
          <p:cNvSpPr/>
          <p:nvPr/>
        </p:nvSpPr>
        <p:spPr>
          <a:xfrm flipH="1">
            <a:off x="2175029" y="4200988"/>
            <a:ext cx="5024768" cy="64830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小车</a:t>
            </a:r>
            <a:r>
              <a:rPr lang="en-US" altLang="zh-CN" sz="2800"/>
              <a:t>IP</a:t>
            </a:r>
            <a:r>
              <a:rPr lang="zh-CN" altLang="en-US" sz="2800"/>
              <a:t>：</a:t>
            </a:r>
            <a:r>
              <a:rPr lang="en-US" altLang="zh-CN" sz="2800"/>
              <a:t>192.168.1.133</a:t>
            </a:r>
          </a:p>
        </p:txBody>
      </p:sp>
    </p:spTree>
    <p:extLst>
      <p:ext uri="{BB962C8B-B14F-4D97-AF65-F5344CB8AC3E}">
        <p14:creationId xmlns:p14="http://schemas.microsoft.com/office/powerpoint/2010/main" val="415924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网络配置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配置文件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F8A2E0-9653-467E-8236-C926B8A664BA}"/>
              </a:ext>
            </a:extLst>
          </p:cNvPr>
          <p:cNvSpPr txBox="1"/>
          <p:nvPr/>
        </p:nvSpPr>
        <p:spPr>
          <a:xfrm>
            <a:off x="0" y="1394339"/>
            <a:ext cx="12183122" cy="45975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gedit ~/.bashrc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，在末尾添加或修改为以下形式。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修改后重启终端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indent="457200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  </a:t>
            </a:r>
          </a:p>
          <a:p>
            <a:pPr indent="457200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export ROS_MASTER_URI = http://【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IP】:11311  </a:t>
            </a:r>
          </a:p>
          <a:p>
            <a:pPr indent="457200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export ROS_HOSTNAME = 【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IP】  </a:t>
            </a:r>
          </a:p>
          <a:p>
            <a:pPr indent="457200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export TURTLEBOT3_MODEL=burger</a:t>
            </a:r>
          </a:p>
          <a:p>
            <a:pPr indent="457200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【Burger】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  </a:t>
            </a:r>
          </a:p>
          <a:p>
            <a:pPr indent="457200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export ROS_MASTER_URI = http://【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IP】:11311  </a:t>
            </a:r>
          </a:p>
          <a:p>
            <a:pPr indent="457200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export ROS_HOSTNAME = 【Burger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IP】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Tips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source ~/.bashrc</a:t>
            </a: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这之后，显示器就基本没用了，可以关闭了。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86968C6-0B61-4B9A-BA4B-CEE3F0CF562E}"/>
              </a:ext>
            </a:extLst>
          </p:cNvPr>
          <p:cNvSpPr/>
          <p:nvPr/>
        </p:nvSpPr>
        <p:spPr>
          <a:xfrm flipH="1">
            <a:off x="5015884" y="2727664"/>
            <a:ext cx="5024768" cy="1489228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是为了在后续可视化操作中调用正确的三维模型</a:t>
            </a:r>
            <a:endParaRPr lang="en-US" altLang="zh-CN" sz="2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E1AA44-CF09-4F7D-921A-542986964BAC}"/>
              </a:ext>
            </a:extLst>
          </p:cNvPr>
          <p:cNvSpPr/>
          <p:nvPr/>
        </p:nvSpPr>
        <p:spPr>
          <a:xfrm>
            <a:off x="435005" y="3266981"/>
            <a:ext cx="4580879" cy="372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爆炸形: 8 pt  10">
            <a:extLst>
              <a:ext uri="{FF2B5EF4-FFF2-40B4-BE49-F238E27FC236}">
                <a16:creationId xmlns:a16="http://schemas.microsoft.com/office/drawing/2014/main" id="{11B7860F-F7BF-4C3A-9830-B9B8DB192D89}"/>
              </a:ext>
            </a:extLst>
          </p:cNvPr>
          <p:cNvSpPr/>
          <p:nvPr/>
        </p:nvSpPr>
        <p:spPr>
          <a:xfrm>
            <a:off x="9250532" y="3266981"/>
            <a:ext cx="2861572" cy="2791751"/>
          </a:xfrm>
          <a:prstGeom prst="irregularSeal1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提示：也可以改成自动</a:t>
            </a:r>
            <a:r>
              <a:rPr lang="en-US" altLang="zh-CN" b="1"/>
              <a:t>ifconfig</a:t>
            </a:r>
            <a:r>
              <a:rPr lang="zh-CN" altLang="en-US" b="1"/>
              <a:t>并获取</a:t>
            </a:r>
            <a:r>
              <a:rPr lang="en-US" altLang="zh-CN" b="1"/>
              <a:t>IP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29377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远程控制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8D41EB-DAD6-4D60-9336-041246126837}"/>
              </a:ext>
            </a:extLst>
          </p:cNvPr>
          <p:cNvSpPr txBox="1"/>
          <p:nvPr/>
        </p:nvSpPr>
        <p:spPr>
          <a:xfrm>
            <a:off x="8878" y="1233996"/>
            <a:ext cx="12183122" cy="47523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在主机终端和主机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连接小车的终端上分别运行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roscore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，查看网络配置是否正确。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16D10D-7D94-4CB3-8785-8241CC986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921" y="1882476"/>
            <a:ext cx="7296782" cy="38427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6B896E9-80A0-4D32-A27C-9327FBAF51A0}"/>
              </a:ext>
            </a:extLst>
          </p:cNvPr>
          <p:cNvSpPr txBox="1"/>
          <p:nvPr/>
        </p:nvSpPr>
        <p:spPr>
          <a:xfrm>
            <a:off x="8878" y="1787994"/>
            <a:ext cx="4714043" cy="41983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如果不正确（如右图示），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在直接终端运行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indent="457200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export ROS_MASTER_URI=http://【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IP】:11311</a:t>
            </a:r>
          </a:p>
          <a:p>
            <a:pPr indent="457200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export ROS_HOSTNAME = 【Burger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IP】</a:t>
            </a:r>
          </a:p>
          <a:p>
            <a:pPr indent="457200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再次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roscore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检查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Burger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地址设置是否正确。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或对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~/.bashrc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文件进行修改（注意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source ~/.bashrc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6ACD94EA-EF7C-4409-BF9F-38630C0420C5}"/>
              </a:ext>
            </a:extLst>
          </p:cNvPr>
          <p:cNvSpPr/>
          <p:nvPr/>
        </p:nvSpPr>
        <p:spPr>
          <a:xfrm flipH="1">
            <a:off x="8158579" y="4041560"/>
            <a:ext cx="3426449" cy="1489228"/>
          </a:xfrm>
          <a:prstGeom prst="rightArrow">
            <a:avLst>
              <a:gd name="adj1" fmla="val 59613"/>
              <a:gd name="adj2" fmla="val 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本应该是</a:t>
            </a:r>
            <a:r>
              <a:rPr lang="en-US" altLang="zh-CN" sz="2800"/>
              <a:t>192.168.1.105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BA1669-6743-4E65-AB67-FB06FCE85A7B}"/>
              </a:ext>
            </a:extLst>
          </p:cNvPr>
          <p:cNvSpPr/>
          <p:nvPr/>
        </p:nvSpPr>
        <p:spPr>
          <a:xfrm>
            <a:off x="4998127" y="3594009"/>
            <a:ext cx="4580879" cy="372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46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远程控制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8B086D-A1C2-4448-B0F4-A9657BDBBA51}"/>
              </a:ext>
            </a:extLst>
          </p:cNvPr>
          <p:cNvSpPr txBox="1"/>
          <p:nvPr/>
        </p:nvSpPr>
        <p:spPr>
          <a:xfrm>
            <a:off x="0" y="1361018"/>
            <a:ext cx="12183122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小车终端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：运行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roslaunch turtlebot3_bringup turtlebot3_robot.launch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CC4728-B6DD-475C-B618-6109EEA0B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15" y="2170165"/>
            <a:ext cx="4127712" cy="4559534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8586FB4C-6522-48C8-954D-2308601CECE7}"/>
              </a:ext>
            </a:extLst>
          </p:cNvPr>
          <p:cNvSpPr/>
          <p:nvPr/>
        </p:nvSpPr>
        <p:spPr>
          <a:xfrm>
            <a:off x="282031" y="2972572"/>
            <a:ext cx="4580879" cy="372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4EBFA12D-6626-4AF1-8736-4C8565447DC4}"/>
              </a:ext>
            </a:extLst>
          </p:cNvPr>
          <p:cNvSpPr/>
          <p:nvPr/>
        </p:nvSpPr>
        <p:spPr>
          <a:xfrm flipH="1">
            <a:off x="4862910" y="2414389"/>
            <a:ext cx="5024768" cy="1489228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正常结果，正常</a:t>
            </a:r>
            <a:r>
              <a:rPr lang="en-US" altLang="zh-CN" sz="2800"/>
              <a:t>IP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A906950E-D31B-4218-9DFB-F626888345D9}"/>
              </a:ext>
            </a:extLst>
          </p:cNvPr>
          <p:cNvSpPr/>
          <p:nvPr/>
        </p:nvSpPr>
        <p:spPr>
          <a:xfrm flipH="1">
            <a:off x="4636326" y="4464019"/>
            <a:ext cx="6141164" cy="1489228"/>
          </a:xfrm>
          <a:prstGeom prst="rightArrow">
            <a:avLst>
              <a:gd name="adj1" fmla="val 59613"/>
              <a:gd name="adj2" fmla="val 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若出现异常，和</a:t>
            </a:r>
            <a:r>
              <a:rPr lang="en-US" altLang="zh-CN" sz="2800"/>
              <a:t>rescore</a:t>
            </a:r>
            <a:r>
              <a:rPr lang="zh-CN" altLang="en-US" sz="2800"/>
              <a:t>异常同样处理，也就是重新配置网络。</a:t>
            </a:r>
            <a:endParaRPr lang="en-US" altLang="zh-CN" sz="2800"/>
          </a:p>
        </p:txBody>
      </p:sp>
    </p:spTree>
    <p:extLst>
      <p:ext uri="{BB962C8B-B14F-4D97-AF65-F5344CB8AC3E}">
        <p14:creationId xmlns:p14="http://schemas.microsoft.com/office/powerpoint/2010/main" val="15081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远程控制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8B086D-A1C2-4448-B0F4-A9657BDBBA51}"/>
              </a:ext>
            </a:extLst>
          </p:cNvPr>
          <p:cNvSpPr txBox="1"/>
          <p:nvPr/>
        </p:nvSpPr>
        <p:spPr>
          <a:xfrm>
            <a:off x="0" y="1361018"/>
            <a:ext cx="12183122" cy="1689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主机终端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：新建两个终端，分别运行下列指令。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roslaunch turtlebot3_bringup turtlebot3_remote.launch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rosrun rviz rviz -d `rospack find turtlebot3_description`/rviz/model.rviz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A27D87-E569-4802-8C62-ED4DA168D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53" y="3176448"/>
            <a:ext cx="5427624" cy="36206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C8485E5-9029-4593-8C11-9379A7481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07931"/>
            <a:ext cx="5756373" cy="1824098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AD8351AA-F170-4C44-8A3E-56371E7EF9FF}"/>
              </a:ext>
            </a:extLst>
          </p:cNvPr>
          <p:cNvSpPr/>
          <p:nvPr/>
        </p:nvSpPr>
        <p:spPr>
          <a:xfrm flipH="1">
            <a:off x="2966457" y="5346701"/>
            <a:ext cx="2718620" cy="561249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roslaunch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8D972BC7-B5C3-47CA-877D-D829AC322FB6}"/>
              </a:ext>
            </a:extLst>
          </p:cNvPr>
          <p:cNvSpPr/>
          <p:nvPr/>
        </p:nvSpPr>
        <p:spPr>
          <a:xfrm flipH="1">
            <a:off x="9133753" y="5346701"/>
            <a:ext cx="2718620" cy="561249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rosrun</a:t>
            </a:r>
          </a:p>
        </p:txBody>
      </p:sp>
    </p:spTree>
    <p:extLst>
      <p:ext uri="{BB962C8B-B14F-4D97-AF65-F5344CB8AC3E}">
        <p14:creationId xmlns:p14="http://schemas.microsoft.com/office/powerpoint/2010/main" val="97678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远程控制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8B086D-A1C2-4448-B0F4-A9657BDBBA51}"/>
              </a:ext>
            </a:extLst>
          </p:cNvPr>
          <p:cNvSpPr txBox="1"/>
          <p:nvPr/>
        </p:nvSpPr>
        <p:spPr>
          <a:xfrm>
            <a:off x="0" y="1361018"/>
            <a:ext cx="12183122" cy="1689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rviz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里我们可以看到一个虚拟仿真的小车。在程序窗口观察到调用的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模型，窗口内出现的红点即为激光传感器的探测信息，描述了周围环境的光学反射点，通过对应的观察可以识别出椅子墙壁等物件。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8D972BC7-B5C3-47CA-877D-D829AC322FB6}"/>
              </a:ext>
            </a:extLst>
          </p:cNvPr>
          <p:cNvSpPr/>
          <p:nvPr/>
        </p:nvSpPr>
        <p:spPr>
          <a:xfrm flipH="1">
            <a:off x="7349648" y="4438836"/>
            <a:ext cx="2718620" cy="1122886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rviz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D66103-83D7-4624-AAA4-805D6CCEF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798" y="3195880"/>
            <a:ext cx="5402850" cy="332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7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远程控制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8B086D-A1C2-4448-B0F4-A9657BDBBA51}"/>
              </a:ext>
            </a:extLst>
          </p:cNvPr>
          <p:cNvSpPr txBox="1"/>
          <p:nvPr/>
        </p:nvSpPr>
        <p:spPr>
          <a:xfrm>
            <a:off x="0" y="1361018"/>
            <a:ext cx="12183122" cy="11350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主机终端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：再新建一个终端，运行下列指令，开启远程键盘控制。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roslaunch turtlebot3_teleop turtlebot3_teleop_key.launch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CE9796-6CC6-468A-8C9C-FE2685814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08" y="2612288"/>
            <a:ext cx="4785211" cy="405928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1652348-AFFC-45DD-B800-089C6EE0E27F}"/>
              </a:ext>
            </a:extLst>
          </p:cNvPr>
          <p:cNvSpPr/>
          <p:nvPr/>
        </p:nvSpPr>
        <p:spPr>
          <a:xfrm>
            <a:off x="503973" y="2662609"/>
            <a:ext cx="4580879" cy="2479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CEFE1AFC-A814-4ED8-ACC3-AF4C64598791}"/>
              </a:ext>
            </a:extLst>
          </p:cNvPr>
          <p:cNvSpPr/>
          <p:nvPr/>
        </p:nvSpPr>
        <p:spPr>
          <a:xfrm flipH="1">
            <a:off x="5092407" y="2309127"/>
            <a:ext cx="5024768" cy="990460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正常结果，正常</a:t>
            </a:r>
            <a:r>
              <a:rPr lang="en-US" altLang="zh-CN" sz="2800"/>
              <a:t>IP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61DB786B-3183-4964-BB77-6A2AE7A0102C}"/>
              </a:ext>
            </a:extLst>
          </p:cNvPr>
          <p:cNvSpPr/>
          <p:nvPr/>
        </p:nvSpPr>
        <p:spPr>
          <a:xfrm flipH="1">
            <a:off x="2379219" y="3963940"/>
            <a:ext cx="9587880" cy="990460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可以用</a:t>
            </a:r>
            <a:r>
              <a:rPr lang="en-US" altLang="zh-CN" sz="2800"/>
              <a:t>wasdx</a:t>
            </a:r>
            <a:r>
              <a:rPr lang="zh-CN" altLang="en-US" sz="2800"/>
              <a:t>来控制真实小车以及</a:t>
            </a:r>
            <a:r>
              <a:rPr lang="en-US" altLang="zh-CN" sz="2800"/>
              <a:t>rviz</a:t>
            </a:r>
            <a:r>
              <a:rPr lang="zh-CN" altLang="en-US" sz="2800"/>
              <a:t>内的虚拟仿真小车</a:t>
            </a:r>
            <a:endParaRPr lang="en-US" altLang="zh-CN" sz="2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88267A-A130-4370-9084-EB4EE15810DC}"/>
              </a:ext>
            </a:extLst>
          </p:cNvPr>
          <p:cNvSpPr/>
          <p:nvPr/>
        </p:nvSpPr>
        <p:spPr>
          <a:xfrm>
            <a:off x="600308" y="4005335"/>
            <a:ext cx="1778911" cy="877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A7D37D79-AF9C-4BB4-B490-36C1A57009BC}"/>
              </a:ext>
            </a:extLst>
          </p:cNvPr>
          <p:cNvSpPr/>
          <p:nvPr/>
        </p:nvSpPr>
        <p:spPr>
          <a:xfrm flipH="1">
            <a:off x="5385519" y="5070616"/>
            <a:ext cx="6141164" cy="877383"/>
          </a:xfrm>
          <a:prstGeom prst="rightArrow">
            <a:avLst>
              <a:gd name="adj1" fmla="val 59613"/>
              <a:gd name="adj2" fmla="val 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若真实小车控制成功，说明实验成功</a:t>
            </a:r>
            <a:endParaRPr lang="en-US" altLang="zh-CN" sz="2800"/>
          </a:p>
        </p:txBody>
      </p:sp>
    </p:spTree>
    <p:extLst>
      <p:ext uri="{BB962C8B-B14F-4D97-AF65-F5344CB8AC3E}">
        <p14:creationId xmlns:p14="http://schemas.microsoft.com/office/powerpoint/2010/main" val="355612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>
            <a:extLst>
              <a:ext uri="{FF2B5EF4-FFF2-40B4-BE49-F238E27FC236}">
                <a16:creationId xmlns:a16="http://schemas.microsoft.com/office/drawing/2014/main" id="{F0181567-F7D0-4343-B7C1-211F743C570C}"/>
              </a:ext>
            </a:extLst>
          </p:cNvPr>
          <p:cNvSpPr/>
          <p:nvPr/>
        </p:nvSpPr>
        <p:spPr>
          <a:xfrm>
            <a:off x="2541588" y="0"/>
            <a:ext cx="6907213" cy="5676900"/>
          </a:xfrm>
          <a:prstGeom prst="triangle">
            <a:avLst/>
          </a:prstGeom>
          <a:noFill/>
          <a:ln>
            <a:solidFill>
              <a:schemeClr val="accent1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8A816B2B-96F0-4A05-A735-0D991F8E5595}"/>
              </a:ext>
            </a:extLst>
          </p:cNvPr>
          <p:cNvSpPr/>
          <p:nvPr/>
        </p:nvSpPr>
        <p:spPr>
          <a:xfrm rot="10800000">
            <a:off x="3059113" y="1319213"/>
            <a:ext cx="6008688" cy="4416425"/>
          </a:xfrm>
          <a:prstGeom prst="triangle">
            <a:avLst/>
          </a:prstGeom>
          <a:noFill/>
          <a:ln w="206375">
            <a:solidFill>
              <a:schemeClr val="accent1">
                <a:lumMod val="60000"/>
                <a:lumOff val="4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等腰三角形 10">
            <a:extLst>
              <a:ext uri="{FF2B5EF4-FFF2-40B4-BE49-F238E27FC236}">
                <a16:creationId xmlns:a16="http://schemas.microsoft.com/office/drawing/2014/main" id="{3B034A26-43F6-4F69-9BE0-2D399A996E2A}"/>
              </a:ext>
            </a:extLst>
          </p:cNvPr>
          <p:cNvSpPr/>
          <p:nvPr/>
        </p:nvSpPr>
        <p:spPr>
          <a:xfrm rot="7016274">
            <a:off x="1935163" y="454025"/>
            <a:ext cx="3770313" cy="6859588"/>
          </a:xfrm>
          <a:custGeom>
            <a:avLst/>
            <a:gdLst>
              <a:gd name="connsiteX0" fmla="*/ 0 w 7540399"/>
              <a:gd name="connsiteY0" fmla="*/ 6859430 h 6859430"/>
              <a:gd name="connsiteX1" fmla="*/ 3770200 w 7540399"/>
              <a:gd name="connsiteY1" fmla="*/ 0 h 6859430"/>
              <a:gd name="connsiteX2" fmla="*/ 7540399 w 7540399"/>
              <a:gd name="connsiteY2" fmla="*/ 6859430 h 6859430"/>
              <a:gd name="connsiteX3" fmla="*/ 0 w 7540399"/>
              <a:gd name="connsiteY3" fmla="*/ 6859430 h 6859430"/>
              <a:gd name="connsiteX0-1" fmla="*/ 0 w 3770200"/>
              <a:gd name="connsiteY0-2" fmla="*/ 6859430 h 6859430"/>
              <a:gd name="connsiteX1-3" fmla="*/ 3770200 w 3770200"/>
              <a:gd name="connsiteY1-4" fmla="*/ 0 h 6859430"/>
              <a:gd name="connsiteX2-5" fmla="*/ 0 w 3770200"/>
              <a:gd name="connsiteY2-6" fmla="*/ 6859430 h 68594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770200" h="6859430">
                <a:moveTo>
                  <a:pt x="0" y="6859430"/>
                </a:moveTo>
                <a:lnTo>
                  <a:pt x="3770200" y="0"/>
                </a:lnTo>
                <a:lnTo>
                  <a:pt x="0" y="6859430"/>
                </a:lnTo>
                <a:close/>
              </a:path>
            </a:pathLst>
          </a:custGeom>
          <a:solidFill>
            <a:schemeClr val="accent1"/>
          </a:solidFill>
          <a:ln w="206375">
            <a:solidFill>
              <a:schemeClr val="accent1">
                <a:lumMod val="60000"/>
                <a:lumOff val="4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任意多边形 2">
            <a:extLst>
              <a:ext uri="{FF2B5EF4-FFF2-40B4-BE49-F238E27FC236}">
                <a16:creationId xmlns:a16="http://schemas.microsoft.com/office/drawing/2014/main" id="{B3DB9AA0-A04A-46A5-9CE6-6652CFE84DB2}"/>
              </a:ext>
            </a:extLst>
          </p:cNvPr>
          <p:cNvSpPr/>
          <p:nvPr/>
        </p:nvSpPr>
        <p:spPr>
          <a:xfrm rot="11211390">
            <a:off x="5659438" y="3959225"/>
            <a:ext cx="922338" cy="866775"/>
          </a:xfrm>
          <a:custGeom>
            <a:avLst/>
            <a:gdLst>
              <a:gd name="connsiteX0" fmla="*/ 0 w 2002971"/>
              <a:gd name="connsiteY0" fmla="*/ 1335314 h 1944914"/>
              <a:gd name="connsiteX1" fmla="*/ 783771 w 2002971"/>
              <a:gd name="connsiteY1" fmla="*/ 0 h 1944914"/>
              <a:gd name="connsiteX2" fmla="*/ 2002971 w 2002971"/>
              <a:gd name="connsiteY2" fmla="*/ 1944914 h 1944914"/>
              <a:gd name="connsiteX0-1" fmla="*/ 0 w 1416184"/>
              <a:gd name="connsiteY0-2" fmla="*/ 1335314 h 1335314"/>
              <a:gd name="connsiteX1-3" fmla="*/ 783771 w 1416184"/>
              <a:gd name="connsiteY1-4" fmla="*/ 0 h 1335314"/>
              <a:gd name="connsiteX2-5" fmla="*/ 1416184 w 1416184"/>
              <a:gd name="connsiteY2-6" fmla="*/ 970990 h 13353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416184" h="1335314">
                <a:moveTo>
                  <a:pt x="0" y="1335314"/>
                </a:moveTo>
                <a:lnTo>
                  <a:pt x="783771" y="0"/>
                </a:lnTo>
                <a:lnTo>
                  <a:pt x="1416184" y="970990"/>
                </a:lnTo>
              </a:path>
            </a:pathLst>
          </a:custGeom>
          <a:noFill/>
          <a:ln w="1270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20">
            <a:extLst>
              <a:ext uri="{FF2B5EF4-FFF2-40B4-BE49-F238E27FC236}">
                <a16:creationId xmlns:a16="http://schemas.microsoft.com/office/drawing/2014/main" id="{BE6523AF-051A-4B4A-8B17-B5BBFFAEAC0E}"/>
              </a:ext>
            </a:extLst>
          </p:cNvPr>
          <p:cNvSpPr/>
          <p:nvPr/>
        </p:nvSpPr>
        <p:spPr>
          <a:xfrm rot="11211631">
            <a:off x="4587875" y="2082800"/>
            <a:ext cx="2930525" cy="1257300"/>
          </a:xfrm>
          <a:custGeom>
            <a:avLst/>
            <a:gdLst>
              <a:gd name="connsiteX0" fmla="*/ 4209143 w 5297714"/>
              <a:gd name="connsiteY0" fmla="*/ 0 h 1770743"/>
              <a:gd name="connsiteX1" fmla="*/ 5297714 w 5297714"/>
              <a:gd name="connsiteY1" fmla="*/ 1770743 h 1770743"/>
              <a:gd name="connsiteX2" fmla="*/ 0 w 5297714"/>
              <a:gd name="connsiteY2" fmla="*/ 1306286 h 1770743"/>
              <a:gd name="connsiteX3" fmla="*/ 769257 w 5297714"/>
              <a:gd name="connsiteY3" fmla="*/ 29029 h 1770743"/>
              <a:gd name="connsiteX0-1" fmla="*/ 4209143 w 5297714"/>
              <a:gd name="connsiteY0-2" fmla="*/ 0 h 1770743"/>
              <a:gd name="connsiteX1-3" fmla="*/ 5297714 w 5297714"/>
              <a:gd name="connsiteY1-4" fmla="*/ 1770743 h 1770743"/>
              <a:gd name="connsiteX2-5" fmla="*/ 0 w 5297714"/>
              <a:gd name="connsiteY2-6" fmla="*/ 1306286 h 1770743"/>
              <a:gd name="connsiteX3-7" fmla="*/ 562856 w 5297714"/>
              <a:gd name="connsiteY3-8" fmla="*/ 395863 h 1770743"/>
              <a:gd name="connsiteX0-9" fmla="*/ 3872553 w 5297714"/>
              <a:gd name="connsiteY0-10" fmla="*/ 0 h 2274831"/>
              <a:gd name="connsiteX1-11" fmla="*/ 5297714 w 5297714"/>
              <a:gd name="connsiteY1-12" fmla="*/ 2274831 h 2274831"/>
              <a:gd name="connsiteX2-13" fmla="*/ 0 w 5297714"/>
              <a:gd name="connsiteY2-14" fmla="*/ 1810374 h 2274831"/>
              <a:gd name="connsiteX3-15" fmla="*/ 562856 w 5297714"/>
              <a:gd name="connsiteY3-16" fmla="*/ 899951 h 22748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297714" h="2274831">
                <a:moveTo>
                  <a:pt x="3872553" y="0"/>
                </a:moveTo>
                <a:lnTo>
                  <a:pt x="5297714" y="2274831"/>
                </a:lnTo>
                <a:lnTo>
                  <a:pt x="0" y="1810374"/>
                </a:lnTo>
                <a:lnTo>
                  <a:pt x="562856" y="899951"/>
                </a:lnTo>
              </a:path>
            </a:pathLst>
          </a:custGeom>
          <a:noFill/>
          <a:ln w="1270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F5EBEF3-F14D-45B5-AC9A-0AE10D94F43B}"/>
              </a:ext>
            </a:extLst>
          </p:cNvPr>
          <p:cNvSpPr txBox="1"/>
          <p:nvPr/>
        </p:nvSpPr>
        <p:spPr>
          <a:xfrm>
            <a:off x="2292350" y="3133725"/>
            <a:ext cx="789305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6000" b="1" kern="1200" cap="none" spc="300" normalizeH="0" baseline="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155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1">
            <a:lumMod val="20000"/>
            <a:lumOff val="80000"/>
          </a:schemeClr>
        </a:solidFill>
      </a:spPr>
      <a:bodyPr wrap="square" rtlCol="0">
        <a:spAutoFit/>
      </a:bodyPr>
      <a:lstStyle>
        <a:defPPr indent="457200" algn="l">
          <a:lnSpc>
            <a:spcPct val="150000"/>
          </a:lnSpc>
          <a:defRPr sz="240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994</TotalTime>
  <Words>819</Words>
  <Application>Microsoft Office PowerPoint</Application>
  <PresentationFormat>宽屏</PresentationFormat>
  <Paragraphs>116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等线 Light</vt:lpstr>
      <vt:lpstr>方正宋刻本秀楷简体</vt:lpstr>
      <vt:lpstr>方正准圆简体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申 珊靛</dc:creator>
  <cp:lastModifiedBy>永夜 尘</cp:lastModifiedBy>
  <cp:revision>263</cp:revision>
  <dcterms:created xsi:type="dcterms:W3CDTF">2021-03-12T12:02:50Z</dcterms:created>
  <dcterms:modified xsi:type="dcterms:W3CDTF">2021-07-16T09:28:58Z</dcterms:modified>
</cp:coreProperties>
</file>